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4"/>
  </p:sldMasterIdLst>
  <p:notesMasterIdLst>
    <p:notesMasterId r:id="rId128"/>
  </p:notesMasterIdLst>
  <p:sldIdLst>
    <p:sldId id="669" r:id="rId5"/>
    <p:sldId id="792" r:id="rId6"/>
    <p:sldId id="672" r:id="rId7"/>
    <p:sldId id="673" r:id="rId8"/>
    <p:sldId id="682" r:id="rId9"/>
    <p:sldId id="683" r:id="rId10"/>
    <p:sldId id="677" r:id="rId11"/>
    <p:sldId id="679" r:id="rId12"/>
    <p:sldId id="678" r:id="rId13"/>
    <p:sldId id="680" r:id="rId14"/>
    <p:sldId id="681" r:id="rId15"/>
    <p:sldId id="684" r:id="rId16"/>
    <p:sldId id="685" r:id="rId17"/>
    <p:sldId id="686" r:id="rId18"/>
    <p:sldId id="687" r:id="rId19"/>
    <p:sldId id="688" r:id="rId20"/>
    <p:sldId id="689" r:id="rId21"/>
    <p:sldId id="690" r:id="rId22"/>
    <p:sldId id="691" r:id="rId23"/>
    <p:sldId id="692" r:id="rId24"/>
    <p:sldId id="693" r:id="rId25"/>
    <p:sldId id="694" r:id="rId26"/>
    <p:sldId id="695" r:id="rId27"/>
    <p:sldId id="696" r:id="rId28"/>
    <p:sldId id="697" r:id="rId29"/>
    <p:sldId id="698" r:id="rId30"/>
    <p:sldId id="795" r:id="rId31"/>
    <p:sldId id="700" r:id="rId32"/>
    <p:sldId id="701" r:id="rId33"/>
    <p:sldId id="702" r:id="rId34"/>
    <p:sldId id="703" r:id="rId35"/>
    <p:sldId id="704" r:id="rId36"/>
    <p:sldId id="705" r:id="rId37"/>
    <p:sldId id="706" r:id="rId38"/>
    <p:sldId id="707" r:id="rId39"/>
    <p:sldId id="708" r:id="rId40"/>
    <p:sldId id="709" r:id="rId41"/>
    <p:sldId id="710" r:id="rId42"/>
    <p:sldId id="711" r:id="rId43"/>
    <p:sldId id="712" r:id="rId44"/>
    <p:sldId id="713" r:id="rId45"/>
    <p:sldId id="714" r:id="rId46"/>
    <p:sldId id="715" r:id="rId47"/>
    <p:sldId id="716" r:id="rId48"/>
    <p:sldId id="717" r:id="rId49"/>
    <p:sldId id="718" r:id="rId50"/>
    <p:sldId id="719" r:id="rId51"/>
    <p:sldId id="720" r:id="rId52"/>
    <p:sldId id="721" r:id="rId53"/>
    <p:sldId id="722" r:id="rId54"/>
    <p:sldId id="723" r:id="rId55"/>
    <p:sldId id="724" r:id="rId56"/>
    <p:sldId id="725" r:id="rId57"/>
    <p:sldId id="726" r:id="rId58"/>
    <p:sldId id="727" r:id="rId59"/>
    <p:sldId id="728" r:id="rId60"/>
    <p:sldId id="729" r:id="rId61"/>
    <p:sldId id="730" r:id="rId62"/>
    <p:sldId id="731" r:id="rId63"/>
    <p:sldId id="732" r:id="rId64"/>
    <p:sldId id="733" r:id="rId65"/>
    <p:sldId id="734" r:id="rId66"/>
    <p:sldId id="735" r:id="rId67"/>
    <p:sldId id="736" r:id="rId68"/>
    <p:sldId id="737" r:id="rId69"/>
    <p:sldId id="738" r:id="rId70"/>
    <p:sldId id="739" r:id="rId71"/>
    <p:sldId id="740" r:id="rId72"/>
    <p:sldId id="741" r:id="rId73"/>
    <p:sldId id="742" r:id="rId74"/>
    <p:sldId id="743" r:id="rId75"/>
    <p:sldId id="744" r:id="rId76"/>
    <p:sldId id="745" r:id="rId77"/>
    <p:sldId id="746" r:id="rId78"/>
    <p:sldId id="674" r:id="rId79"/>
    <p:sldId id="747" r:id="rId80"/>
    <p:sldId id="749" r:id="rId81"/>
    <p:sldId id="750" r:id="rId82"/>
    <p:sldId id="751" r:id="rId83"/>
    <p:sldId id="752" r:id="rId84"/>
    <p:sldId id="753" r:id="rId85"/>
    <p:sldId id="754" r:id="rId86"/>
    <p:sldId id="755" r:id="rId87"/>
    <p:sldId id="756" r:id="rId88"/>
    <p:sldId id="757" r:id="rId89"/>
    <p:sldId id="758" r:id="rId90"/>
    <p:sldId id="759" r:id="rId91"/>
    <p:sldId id="760" r:id="rId92"/>
    <p:sldId id="675" r:id="rId93"/>
    <p:sldId id="796" r:id="rId94"/>
    <p:sldId id="761" r:id="rId95"/>
    <p:sldId id="762" r:id="rId96"/>
    <p:sldId id="797" r:id="rId97"/>
    <p:sldId id="763" r:id="rId98"/>
    <p:sldId id="764" r:id="rId99"/>
    <p:sldId id="765" r:id="rId100"/>
    <p:sldId id="766" r:id="rId101"/>
    <p:sldId id="767" r:id="rId102"/>
    <p:sldId id="768" r:id="rId103"/>
    <p:sldId id="769" r:id="rId104"/>
    <p:sldId id="770" r:id="rId105"/>
    <p:sldId id="771" r:id="rId106"/>
    <p:sldId id="772" r:id="rId107"/>
    <p:sldId id="773" r:id="rId108"/>
    <p:sldId id="774" r:id="rId109"/>
    <p:sldId id="775" r:id="rId110"/>
    <p:sldId id="776" r:id="rId111"/>
    <p:sldId id="777" r:id="rId112"/>
    <p:sldId id="778" r:id="rId113"/>
    <p:sldId id="779" r:id="rId114"/>
    <p:sldId id="798" r:id="rId115"/>
    <p:sldId id="799" r:id="rId116"/>
    <p:sldId id="800" r:id="rId117"/>
    <p:sldId id="801" r:id="rId118"/>
    <p:sldId id="802" r:id="rId119"/>
    <p:sldId id="803" r:id="rId120"/>
    <p:sldId id="804" r:id="rId121"/>
    <p:sldId id="788" r:id="rId122"/>
    <p:sldId id="789" r:id="rId123"/>
    <p:sldId id="790" r:id="rId124"/>
    <p:sldId id="791" r:id="rId125"/>
    <p:sldId id="793" r:id="rId126"/>
    <p:sldId id="794" r:id="rId1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0019"/>
    <a:srgbClr val="008080"/>
    <a:srgbClr val="663300"/>
    <a:srgbClr val="953735"/>
    <a:srgbClr val="BC4744"/>
    <a:srgbClr val="CE7674"/>
    <a:srgbClr val="2D9F01"/>
    <a:srgbClr val="22822B"/>
    <a:srgbClr val="A446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7" autoAdjust="0"/>
    <p:restoredTop sz="73561" autoAdjust="0"/>
  </p:normalViewPr>
  <p:slideViewPr>
    <p:cSldViewPr>
      <p:cViewPr varScale="1">
        <p:scale>
          <a:sx n="54" d="100"/>
          <a:sy n="54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2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presProps" Target="pres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viewProps" Target="viewProp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tableStyles" Target="tableStyles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03A1FB-12CB-49E6-809F-DA2D2089BF59}" type="datetimeFigureOut">
              <a:rPr lang="en-US" smtClean="0"/>
              <a:pPr/>
              <a:t>5/31/2019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B6E77-EC63-4CD7-8F8A-914122582C5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84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37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281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470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351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45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23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B6E77-EC63-4CD7-8F8A-914122582C5F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847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-Read Me Firs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462343" y="2209803"/>
            <a:ext cx="8284633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Read Me First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4" y="3657600"/>
            <a:ext cx="7880905" cy="12954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 smtClean="0"/>
              <a:t>See notes on the left of slide 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2818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1-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29"/>
          <a:stretch/>
        </p:blipFill>
        <p:spPr>
          <a:xfrm>
            <a:off x="32657" y="2514600"/>
            <a:ext cx="9144000" cy="4343400"/>
          </a:xfrm>
          <a:prstGeom prst="rect">
            <a:avLst/>
          </a:prstGeom>
        </p:spPr>
      </p:pic>
      <p:sp>
        <p:nvSpPr>
          <p:cNvPr id="14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462343" y="2209803"/>
            <a:ext cx="8284633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 baseline="0">
                <a:solidFill>
                  <a:srgbClr val="0099CC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Course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4" y="3657600"/>
            <a:ext cx="7880905" cy="44608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baseline="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dirty="0" smtClean="0"/>
              <a:t>Sub Topic Title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2"/>
          <a:stretch/>
        </p:blipFill>
        <p:spPr>
          <a:xfrm>
            <a:off x="3214651" y="4038600"/>
            <a:ext cx="5918467" cy="2839093"/>
          </a:xfrm>
          <a:prstGeom prst="rect">
            <a:avLst/>
          </a:prstGeom>
        </p:spPr>
      </p:pic>
      <p:cxnSp>
        <p:nvCxnSpPr>
          <p:cNvPr id="24" name="Straight Connector 23"/>
          <p:cNvCxnSpPr/>
          <p:nvPr/>
        </p:nvCxnSpPr>
        <p:spPr>
          <a:xfrm>
            <a:off x="609604" y="3505200"/>
            <a:ext cx="7880905" cy="0"/>
          </a:xfrm>
          <a:prstGeom prst="line">
            <a:avLst/>
          </a:prstGeom>
          <a:ln w="6350" cmpd="sng">
            <a:gradFill flip="none" rotWithShape="1">
              <a:gsLst>
                <a:gs pos="0">
                  <a:srgbClr val="0099FF"/>
                </a:gs>
                <a:gs pos="100000">
                  <a:srgbClr val="008000"/>
                </a:gs>
              </a:gsLst>
              <a:lin ang="0" scaled="1"/>
              <a:tileRect/>
            </a:gradFill>
            <a:beve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79401"/>
            <a:ext cx="2432050" cy="910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71368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2-Generate Inte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 baseline="0">
                <a:solidFill>
                  <a:schemeClr val="bg2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 smtClean="0"/>
              <a:t>Click to add text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492081"/>
            <a:ext cx="381000" cy="213519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1655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3_Terminal 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Terminal Objective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 baseline="0">
                <a:solidFill>
                  <a:schemeClr val="bg2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 smtClean="0"/>
              <a:t>Click to add text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2081"/>
            <a:ext cx="533400" cy="21352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8223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4_Establish Need and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Need and/or Benefits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 baseline="0">
                <a:solidFill>
                  <a:schemeClr val="bg2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5664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5_Key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Key Topics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 baseline="0">
                <a:solidFill>
                  <a:schemeClr val="bg2"/>
                </a:solidFill>
              </a:defRPr>
            </a:lvl1pPr>
            <a:lvl2pPr marL="228600" indent="-227013">
              <a:buClr>
                <a:schemeClr val="accent2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accent2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accent2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7611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1-Modul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23"/>
          <p:cNvCxnSpPr/>
          <p:nvPr/>
        </p:nvCxnSpPr>
        <p:spPr>
          <a:xfrm>
            <a:off x="0" y="3124200"/>
            <a:ext cx="9133114" cy="0"/>
          </a:xfrm>
          <a:prstGeom prst="line">
            <a:avLst/>
          </a:prstGeom>
          <a:ln w="1301750" cmpd="sng">
            <a:gradFill flip="none" rotWithShape="1">
              <a:gsLst>
                <a:gs pos="0">
                  <a:srgbClr val="0099FF"/>
                </a:gs>
                <a:gs pos="100000">
                  <a:srgbClr val="008000"/>
                </a:gs>
              </a:gsLst>
              <a:lin ang="0" scaled="1"/>
              <a:tileRect/>
            </a:gradFill>
            <a:beve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0" y="2819403"/>
            <a:ext cx="9133114" cy="58477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Module Title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29"/>
          <a:stretch/>
        </p:blipFill>
        <p:spPr>
          <a:xfrm>
            <a:off x="-2406316" y="1371600"/>
            <a:ext cx="11550316" cy="5486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7622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2_Blac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7935" y="358002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Slide Title – Black Background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77000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400" b="0">
                <a:solidFill>
                  <a:schemeClr val="bg2">
                    <a:lumMod val="9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0555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3_Dark Blue Activity slide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Activity Slide -  dark blue – use only for activities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81692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4_Recap or Review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Recap or Review – use any color slide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759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5_Light Blue Backgroun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Slide Title – Light Blue Background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85489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6_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Slide Title – White background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344487" indent="-342900">
              <a:buClrTx/>
              <a:buFont typeface="Arial" panose="020B0604020202020204" pitchFamily="34" charset="0"/>
              <a:buChar char="•"/>
              <a:defRPr sz="2400">
                <a:solidFill>
                  <a:schemeClr val="tx2"/>
                </a:solidFill>
              </a:defRPr>
            </a:lvl2pPr>
            <a:lvl3pPr marL="463550" indent="-342900">
              <a:buClrTx/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3pPr>
            <a:lvl4pPr marL="503237" indent="-285750">
              <a:buClrTx/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4pPr>
            <a:lvl5pPr marL="622300" indent="-285750">
              <a:buClrTx/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28088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1_Check on Learn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Check on learning -  any color slide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966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_Restate Objectiv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Restate terminal objective - any color slide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46813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3_Ask Questions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3339" y="330261"/>
            <a:ext cx="8389665" cy="607259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Ask learner-centered questions - any color slide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622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228600" indent="-227013">
              <a:buClr>
                <a:schemeClr val="bg1"/>
              </a:buClr>
              <a:buFont typeface="Arial"/>
              <a:buChar char="•"/>
              <a:defRPr sz="2400">
                <a:solidFill>
                  <a:schemeClr val="bg2"/>
                </a:solidFill>
              </a:defRPr>
            </a:lvl2pPr>
            <a:lvl3pPr marL="287338" indent="-166688">
              <a:buClr>
                <a:schemeClr val="bg1"/>
              </a:buClr>
              <a:buFont typeface="Arial"/>
              <a:buChar char="•"/>
              <a:defRPr sz="2000">
                <a:solidFill>
                  <a:schemeClr val="bg2"/>
                </a:solidFill>
              </a:defRPr>
            </a:lvl3pPr>
            <a:lvl4pPr marL="393700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4pPr>
            <a:lvl5pPr marL="512763" indent="-176213">
              <a:buClr>
                <a:schemeClr val="bg1"/>
              </a:buClr>
              <a:buFont typeface="Arial"/>
              <a:buChar char="•"/>
              <a:defRPr sz="1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9612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4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29"/>
          <a:stretch/>
        </p:blipFill>
        <p:spPr>
          <a:xfrm>
            <a:off x="0" y="2518348"/>
            <a:ext cx="9144000" cy="4343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3" y="800325"/>
            <a:ext cx="3616147" cy="6072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92"/>
          <a:stretch/>
        </p:blipFill>
        <p:spPr>
          <a:xfrm>
            <a:off x="3214651" y="4018908"/>
            <a:ext cx="5918467" cy="2839093"/>
          </a:xfrm>
          <a:prstGeom prst="rect">
            <a:avLst/>
          </a:prstGeom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838649" y="1598705"/>
            <a:ext cx="3633788" cy="192405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>
                <a:solidFill>
                  <a:srgbClr val="141414"/>
                </a:solidFill>
              </a:defRPr>
            </a:lvl2pPr>
            <a:lvl3pPr marL="914400" indent="0">
              <a:buNone/>
              <a:defRPr>
                <a:solidFill>
                  <a:srgbClr val="141414"/>
                </a:solidFill>
              </a:defRPr>
            </a:lvl3pPr>
            <a:lvl4pPr marL="1371600" indent="0">
              <a:buNone/>
              <a:defRPr>
                <a:solidFill>
                  <a:srgbClr val="141414"/>
                </a:solidFill>
              </a:defRPr>
            </a:lvl4pPr>
            <a:lvl5pPr marL="1828800" indent="0">
              <a:buNone/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 smtClean="0"/>
              <a:t>Name</a:t>
            </a:r>
          </a:p>
          <a:p>
            <a:pPr lvl="0"/>
            <a:r>
              <a:rPr lang="en-US" dirty="0" smtClean="0"/>
              <a:t>ID</a:t>
            </a:r>
            <a:br>
              <a:rPr lang="en-US" dirty="0" smtClean="0"/>
            </a:br>
            <a:r>
              <a:rPr lang="en-US" dirty="0" smtClean="0"/>
              <a:t>Email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9601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6246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Blac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73346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fld id="{47ED8886-DB3B-44F4-9A80-E6A224679F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182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286000" y="0"/>
            <a:ext cx="6858000" cy="533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382000" y="6629400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77BD3A-29CC-40F2-A7CA-C5475BAFE57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2008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06375"/>
            <a:ext cx="6858000" cy="533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371600"/>
            <a:ext cx="4267200" cy="4943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267200" cy="49434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7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382000" y="6629400"/>
            <a:ext cx="7366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E5281-D336-4033-829D-983A86FA9AE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661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5497075" y="3831790"/>
            <a:ext cx="3512456" cy="2452915"/>
          </a:xfrm>
          <a:prstGeom prst="rect">
            <a:avLst/>
          </a:prstGeom>
          <a:solidFill>
            <a:srgbClr val="009E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6858000" cy="533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2400" y="6400800"/>
            <a:ext cx="13716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© Cognizant 2015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8382000" y="6629400"/>
            <a:ext cx="736596" cy="228597"/>
          </a:xfrm>
          <a:prstGeom prst="rect">
            <a:avLst/>
          </a:prstGeom>
        </p:spPr>
        <p:txBody>
          <a:bodyPr/>
          <a:lstStyle/>
          <a:p>
            <a:fld id="{CC02088F-ACB3-4364-A9F4-9A26DC80E75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3" descr="D:\Images\Images\Objective\shutterstock_56129899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805" y="3886200"/>
            <a:ext cx="3389509" cy="2338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0803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0E2D3F"/>
            </a:gs>
            <a:gs pos="100000">
              <a:srgbClr val="0A0D16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61"/>
          <p:cNvSpPr>
            <a:spLocks noChangeShapeType="1"/>
          </p:cNvSpPr>
          <p:nvPr/>
        </p:nvSpPr>
        <p:spPr bwMode="auto">
          <a:xfrm flipH="1">
            <a:off x="0" y="6381750"/>
            <a:ext cx="9144000" cy="0"/>
          </a:xfrm>
          <a:prstGeom prst="line">
            <a:avLst/>
          </a:prstGeom>
          <a:noFill/>
          <a:ln w="9525">
            <a:solidFill>
              <a:srgbClr val="28709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" name="Line 73"/>
          <p:cNvSpPr>
            <a:spLocks noChangeShapeType="1"/>
          </p:cNvSpPr>
          <p:nvPr/>
        </p:nvSpPr>
        <p:spPr bwMode="auto">
          <a:xfrm>
            <a:off x="8618538" y="6391275"/>
            <a:ext cx="0" cy="457200"/>
          </a:xfrm>
          <a:prstGeom prst="line">
            <a:avLst/>
          </a:prstGeom>
          <a:noFill/>
          <a:ln w="25400">
            <a:solidFill>
              <a:srgbClr val="209D0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  <p:custDataLst>
      <p:tags r:id="rId24"/>
    </p:custDataLst>
    <p:extLst>
      <p:ext uri="{BB962C8B-B14F-4D97-AF65-F5344CB8AC3E}">
        <p14:creationId xmlns:p14="http://schemas.microsoft.com/office/powerpoint/2010/main" val="1236595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  <p:sldLayoutId id="2147483777" r:id="rId19"/>
    <p:sldLayoutId id="2147483778" r:id="rId20"/>
    <p:sldLayoutId id="2147483779" r:id="rId21"/>
    <p:sldLayoutId id="2147483780" r:id="rId2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rgbClr val="0099CC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tech-seo.com/web-design-articles/advantages-of-html.html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5_semantic_elements.asp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blocks.asp" TargetMode="Externa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%0ahttps:/www.w3schools.com/html/html5_new_elements.asp" TargetMode="Externa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css_syntax.asp" TargetMode="Externa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css_boxmodel.asp" TargetMode="External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css_text.asp" TargetMode="Externa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event_onclick.asp" TargetMode="Externa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htmldom/default.asp" TargetMode="Externa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js/js_obj_regexp.asp" TargetMode="Externa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dom_obj_form.asp" TargetMode="Externa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905000"/>
            <a:ext cx="5781675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00" b="1" dirty="0">
              <a:solidFill>
                <a:schemeClr val="tx1"/>
              </a:solidFill>
              <a:latin typeface="Myriad Pro" pitchFamily="34" charset="0"/>
              <a:cs typeface="Arial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 flipH="1" flipV="1">
            <a:off x="8545111" y="4152899"/>
            <a:ext cx="65489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57200" y="2667000"/>
            <a:ext cx="8284633" cy="2123658"/>
          </a:xfrm>
        </p:spPr>
        <p:txBody>
          <a:bodyPr/>
          <a:lstStyle/>
          <a:p>
            <a:r>
              <a:rPr lang="en-US" sz="4400" dirty="0" smtClean="0">
                <a:solidFill>
                  <a:schemeClr val="bg2"/>
                </a:solidFill>
              </a:rPr>
              <a:t>Web </a:t>
            </a:r>
            <a:r>
              <a:rPr lang="en-US" sz="4400" smtClean="0">
                <a:solidFill>
                  <a:schemeClr val="bg2"/>
                </a:solidFill>
              </a:rPr>
              <a:t>User Interface</a:t>
            </a:r>
          </a:p>
          <a:p>
            <a:endParaRPr lang="en-US" sz="4400" smtClean="0">
              <a:solidFill>
                <a:schemeClr val="bg2"/>
              </a:solidFill>
            </a:endParaRPr>
          </a:p>
          <a:p>
            <a:r>
              <a:rPr lang="en-US" sz="4400" dirty="0" smtClean="0">
                <a:solidFill>
                  <a:schemeClr val="bg2"/>
                </a:solidFill>
              </a:rPr>
              <a:t>HTML,CSS &amp; JAVASCRIPT</a:t>
            </a:r>
            <a:endParaRPr lang="en-US" sz="4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873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Objectives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 marL="57150" indent="0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C02088F-ACB3-4364-A9F4-9A26DC80E75E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" y="947591"/>
            <a:ext cx="8915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After completing this chapter, </a:t>
            </a:r>
            <a:r>
              <a:rPr lang="en-US" dirty="0" smtClean="0">
                <a:solidFill>
                  <a:schemeClr val="bg1"/>
                </a:solidFill>
              </a:rPr>
              <a:t>you </a:t>
            </a:r>
            <a:r>
              <a:rPr lang="en-US" dirty="0">
                <a:solidFill>
                  <a:schemeClr val="bg1"/>
                </a:solidFill>
              </a:rPr>
              <a:t>will be able to </a:t>
            </a:r>
            <a:r>
              <a:rPr lang="en-US" dirty="0" smtClean="0">
                <a:solidFill>
                  <a:schemeClr val="bg1"/>
                </a:solidFill>
              </a:rPr>
              <a:t>explain about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the basics of Web User Interface</a:t>
            </a:r>
            <a:endParaRPr lang="en-US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bg1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99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Key Topics</a:t>
            </a:r>
            <a:endParaRPr lang="en-US" sz="2800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 marL="57150" indent="0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CC02088F-ACB3-4364-A9F4-9A26DC80E75E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81000" y="1137831"/>
            <a:ext cx="6781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</a:p>
          <a:p>
            <a:pPr marL="800100" lvl="1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endParaRPr lang="en-US" sz="20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30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1288"/>
            <a:ext cx="533400" cy="214312"/>
          </a:xfrm>
          <a:prstGeom prst="rect">
            <a:avLst/>
          </a:prstGeom>
        </p:spPr>
        <p:txBody>
          <a:bodyPr/>
          <a:lstStyle/>
          <a:p>
            <a:fld id="{47ED8886-DB3B-44F4-9A80-E6A224679F20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38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HTML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 marL="57150" indent="0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CC02088F-ACB3-4364-A9F4-9A26DC80E75E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06400" y="838200"/>
            <a:ext cx="6781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700">
              <a:spcBef>
                <a:spcPts val="1800"/>
              </a:spcBef>
            </a:pPr>
            <a:r>
              <a:rPr lang="en-US" sz="2000" dirty="0">
                <a:solidFill>
                  <a:schemeClr val="bg1"/>
                </a:solidFill>
              </a:rPr>
              <a:t>Stands for Hyper Text Mark Up Language</a:t>
            </a:r>
          </a:p>
          <a:p>
            <a:pPr marL="850900" lvl="1" indent="-220663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 It is a mark up language for designing web pages.</a:t>
            </a:r>
          </a:p>
          <a:p>
            <a:pPr marL="850900" lvl="1" indent="-220663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HTML pages can be viewed using any web browsers. </a:t>
            </a:r>
          </a:p>
          <a:p>
            <a:pPr marL="850900" lvl="1" indent="-220663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 Cannot perform any programming logic.</a:t>
            </a:r>
          </a:p>
          <a:p>
            <a:pPr marL="850900" lvl="1" indent="-220663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 HTML pages developed using mark up tags enclosed in angular </a:t>
            </a:r>
          </a:p>
          <a:p>
            <a:pPr marL="1308100" lvl="2" indent="-220663">
              <a:spcBef>
                <a:spcPts val="1800"/>
              </a:spcBef>
            </a:pPr>
            <a:r>
              <a:rPr lang="en-US" sz="2000" dirty="0">
                <a:solidFill>
                  <a:schemeClr val="bg1"/>
                </a:solidFill>
              </a:rPr>
              <a:t>brackets(&lt;tag&gt;)</a:t>
            </a:r>
          </a:p>
          <a:p>
            <a:pPr marL="850900" lvl="1" indent="-220663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Can be developed using normal text editors like notepad/</a:t>
            </a:r>
            <a:r>
              <a:rPr lang="en-US" sz="2000" dirty="0" err="1">
                <a:solidFill>
                  <a:schemeClr val="bg1"/>
                </a:solidFill>
              </a:rPr>
              <a:t>wordpad</a:t>
            </a:r>
            <a:r>
              <a:rPr lang="en-US" sz="2000" dirty="0">
                <a:solidFill>
                  <a:schemeClr val="bg1"/>
                </a:solidFill>
              </a:rPr>
              <a:t> or </a:t>
            </a:r>
          </a:p>
          <a:p>
            <a:pPr marL="850900" lvl="1" indent="-220663">
              <a:spcBef>
                <a:spcPts val="1800"/>
              </a:spcBef>
            </a:pPr>
            <a:r>
              <a:rPr lang="en-US" sz="2000" dirty="0">
                <a:solidFill>
                  <a:schemeClr val="bg1"/>
                </a:solidFill>
              </a:rPr>
              <a:t>		tools like </a:t>
            </a:r>
            <a:r>
              <a:rPr lang="en-US" sz="2000" dirty="0" err="1">
                <a:solidFill>
                  <a:schemeClr val="bg1"/>
                </a:solidFill>
              </a:rPr>
              <a:t>dreamweaver</a:t>
            </a:r>
            <a:r>
              <a:rPr lang="en-US" sz="2000" dirty="0">
                <a:solidFill>
                  <a:schemeClr val="bg1"/>
                </a:solidFill>
              </a:rPr>
              <a:t>, front page.</a:t>
            </a:r>
          </a:p>
          <a:p>
            <a:pPr marL="850900" lvl="1" indent="-220663">
              <a:spcBef>
                <a:spcPts val="1800"/>
              </a:spcBef>
              <a:buFont typeface="Wingdings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</a:rPr>
              <a:t> File extension is “.html” (or) “.</a:t>
            </a:r>
            <a:r>
              <a:rPr lang="en-US" sz="2000" dirty="0" err="1">
                <a:solidFill>
                  <a:schemeClr val="bg1"/>
                </a:solidFill>
              </a:rPr>
              <a:t>htm</a:t>
            </a:r>
            <a:r>
              <a:rPr lang="en-US" sz="2000" dirty="0">
                <a:solidFill>
                  <a:schemeClr val="bg1"/>
                </a:solidFill>
              </a:rPr>
              <a:t>” </a:t>
            </a:r>
          </a:p>
        </p:txBody>
      </p:sp>
    </p:spTree>
    <p:extLst>
      <p:ext uri="{BB962C8B-B14F-4D97-AF65-F5344CB8AC3E}">
        <p14:creationId xmlns:p14="http://schemas.microsoft.com/office/powerpoint/2010/main" val="89563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Identify the applications and benefits of HTML</a:t>
            </a:r>
            <a:r>
              <a:rPr lang="en-US" sz="2800" dirty="0"/>
              <a:t>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 marL="57150" indent="0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CC02088F-ACB3-4364-A9F4-9A26DC80E75E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3095" y="937520"/>
            <a:ext cx="67818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3700">
              <a:spcBef>
                <a:spcPts val="1800"/>
              </a:spcBef>
            </a:pPr>
            <a:r>
              <a:rPr lang="en-US" u="sng" dirty="0">
                <a:hlinkClick r:id="rId2"/>
              </a:rPr>
              <a:t>http://www.vtech-seo.com/web-design-articles/advantages-of-html.html</a:t>
            </a:r>
            <a:r>
              <a:rPr lang="en-US" sz="2000" dirty="0"/>
              <a:t> 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5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is an HTML mark up tag 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 marL="57150" indent="0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CC02088F-ACB3-4364-A9F4-9A26DC80E75E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98739" y="937520"/>
            <a:ext cx="67818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HTML mark up tags called as HTML elements are the  building blocks of any HTML document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HTML tags occurs in pairs called the opening and closing tag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Tag Syntax: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	&lt;tag attributes&gt;Content&lt;/tag&gt;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</a:rPr>
              <a:t> Attributes : Provide additional behavior to the tags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</a:rPr>
              <a:t> Content   : The text content to be displayed in the page</a:t>
            </a:r>
          </a:p>
        </p:txBody>
      </p:sp>
    </p:spTree>
    <p:extLst>
      <p:ext uri="{BB962C8B-B14F-4D97-AF65-F5344CB8AC3E}">
        <p14:creationId xmlns:p14="http://schemas.microsoft.com/office/powerpoint/2010/main" val="305432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15843"/>
            <a:ext cx="6858000" cy="533400"/>
          </a:xfrm>
        </p:spPr>
        <p:txBody>
          <a:bodyPr/>
          <a:lstStyle/>
          <a:p>
            <a:r>
              <a:rPr lang="en-US" b="1" dirty="0" smtClean="0"/>
              <a:t>Basic HTML Structure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905000" y="1066800"/>
            <a:ext cx="3505200" cy="5170646"/>
          </a:xfrm>
          <a:prstGeom prst="rect">
            <a:avLst/>
          </a:prstGeom>
          <a:gradFill flip="none" rotWithShape="1">
            <a:gsLst>
              <a:gs pos="0">
                <a:srgbClr val="FFD9D9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2200" b="0" dirty="0" smtClean="0"/>
              <a:t>&lt;html&gt;       </a:t>
            </a:r>
          </a:p>
          <a:p>
            <a:endParaRPr lang="en-US" sz="2200" b="0" dirty="0" smtClean="0">
              <a:solidFill>
                <a:srgbClr val="EA3800"/>
              </a:solidFill>
            </a:endParaRPr>
          </a:p>
          <a:p>
            <a:r>
              <a:rPr lang="en-US" sz="2200" b="0" dirty="0" smtClean="0">
                <a:solidFill>
                  <a:srgbClr val="EA3800"/>
                </a:solidFill>
              </a:rPr>
              <a:t>	&lt;head&gt;</a:t>
            </a:r>
          </a:p>
          <a:p>
            <a:r>
              <a:rPr lang="en-US" sz="2200" b="0" dirty="0" smtClean="0">
                <a:solidFill>
                  <a:srgbClr val="EA3800"/>
                </a:solidFill>
              </a:rPr>
              <a:t>            …………</a:t>
            </a:r>
          </a:p>
          <a:p>
            <a:r>
              <a:rPr lang="en-US" sz="2200" b="0" dirty="0" smtClean="0">
                <a:solidFill>
                  <a:srgbClr val="EA3800"/>
                </a:solidFill>
              </a:rPr>
              <a:t>	…………</a:t>
            </a:r>
          </a:p>
          <a:p>
            <a:r>
              <a:rPr lang="en-US" sz="2200" b="0" dirty="0" smtClean="0">
                <a:solidFill>
                  <a:srgbClr val="EA3800"/>
                </a:solidFill>
              </a:rPr>
              <a:t>	&lt;/head&gt;</a:t>
            </a:r>
          </a:p>
          <a:p>
            <a:endParaRPr lang="en-US" sz="2200" b="0" dirty="0" smtClean="0"/>
          </a:p>
          <a:p>
            <a:r>
              <a:rPr lang="en-US" sz="2200" b="0" dirty="0" smtClean="0">
                <a:solidFill>
                  <a:srgbClr val="00B050"/>
                </a:solidFill>
              </a:rPr>
              <a:t>    	&lt;body&gt;</a:t>
            </a:r>
          </a:p>
          <a:p>
            <a:r>
              <a:rPr lang="en-US" sz="2200" b="0" dirty="0" smtClean="0">
                <a:solidFill>
                  <a:srgbClr val="00B050"/>
                </a:solidFill>
              </a:rPr>
              <a:t>	…………</a:t>
            </a:r>
          </a:p>
          <a:p>
            <a:r>
              <a:rPr lang="en-US" sz="2200" b="0" dirty="0" smtClean="0">
                <a:solidFill>
                  <a:srgbClr val="00B050"/>
                </a:solidFill>
              </a:rPr>
              <a:t>	…………</a:t>
            </a:r>
          </a:p>
          <a:p>
            <a:r>
              <a:rPr lang="en-US" sz="2200" b="0" dirty="0" smtClean="0">
                <a:solidFill>
                  <a:srgbClr val="00B050"/>
                </a:solidFill>
              </a:rPr>
              <a:t> 	&lt;/body&gt;</a:t>
            </a:r>
          </a:p>
          <a:p>
            <a:endParaRPr lang="en-US" sz="2200" b="0" dirty="0" smtClean="0"/>
          </a:p>
          <a:p>
            <a:r>
              <a:rPr lang="en-US" sz="2200" b="0" dirty="0" smtClean="0"/>
              <a:t>&lt;/html&gt;</a:t>
            </a:r>
          </a:p>
          <a:p>
            <a:endParaRPr lang="en-US" sz="2200" b="0" dirty="0" smtClean="0"/>
          </a:p>
          <a:p>
            <a:endParaRPr lang="en-US" sz="2200" b="0" dirty="0"/>
          </a:p>
        </p:txBody>
      </p:sp>
      <p:sp>
        <p:nvSpPr>
          <p:cNvPr id="7" name="Right Brace 6"/>
          <p:cNvSpPr/>
          <p:nvPr/>
        </p:nvSpPr>
        <p:spPr bwMode="auto">
          <a:xfrm>
            <a:off x="5418667" y="1099423"/>
            <a:ext cx="1371600" cy="5105400"/>
          </a:xfrm>
          <a:prstGeom prst="rightBrace">
            <a:avLst/>
          </a:prstGeom>
          <a:noFill/>
          <a:ln w="9525" cap="flat" cmpd="sng" algn="ctr">
            <a:solidFill>
              <a:srgbClr val="EA38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90267" y="3429000"/>
            <a:ext cx="2133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EA3800"/>
                </a:solidFill>
              </a:rPr>
              <a:t>Basic Structure of a HTML file.</a:t>
            </a:r>
          </a:p>
        </p:txBody>
      </p:sp>
    </p:spTree>
    <p:extLst>
      <p:ext uri="{BB962C8B-B14F-4D97-AF65-F5344CB8AC3E}">
        <p14:creationId xmlns:p14="http://schemas.microsoft.com/office/powerpoint/2010/main" val="1422197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Lets work together to build  this page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39" y="972731"/>
            <a:ext cx="8077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83406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Learn How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</a:rPr>
              <a:t>Ready to Develop ? </a:t>
            </a:r>
          </a:p>
          <a:p>
            <a:pPr marL="630238" indent="-346075"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</a:rPr>
              <a:t>We will do some initial steps before we start</a:t>
            </a:r>
          </a:p>
          <a:p>
            <a:pPr marL="568325" indent="220663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 Open notepad, create a new text file.</a:t>
            </a:r>
          </a:p>
          <a:p>
            <a:pPr marL="568325" indent="220663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 Save it as MyFirstPage.html.</a:t>
            </a:r>
          </a:p>
          <a:p>
            <a:pPr marL="630238" indent="-346075"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630238" indent="-346075"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</a:rPr>
              <a:t>Further Steps:</a:t>
            </a:r>
          </a:p>
          <a:p>
            <a:pPr marL="630238" indent="-109538">
              <a:spcBef>
                <a:spcPts val="1200"/>
              </a:spcBef>
              <a:tabLst>
                <a:tab pos="457200" algn="l"/>
              </a:tabLst>
            </a:pPr>
            <a:r>
              <a:rPr lang="en-US" sz="2000" dirty="0">
                <a:solidFill>
                  <a:schemeClr val="bg1"/>
                </a:solidFill>
              </a:rPr>
              <a:t> As we go through each HTML tags we will add that tag in our MyFirstPage.html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268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Demonstrate usage of Header, Footer and Section tags appropriately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https://www.w3schools.com/html/html5_semantic_elements.asp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325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Root, Head and Body Tags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8000" dirty="0"/>
              <a:t>HTML Root Tag : Encloses the entire HTML document, this is the root element.</a:t>
            </a:r>
          </a:p>
          <a:p>
            <a:r>
              <a:rPr lang="en-US" sz="8000" dirty="0"/>
              <a:t>  		</a:t>
            </a:r>
            <a:r>
              <a:rPr lang="en-US" sz="8000" dirty="0">
                <a:solidFill>
                  <a:srgbClr val="FF0000"/>
                </a:solidFill>
              </a:rPr>
              <a:t>&lt;html&gt;</a:t>
            </a:r>
          </a:p>
          <a:p>
            <a:endParaRPr lang="en-US" sz="8000" dirty="0">
              <a:solidFill>
                <a:srgbClr val="FF0000"/>
              </a:solidFill>
            </a:endParaRPr>
          </a:p>
          <a:p>
            <a:r>
              <a:rPr lang="en-US" sz="8000" dirty="0">
                <a:solidFill>
                  <a:srgbClr val="FF0000"/>
                </a:solidFill>
              </a:rPr>
              <a:t>               	&lt;/html&gt;</a:t>
            </a:r>
          </a:p>
          <a:p>
            <a:r>
              <a:rPr lang="en-US" sz="8000" dirty="0" smtClean="0"/>
              <a:t>Head </a:t>
            </a:r>
            <a:r>
              <a:rPr lang="en-US" sz="8000" dirty="0"/>
              <a:t>Tag         : Container for all head elements like title, scripts, meta information </a:t>
            </a:r>
            <a:r>
              <a:rPr lang="en-US" sz="8000" dirty="0" err="1"/>
              <a:t>etc</a:t>
            </a:r>
            <a:endParaRPr lang="en-US" sz="8000" dirty="0"/>
          </a:p>
          <a:p>
            <a:r>
              <a:rPr lang="en-US" sz="8000" dirty="0" smtClean="0">
                <a:solidFill>
                  <a:srgbClr val="00B050"/>
                </a:solidFill>
              </a:rPr>
              <a:t>                           </a:t>
            </a:r>
            <a:r>
              <a:rPr lang="en-US" sz="8000" dirty="0">
                <a:solidFill>
                  <a:srgbClr val="00B050"/>
                </a:solidFill>
              </a:rPr>
              <a:t>&lt;head&gt;</a:t>
            </a:r>
          </a:p>
          <a:p>
            <a:r>
              <a:rPr lang="en-US" sz="8000" dirty="0">
                <a:solidFill>
                  <a:srgbClr val="00B050"/>
                </a:solidFill>
              </a:rPr>
              <a:t>		………</a:t>
            </a:r>
          </a:p>
          <a:p>
            <a:r>
              <a:rPr lang="en-US" sz="8000" dirty="0">
                <a:solidFill>
                  <a:srgbClr val="00B050"/>
                </a:solidFill>
              </a:rPr>
              <a:t>                            &lt;/head&gt;</a:t>
            </a:r>
          </a:p>
          <a:p>
            <a:r>
              <a:rPr lang="en-US" sz="8000" dirty="0" smtClean="0"/>
              <a:t>Body </a:t>
            </a:r>
            <a:r>
              <a:rPr lang="en-US" sz="8000" dirty="0"/>
              <a:t>Tag         : This holds the other tags and the content which needs to be rendered </a:t>
            </a:r>
          </a:p>
          <a:p>
            <a:r>
              <a:rPr lang="en-US" sz="8000" dirty="0"/>
              <a:t>		  on the  browser.</a:t>
            </a:r>
          </a:p>
          <a:p>
            <a:r>
              <a:rPr lang="en-US" sz="8000" dirty="0" smtClean="0">
                <a:solidFill>
                  <a:srgbClr val="FFFF00"/>
                </a:solidFill>
              </a:rPr>
              <a:t>                           </a:t>
            </a:r>
            <a:r>
              <a:rPr lang="en-US" sz="8000" dirty="0">
                <a:solidFill>
                  <a:srgbClr val="FFFF00"/>
                </a:solidFill>
              </a:rPr>
              <a:t>&lt;body&gt;</a:t>
            </a:r>
          </a:p>
          <a:p>
            <a:endParaRPr lang="en-US" sz="8000" dirty="0" smtClean="0">
              <a:solidFill>
                <a:srgbClr val="FFFF00"/>
              </a:solidFill>
            </a:endParaRPr>
          </a:p>
          <a:p>
            <a:r>
              <a:rPr lang="en-US" sz="8000" dirty="0" smtClean="0">
                <a:solidFill>
                  <a:srgbClr val="FFFF00"/>
                </a:solidFill>
              </a:rPr>
              <a:t>                           </a:t>
            </a:r>
            <a:r>
              <a:rPr lang="en-US" sz="8000" dirty="0">
                <a:solidFill>
                  <a:srgbClr val="FFFF00"/>
                </a:solidFill>
              </a:rPr>
              <a:t>&lt;/body&gt;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25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Heading Tag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348569"/>
          </a:xfrm>
        </p:spPr>
        <p:txBody>
          <a:bodyPr>
            <a:normAutofit fontScale="77500" lnSpcReduction="20000"/>
          </a:bodyPr>
          <a:lstStyle/>
          <a:p>
            <a:pPr marL="457200" indent="-220663">
              <a:spcBef>
                <a:spcPts val="1200"/>
              </a:spcBef>
            </a:pPr>
            <a:r>
              <a:rPr lang="en-US" sz="2600" dirty="0"/>
              <a:t>Heading tags are used to define headings in HTML pages, </a:t>
            </a:r>
          </a:p>
          <a:p>
            <a:pPr marL="457200" indent="-220663">
              <a:spcBef>
                <a:spcPts val="1200"/>
              </a:spcBef>
            </a:pPr>
            <a:r>
              <a:rPr lang="en-US" sz="2600" dirty="0"/>
              <a:t>There six heading tags</a:t>
            </a:r>
            <a:r>
              <a:rPr lang="en-US" sz="2600" dirty="0">
                <a:solidFill>
                  <a:srgbClr val="00B050"/>
                </a:solidFill>
              </a:rPr>
              <a:t> &lt;h1&gt; </a:t>
            </a:r>
            <a:r>
              <a:rPr lang="en-US" sz="2600" dirty="0"/>
              <a:t>to </a:t>
            </a:r>
            <a:r>
              <a:rPr lang="en-US" sz="2600" dirty="0">
                <a:solidFill>
                  <a:srgbClr val="00B050"/>
                </a:solidFill>
              </a:rPr>
              <a:t>&lt;h6&gt;</a:t>
            </a:r>
            <a:r>
              <a:rPr lang="en-US" sz="2600" dirty="0"/>
              <a:t> </a:t>
            </a:r>
          </a:p>
          <a:p>
            <a:pPr marL="693738" indent="-236538"/>
            <a:endParaRPr lang="en-US" sz="2600" dirty="0"/>
          </a:p>
          <a:p>
            <a:pPr marL="693738" indent="-236538"/>
            <a:r>
              <a:rPr lang="en-US" sz="2600" dirty="0"/>
              <a:t>	</a:t>
            </a:r>
            <a:r>
              <a:rPr lang="en-US" sz="2600" dirty="0">
                <a:solidFill>
                  <a:srgbClr val="00B050"/>
                </a:solidFill>
              </a:rPr>
              <a:t>&lt;h1&gt; </a:t>
            </a:r>
            <a:r>
              <a:rPr lang="en-US" sz="2600" dirty="0"/>
              <a:t>Denotes the most important heading </a:t>
            </a:r>
          </a:p>
          <a:p>
            <a:pPr marL="693738" indent="-236538"/>
            <a:r>
              <a:rPr lang="en-US" sz="2600" dirty="0"/>
              <a:t>	</a:t>
            </a:r>
            <a:r>
              <a:rPr lang="en-US" sz="2600" dirty="0">
                <a:solidFill>
                  <a:srgbClr val="00B050"/>
                </a:solidFill>
              </a:rPr>
              <a:t> &lt;h6&gt; </a:t>
            </a:r>
            <a:r>
              <a:rPr lang="en-US" sz="2600" dirty="0"/>
              <a:t>Denotes the least important heading.</a:t>
            </a:r>
          </a:p>
          <a:p>
            <a:endParaRPr lang="en-US" sz="2600" dirty="0"/>
          </a:p>
          <a:p>
            <a:pPr marL="520700"/>
            <a:endParaRPr lang="en-US" sz="2600" dirty="0"/>
          </a:p>
          <a:p>
            <a:pPr marL="520700"/>
            <a:endParaRPr lang="en-US" sz="2600" dirty="0"/>
          </a:p>
          <a:p>
            <a:pPr marL="520700"/>
            <a:r>
              <a:rPr lang="en-US" sz="2600" dirty="0"/>
              <a:t> Syntax:</a:t>
            </a:r>
          </a:p>
          <a:p>
            <a:r>
              <a:rPr lang="en-US" sz="2600" dirty="0"/>
              <a:t> </a:t>
            </a:r>
          </a:p>
          <a:p>
            <a:r>
              <a:rPr lang="en-US" sz="2600" i="1" dirty="0">
                <a:solidFill>
                  <a:srgbClr val="00B050"/>
                </a:solidFill>
              </a:rPr>
              <a:t>	</a:t>
            </a:r>
            <a:r>
              <a:rPr lang="en-US" sz="2600" dirty="0">
                <a:solidFill>
                  <a:srgbClr val="00B050"/>
                </a:solidFill>
              </a:rPr>
              <a:t> &lt;h1 </a:t>
            </a:r>
            <a:r>
              <a:rPr lang="en-US" sz="2600" dirty="0">
                <a:solidFill>
                  <a:srgbClr val="C00000"/>
                </a:solidFill>
              </a:rPr>
              <a:t>id</a:t>
            </a:r>
            <a:r>
              <a:rPr lang="en-US" sz="2600" dirty="0">
                <a:solidFill>
                  <a:srgbClr val="002060"/>
                </a:solidFill>
              </a:rPr>
              <a:t>=</a:t>
            </a:r>
            <a:r>
              <a:rPr lang="en-US" sz="2600" dirty="0">
                <a:solidFill>
                  <a:srgbClr val="FF0000"/>
                </a:solidFill>
              </a:rPr>
              <a:t>“</a:t>
            </a:r>
            <a:r>
              <a:rPr lang="en-US" sz="2600" dirty="0"/>
              <a:t>heading1</a:t>
            </a:r>
            <a:r>
              <a:rPr lang="en-US" sz="2600" dirty="0">
                <a:solidFill>
                  <a:srgbClr val="FF0000"/>
                </a:solidFill>
              </a:rPr>
              <a:t>”</a:t>
            </a:r>
            <a:r>
              <a:rPr lang="en-US" sz="2600" dirty="0">
                <a:solidFill>
                  <a:srgbClr val="00B050"/>
                </a:solidFill>
              </a:rPr>
              <a:t>&gt;</a:t>
            </a:r>
            <a:r>
              <a:rPr lang="en-US" sz="2600" dirty="0">
                <a:solidFill>
                  <a:srgbClr val="0070C0"/>
                </a:solidFill>
              </a:rPr>
              <a:t> </a:t>
            </a:r>
            <a:r>
              <a:rPr lang="en-US" sz="2600" dirty="0"/>
              <a:t>This is heading 1</a:t>
            </a:r>
            <a:r>
              <a:rPr lang="en-US" sz="2600" dirty="0">
                <a:solidFill>
                  <a:srgbClr val="00B050"/>
                </a:solidFill>
              </a:rPr>
              <a:t>&lt;h1&gt;</a:t>
            </a:r>
          </a:p>
          <a:p>
            <a:endParaRPr lang="en-US" sz="2600" dirty="0"/>
          </a:p>
          <a:p>
            <a:r>
              <a:rPr lang="en-US" sz="2600" dirty="0"/>
              <a:t>	Where “</a:t>
            </a:r>
            <a:r>
              <a:rPr lang="en-US" sz="2600" dirty="0">
                <a:solidFill>
                  <a:srgbClr val="C00000"/>
                </a:solidFill>
              </a:rPr>
              <a:t>id</a:t>
            </a:r>
            <a:r>
              <a:rPr lang="en-US" sz="2600" dirty="0"/>
              <a:t>” is the attribute used for accessing the element.</a:t>
            </a:r>
          </a:p>
          <a:p>
            <a:endParaRPr lang="en-US" sz="2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12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Try It out – Lets play With Headings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 flipH="1">
            <a:off x="8762999" y="5714911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 descr="monit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429000" y="1676400"/>
            <a:ext cx="1962861" cy="2438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3400" y="4526703"/>
            <a:ext cx="4572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</a:rPr>
              <a:t>Add the following headings to first.html</a:t>
            </a:r>
          </a:p>
          <a:p>
            <a:pPr marL="342900" indent="350838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Main Heading  – Google</a:t>
            </a:r>
          </a:p>
          <a:p>
            <a:pPr marL="342900" indent="350838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Sub Heading   – History of Google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8844" y="4526703"/>
            <a:ext cx="2257425" cy="1238250"/>
          </a:xfrm>
          <a:prstGeom prst="rect">
            <a:avLst/>
          </a:prstGeom>
          <a:noFill/>
          <a:ln w="25400">
            <a:solidFill>
              <a:srgbClr val="7D0D5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5020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Paragraph tag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</a:pPr>
            <a:r>
              <a:rPr lang="en-US" sz="2200" dirty="0"/>
              <a:t>This tag is used to format texts as paragraph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Inserts a line before and after each paragraph tag</a:t>
            </a:r>
          </a:p>
          <a:p>
            <a:pPr>
              <a:spcBef>
                <a:spcPts val="1200"/>
              </a:spcBef>
            </a:pPr>
            <a:endParaRPr lang="en-US" sz="2400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 </a:t>
            </a:r>
            <a:r>
              <a:rPr lang="en-US" sz="2200" dirty="0"/>
              <a:t>Syntax :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 &lt;p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>
                <a:solidFill>
                  <a:srgbClr val="002060"/>
                </a:solidFill>
              </a:rPr>
              <a:t>=</a:t>
            </a:r>
            <a:r>
              <a:rPr lang="en-US" sz="2200" dirty="0">
                <a:solidFill>
                  <a:srgbClr val="00B050"/>
                </a:solidFill>
              </a:rPr>
              <a:t>“</a:t>
            </a:r>
            <a:r>
              <a:rPr lang="en-US" sz="2200" dirty="0"/>
              <a:t>ID</a:t>
            </a:r>
            <a:r>
              <a:rPr lang="en-US" sz="2200" dirty="0">
                <a:solidFill>
                  <a:srgbClr val="00B050"/>
                </a:solidFill>
              </a:rPr>
              <a:t>”&gt;</a:t>
            </a:r>
            <a:r>
              <a:rPr lang="en-US" sz="2200" dirty="0"/>
              <a:t>Paragraph</a:t>
            </a:r>
            <a:r>
              <a:rPr lang="en-US" sz="2200" dirty="0">
                <a:solidFill>
                  <a:srgbClr val="0070C0"/>
                </a:solidFill>
              </a:rPr>
              <a:t> </a:t>
            </a:r>
            <a:r>
              <a:rPr lang="en-US" sz="2200" dirty="0"/>
              <a:t>Content goes in here </a:t>
            </a:r>
            <a:r>
              <a:rPr lang="en-US" sz="2200" dirty="0">
                <a:solidFill>
                  <a:srgbClr val="00B050"/>
                </a:solidFill>
              </a:rPr>
              <a:t>&lt;/p&gt;</a:t>
            </a:r>
            <a:endParaRPr lang="en-US" sz="2200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625" y="2447925"/>
            <a:ext cx="6505575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600200" y="0"/>
            <a:ext cx="75438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8986" y="1456253"/>
            <a:ext cx="83058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endParaRPr lang="en-US" sz="2000" b="0" dirty="0" smtClean="0"/>
          </a:p>
          <a:p>
            <a:pPr>
              <a:spcBef>
                <a:spcPts val="1200"/>
              </a:spcBef>
            </a:pPr>
            <a:endParaRPr lang="en-US" sz="2000" b="0" dirty="0" smtClean="0"/>
          </a:p>
          <a:p>
            <a:pPr>
              <a:spcBef>
                <a:spcPts val="1200"/>
              </a:spcBef>
            </a:pPr>
            <a:endParaRPr lang="en-US" sz="2000" b="0" dirty="0" smtClean="0"/>
          </a:p>
          <a:p>
            <a:pPr>
              <a:spcBef>
                <a:spcPts val="1200"/>
              </a:spcBef>
            </a:pPr>
            <a:endParaRPr lang="en-US" sz="2000" b="0" dirty="0" smtClean="0"/>
          </a:p>
          <a:p>
            <a:pPr>
              <a:spcBef>
                <a:spcPts val="1200"/>
              </a:spcBef>
            </a:pPr>
            <a:endParaRPr lang="en-US" sz="2000" b="0" dirty="0" smtClean="0"/>
          </a:p>
          <a:p>
            <a:pPr>
              <a:spcBef>
                <a:spcPts val="1200"/>
              </a:spcBef>
            </a:pPr>
            <a:r>
              <a:rPr lang="en-US" sz="2000" dirty="0" smtClean="0"/>
              <a:t> </a:t>
            </a:r>
            <a:endParaRPr lang="en-US" sz="2000" dirty="0" smtClean="0">
              <a:solidFill>
                <a:srgbClr val="002060"/>
              </a:solidFill>
            </a:endParaRPr>
          </a:p>
        </p:txBody>
      </p:sp>
      <p:sp>
        <p:nvSpPr>
          <p:cNvPr id="12" name="Right Brace 11"/>
          <p:cNvSpPr/>
          <p:nvPr/>
        </p:nvSpPr>
        <p:spPr bwMode="auto">
          <a:xfrm>
            <a:off x="6553200" y="3048000"/>
            <a:ext cx="533400" cy="685800"/>
          </a:xfrm>
          <a:prstGeom prst="rightBrac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Flowchart: Process 12"/>
          <p:cNvSpPr/>
          <p:nvPr/>
        </p:nvSpPr>
        <p:spPr bwMode="auto">
          <a:xfrm>
            <a:off x="7086600" y="2819400"/>
            <a:ext cx="1981200" cy="990600"/>
          </a:xfrm>
          <a:prstGeom prst="flowChartProcess">
            <a:avLst/>
          </a:prstGeom>
          <a:solidFill>
            <a:srgbClr val="FFCC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charset="0"/>
              </a:rPr>
              <a:t>Paragraph</a:t>
            </a:r>
            <a:r>
              <a:rPr kumimoji="0" lang="en-US" sz="1400" b="1" i="0" u="none" strike="noStrike" cap="none" normalizeH="0" dirty="0" smtClean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charset="0"/>
              </a:rPr>
              <a:t> 1:</a:t>
            </a: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0" baseline="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Arial" charset="0"/>
              </a:rPr>
              <a:t>One line appears</a:t>
            </a:r>
            <a:r>
              <a:rPr lang="en-US" sz="1400" b="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Arial" charset="0"/>
              </a:rPr>
              <a:t> between the heading and paragraph 2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charset="0"/>
            </a:endParaRPr>
          </a:p>
        </p:txBody>
      </p:sp>
      <p:sp>
        <p:nvSpPr>
          <p:cNvPr id="14" name="Right Brace 13"/>
          <p:cNvSpPr/>
          <p:nvPr/>
        </p:nvSpPr>
        <p:spPr bwMode="auto">
          <a:xfrm>
            <a:off x="6553200" y="3886200"/>
            <a:ext cx="533400" cy="685800"/>
          </a:xfrm>
          <a:prstGeom prst="rightBrace">
            <a:avLst/>
          </a:prstGeom>
          <a:noFill/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Flowchart: Process 14"/>
          <p:cNvSpPr/>
          <p:nvPr/>
        </p:nvSpPr>
        <p:spPr bwMode="auto">
          <a:xfrm>
            <a:off x="7173913" y="4098595"/>
            <a:ext cx="1447800" cy="307848"/>
          </a:xfrm>
          <a:prstGeom prst="flowChartProcess">
            <a:avLst/>
          </a:prstGeom>
          <a:solidFill>
            <a:srgbClr val="FFCC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charset="0"/>
              </a:rPr>
              <a:t>Paragraph</a:t>
            </a:r>
            <a:r>
              <a:rPr kumimoji="0" lang="en-US" sz="1400" b="1" i="0" u="none" strike="noStrike" cap="none" normalizeH="0" dirty="0" smtClean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charset="0"/>
              </a:rPr>
              <a:t> 2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069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Hand: Adding Paragraph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 flipV="1">
            <a:off x="8647112" y="5760630"/>
            <a:ext cx="115887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00200" y="0"/>
            <a:ext cx="75438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201" y="1743670"/>
            <a:ext cx="8610599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200" b="0" dirty="0" smtClean="0">
                <a:solidFill>
                  <a:schemeClr val="bg1"/>
                </a:solidFill>
              </a:rPr>
              <a:t>Add two paragraphs below the sub heading “History Of Google”.</a:t>
            </a:r>
          </a:p>
          <a:p>
            <a:pPr>
              <a:spcBef>
                <a:spcPts val="1200"/>
              </a:spcBef>
            </a:pPr>
            <a:r>
              <a:rPr lang="en-US" sz="2200" b="0" dirty="0" smtClean="0">
                <a:solidFill>
                  <a:schemeClr val="bg1"/>
                </a:solidFill>
              </a:rPr>
              <a:t>The content can be anything about Google.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4134" y="3048000"/>
            <a:ext cx="8593666" cy="25908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16020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Lists are used to list items in an HTML page.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Two flavors Of List,</a:t>
            </a:r>
          </a:p>
          <a:p>
            <a:pPr marL="1371600" indent="409575"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Ordered Lists</a:t>
            </a:r>
          </a:p>
          <a:p>
            <a:pPr marL="1371600" indent="409575"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Unordered Lists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720227" y="646378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47ED8886-DB3B-44F4-9A80-E6A224679F20}" type="slidenum">
              <a:rPr lang="en-US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375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Ordered Lists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Definition:  Delineates a list, where the items are in sequential, numerical order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6499" y="1905000"/>
            <a:ext cx="1888901" cy="1473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85800" y="3581400"/>
            <a:ext cx="3352800" cy="2031325"/>
          </a:xfrm>
          <a:prstGeom prst="rect">
            <a:avLst/>
          </a:prstGeom>
          <a:solidFill>
            <a:srgbClr val="FFFF00">
              <a:alpha val="29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Syntax :</a:t>
            </a:r>
          </a:p>
          <a:p>
            <a:endParaRPr lang="en-US" dirty="0" smtClean="0"/>
          </a:p>
          <a:p>
            <a:pPr indent="741363"/>
            <a:r>
              <a:rPr lang="en-US" dirty="0" smtClean="0">
                <a:solidFill>
                  <a:srgbClr val="C00000"/>
                </a:solidFill>
              </a:rPr>
              <a:t>&lt;</a:t>
            </a:r>
            <a:r>
              <a:rPr lang="en-US" dirty="0" err="1" smtClean="0">
                <a:solidFill>
                  <a:srgbClr val="C00000"/>
                </a:solidFill>
              </a:rPr>
              <a:t>ol</a:t>
            </a:r>
            <a:r>
              <a:rPr lang="en-US" dirty="0" smtClean="0">
                <a:solidFill>
                  <a:srgbClr val="C0000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List Item1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List Item2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List Item3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dirty="0" smtClean="0">
                <a:solidFill>
                  <a:srgbClr val="C00000"/>
                </a:solidFill>
              </a:rPr>
              <a:t>&lt;/</a:t>
            </a:r>
            <a:r>
              <a:rPr lang="en-US" dirty="0" err="1" smtClean="0">
                <a:solidFill>
                  <a:srgbClr val="C00000"/>
                </a:solidFill>
              </a:rPr>
              <a:t>ol</a:t>
            </a:r>
            <a:r>
              <a:rPr lang="en-US" dirty="0" smtClean="0">
                <a:solidFill>
                  <a:srgbClr val="C00000"/>
                </a:solidFill>
              </a:rPr>
              <a:t>&gt;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0" y="3531275"/>
            <a:ext cx="3352800" cy="2031325"/>
          </a:xfrm>
          <a:prstGeom prst="rect">
            <a:avLst/>
          </a:prstGeom>
          <a:solidFill>
            <a:srgbClr val="FFFF00">
              <a:alpha val="29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Example :</a:t>
            </a:r>
          </a:p>
          <a:p>
            <a:endParaRPr lang="en-US" dirty="0" smtClean="0"/>
          </a:p>
          <a:p>
            <a:pPr indent="741363"/>
            <a:r>
              <a:rPr lang="en-US" dirty="0" smtClean="0">
                <a:solidFill>
                  <a:srgbClr val="C00000"/>
                </a:solidFill>
              </a:rPr>
              <a:t>&lt;</a:t>
            </a:r>
            <a:r>
              <a:rPr lang="en-US" dirty="0" err="1" smtClean="0">
                <a:solidFill>
                  <a:srgbClr val="C00000"/>
                </a:solidFill>
              </a:rPr>
              <a:t>ol</a:t>
            </a:r>
            <a:r>
              <a:rPr lang="en-US" dirty="0" smtClean="0">
                <a:solidFill>
                  <a:srgbClr val="C0000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Apple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Orange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Mango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dirty="0" smtClean="0">
                <a:solidFill>
                  <a:srgbClr val="C00000"/>
                </a:solidFill>
              </a:rPr>
              <a:t>&lt;/</a:t>
            </a:r>
            <a:r>
              <a:rPr lang="en-US" dirty="0" err="1" smtClean="0">
                <a:solidFill>
                  <a:srgbClr val="C00000"/>
                </a:solidFill>
              </a:rPr>
              <a:t>ol</a:t>
            </a:r>
            <a:r>
              <a:rPr lang="en-US" dirty="0" smtClean="0">
                <a:solidFill>
                  <a:srgbClr val="C00000"/>
                </a:solidFill>
              </a:rPr>
              <a:t>&gt;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4360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Un Ordered Lists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Definition: delineates a list, where the items are generally of equal importance and they are listed in bullets.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3200400" y="1905000"/>
            <a:ext cx="1676400" cy="183605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85800" y="3836075"/>
            <a:ext cx="3352800" cy="2031325"/>
          </a:xfrm>
          <a:prstGeom prst="rect">
            <a:avLst/>
          </a:prstGeom>
          <a:solidFill>
            <a:srgbClr val="FFFF00">
              <a:alpha val="29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Syntax :</a:t>
            </a:r>
          </a:p>
          <a:p>
            <a:endParaRPr lang="en-US" dirty="0" smtClean="0"/>
          </a:p>
          <a:p>
            <a:pPr indent="741363"/>
            <a:r>
              <a:rPr lang="en-US" dirty="0" smtClean="0">
                <a:solidFill>
                  <a:srgbClr val="C00000"/>
                </a:solidFill>
              </a:rPr>
              <a:t>&lt;</a:t>
            </a:r>
            <a:r>
              <a:rPr lang="en-US" dirty="0" err="1" smtClean="0">
                <a:solidFill>
                  <a:srgbClr val="C00000"/>
                </a:solidFill>
              </a:rPr>
              <a:t>ul</a:t>
            </a:r>
            <a:r>
              <a:rPr lang="en-US" dirty="0" smtClean="0">
                <a:solidFill>
                  <a:srgbClr val="C0000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List Item1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List Item2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List Item3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dirty="0" smtClean="0">
                <a:solidFill>
                  <a:srgbClr val="C00000"/>
                </a:solidFill>
              </a:rPr>
              <a:t>&lt;/</a:t>
            </a:r>
            <a:r>
              <a:rPr lang="en-US" dirty="0" err="1" smtClean="0">
                <a:solidFill>
                  <a:srgbClr val="C00000"/>
                </a:solidFill>
              </a:rPr>
              <a:t>ul</a:t>
            </a:r>
            <a:r>
              <a:rPr lang="en-US" dirty="0" smtClean="0">
                <a:solidFill>
                  <a:srgbClr val="C00000"/>
                </a:solidFill>
              </a:rPr>
              <a:t>&gt;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0" y="3886200"/>
            <a:ext cx="3352800" cy="2031325"/>
          </a:xfrm>
          <a:prstGeom prst="rect">
            <a:avLst/>
          </a:prstGeom>
          <a:solidFill>
            <a:srgbClr val="FFFF00">
              <a:alpha val="29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Example :</a:t>
            </a:r>
          </a:p>
          <a:p>
            <a:endParaRPr lang="en-US" dirty="0" smtClean="0"/>
          </a:p>
          <a:p>
            <a:pPr indent="741363"/>
            <a:r>
              <a:rPr lang="en-US" dirty="0" smtClean="0">
                <a:solidFill>
                  <a:srgbClr val="C00000"/>
                </a:solidFill>
              </a:rPr>
              <a:t>&lt;</a:t>
            </a:r>
            <a:r>
              <a:rPr lang="en-US" dirty="0" err="1" smtClean="0">
                <a:solidFill>
                  <a:srgbClr val="C00000"/>
                </a:solidFill>
              </a:rPr>
              <a:t>ul</a:t>
            </a:r>
            <a:r>
              <a:rPr lang="en-US" dirty="0" smtClean="0">
                <a:solidFill>
                  <a:srgbClr val="C0000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Apple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Orange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B0F0"/>
                </a:solidFill>
              </a:rPr>
              <a:t>Mango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li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pPr indent="741363"/>
            <a:r>
              <a:rPr lang="en-US" dirty="0" smtClean="0">
                <a:solidFill>
                  <a:srgbClr val="C00000"/>
                </a:solidFill>
              </a:rPr>
              <a:t>&lt;/</a:t>
            </a:r>
            <a:r>
              <a:rPr lang="en-US" dirty="0" err="1" smtClean="0">
                <a:solidFill>
                  <a:srgbClr val="C00000"/>
                </a:solidFill>
              </a:rPr>
              <a:t>ul</a:t>
            </a:r>
            <a:r>
              <a:rPr lang="en-US" dirty="0" smtClean="0">
                <a:solidFill>
                  <a:srgbClr val="C00000"/>
                </a:solidFill>
              </a:rPr>
              <a:t>&gt;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725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- Lists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Create a set of Ordered and Unordered lists  as illustrated below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632466"/>
            <a:ext cx="5086350" cy="4066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6924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-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429000" y="1904999"/>
            <a:ext cx="1828800" cy="20574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219200"/>
            <a:ext cx="4648200" cy="458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23793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Anchor Tag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36538" indent="-125413">
              <a:spcBef>
                <a:spcPts val="1800"/>
              </a:spcBef>
            </a:pPr>
            <a:r>
              <a:rPr lang="en-US" sz="2000" dirty="0"/>
              <a:t>Anchor tag(</a:t>
            </a:r>
            <a:r>
              <a:rPr lang="en-US" sz="2000" dirty="0">
                <a:solidFill>
                  <a:srgbClr val="00B050"/>
                </a:solidFill>
              </a:rPr>
              <a:t>&lt;a&gt;</a:t>
            </a:r>
            <a:r>
              <a:rPr lang="en-US" sz="2000" dirty="0"/>
              <a:t>) is used for creating hyperlinks which is a word or group of words. Hyperlink when clicked opens a new web page or web site or move to a section within the same document.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     Anchor tag can be used for two purposes:</a:t>
            </a:r>
          </a:p>
          <a:p>
            <a:pPr marL="1828800" lvl="3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To create a link to another document</a:t>
            </a:r>
          </a:p>
          <a:p>
            <a:pPr marL="1828800" lvl="3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To create a bookmark inside a document</a:t>
            </a:r>
          </a:p>
          <a:p>
            <a:pPr marL="568325">
              <a:spcBef>
                <a:spcPts val="1200"/>
              </a:spcBef>
            </a:pPr>
            <a:r>
              <a:rPr lang="en-US" sz="2000" dirty="0"/>
              <a:t>Syntax :</a:t>
            </a:r>
          </a:p>
          <a:p>
            <a:pPr marL="568325">
              <a:spcBef>
                <a:spcPts val="1200"/>
              </a:spcBef>
            </a:pPr>
            <a:r>
              <a:rPr lang="en-US" sz="2000" i="1" dirty="0">
                <a:solidFill>
                  <a:srgbClr val="00B050"/>
                </a:solidFill>
              </a:rPr>
              <a:t>	</a:t>
            </a:r>
            <a:r>
              <a:rPr lang="en-US" sz="2000" dirty="0">
                <a:solidFill>
                  <a:srgbClr val="00B050"/>
                </a:solidFill>
              </a:rPr>
              <a:t>&lt;a </a:t>
            </a:r>
            <a:r>
              <a:rPr lang="en-US" sz="2000" dirty="0" err="1">
                <a:solidFill>
                  <a:srgbClr val="C00000"/>
                </a:solidFill>
              </a:rPr>
              <a:t>href</a:t>
            </a:r>
            <a:r>
              <a:rPr lang="en-US" sz="2000" dirty="0"/>
              <a:t>=“</a:t>
            </a:r>
            <a:r>
              <a:rPr lang="en-US" sz="2000" dirty="0" err="1"/>
              <a:t>url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  <a:r>
              <a:rPr lang="en-US" sz="2000" dirty="0">
                <a:solidFill>
                  <a:srgbClr val="00B0F0"/>
                </a:solidFill>
              </a:rPr>
              <a:t>Click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B0F0"/>
                </a:solidFill>
              </a:rPr>
              <a:t>me</a:t>
            </a:r>
            <a:r>
              <a:rPr lang="en-US" sz="2000" dirty="0">
                <a:solidFill>
                  <a:srgbClr val="00B050"/>
                </a:solidFill>
              </a:rPr>
              <a:t>&lt;/a&gt;  </a:t>
            </a:r>
            <a:r>
              <a:rPr lang="en-US" sz="2000" dirty="0" err="1">
                <a:solidFill>
                  <a:srgbClr val="00B050"/>
                </a:solidFill>
              </a:rPr>
              <a:t>url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– refers to the page which needs to open when the text ”</a:t>
            </a:r>
            <a:r>
              <a:rPr lang="en-US" sz="2000" dirty="0">
                <a:solidFill>
                  <a:srgbClr val="00B0F0"/>
                </a:solidFill>
              </a:rPr>
              <a:t>Click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B0F0"/>
                </a:solidFill>
              </a:rPr>
              <a:t>Me</a:t>
            </a:r>
            <a:r>
              <a:rPr lang="en-US" sz="2000" dirty="0"/>
              <a:t>” is clicked.</a:t>
            </a:r>
          </a:p>
          <a:p>
            <a:pPr marL="568325">
              <a:spcBef>
                <a:spcPts val="1200"/>
              </a:spcBef>
            </a:pPr>
            <a:r>
              <a:rPr lang="en-US" sz="2000" dirty="0"/>
              <a:t>Example :</a:t>
            </a:r>
          </a:p>
          <a:p>
            <a:pPr marL="803275" indent="11112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&lt;a </a:t>
            </a:r>
            <a:r>
              <a:rPr lang="en-US" sz="2000" dirty="0" err="1">
                <a:solidFill>
                  <a:srgbClr val="C00000"/>
                </a:solidFill>
              </a:rPr>
              <a:t>href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http://www.google.com</a:t>
            </a:r>
            <a:r>
              <a:rPr lang="en-US" sz="2000" dirty="0"/>
              <a:t>”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  <a:r>
              <a:rPr lang="en-US" sz="2000" dirty="0"/>
              <a:t>Link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to Google Site </a:t>
            </a:r>
            <a:r>
              <a:rPr lang="en-US" sz="2000" dirty="0">
                <a:solidFill>
                  <a:srgbClr val="00B050"/>
                </a:solidFill>
              </a:rPr>
              <a:t>&lt;/a&gt;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5730081"/>
            <a:ext cx="2674471" cy="7620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076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Try It Out: Lets add a Anchor and a Image tag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000" dirty="0"/>
              <a:t>Add the following to the </a:t>
            </a:r>
          </a:p>
          <a:p>
            <a:pPr marL="693738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Add a link </a:t>
            </a:r>
            <a:r>
              <a:rPr lang="en-US" sz="2000" dirty="0">
                <a:solidFill>
                  <a:srgbClr val="C00000"/>
                </a:solidFill>
              </a:rPr>
              <a:t>Google</a:t>
            </a:r>
            <a:r>
              <a:rPr lang="en-US" sz="2000" dirty="0"/>
              <a:t> below the main heading.</a:t>
            </a:r>
          </a:p>
          <a:p>
            <a:pPr marL="693738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Add an image below the paragraph.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2540" y="2667000"/>
            <a:ext cx="6291262" cy="2955105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96954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Table tag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Table tag is used to represent data in rows and columns in an HTML page.    </a:t>
            </a:r>
          </a:p>
          <a:p>
            <a:r>
              <a:rPr lang="en-US" sz="2000" dirty="0" smtClean="0"/>
              <a:t>The </a:t>
            </a:r>
            <a:r>
              <a:rPr lang="en-US" sz="2000" dirty="0">
                <a:solidFill>
                  <a:srgbClr val="00B050"/>
                </a:solidFill>
              </a:rPr>
              <a:t>&lt;table&gt; &lt;/table&gt;</a:t>
            </a:r>
            <a:r>
              <a:rPr lang="en-US" sz="2000" dirty="0"/>
              <a:t> is used for creating a table.</a:t>
            </a:r>
          </a:p>
          <a:p>
            <a:r>
              <a:rPr lang="en-US" sz="2000" dirty="0" smtClean="0"/>
              <a:t>The </a:t>
            </a:r>
            <a:r>
              <a:rPr lang="en-US" sz="2000" dirty="0"/>
              <a:t>following are the table tag elements that are used for creating the grid.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 smtClean="0"/>
              <a:t>&lt;</a:t>
            </a:r>
            <a:r>
              <a:rPr lang="en-US" sz="2000" dirty="0"/>
              <a:t>TR&gt; - This is used for creating the row of he HTML table.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/>
              <a:t> &lt;TD&gt; - This is used for creating the columns of the HTML tables.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/>
              <a:t> &lt;TH&gt; - This is used to create the header row of the table.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548886"/>
              </p:ext>
            </p:extLst>
          </p:nvPr>
        </p:nvGraphicFramePr>
        <p:xfrm>
          <a:off x="2345267" y="4966952"/>
          <a:ext cx="647700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User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Contact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Column Heading  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 bwMode="auto">
          <a:xfrm>
            <a:off x="0" y="5082540"/>
            <a:ext cx="2133600" cy="838200"/>
          </a:xfrm>
          <a:prstGeom prst="roundRect">
            <a:avLst/>
          </a:prstGeom>
          <a:solidFill>
            <a:srgbClr val="FFCC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b="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Arial" charset="0"/>
              </a:rPr>
              <a:t>All the three rows will be created using the &lt;TR&gt; tag.</a:t>
            </a:r>
            <a:endParaRPr kumimoji="0" lang="en-US" sz="1400" b="0" i="0" u="none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charset="0"/>
            </a:endParaRPr>
          </a:p>
        </p:txBody>
      </p:sp>
      <p:sp>
        <p:nvSpPr>
          <p:cNvPr id="7" name="Line Callout 1 6"/>
          <p:cNvSpPr/>
          <p:nvPr/>
        </p:nvSpPr>
        <p:spPr bwMode="auto">
          <a:xfrm>
            <a:off x="3526367" y="4225817"/>
            <a:ext cx="1981200" cy="457200"/>
          </a:xfrm>
          <a:prstGeom prst="borderCallout1">
            <a:avLst>
              <a:gd name="adj1" fmla="val 18750"/>
              <a:gd name="adj2" fmla="val -8333"/>
              <a:gd name="adj3" fmla="val 160777"/>
              <a:gd name="adj4" fmla="val -22418"/>
            </a:avLst>
          </a:prstGeom>
          <a:solidFill>
            <a:srgbClr val="FFCC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 b="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Arial" charset="0"/>
              </a:rPr>
              <a:t>The heading column is created using TH. </a:t>
            </a:r>
          </a:p>
        </p:txBody>
      </p:sp>
      <p:sp>
        <p:nvSpPr>
          <p:cNvPr id="8" name="Line Callout 1 7"/>
          <p:cNvSpPr/>
          <p:nvPr/>
        </p:nvSpPr>
        <p:spPr bwMode="auto">
          <a:xfrm>
            <a:off x="6858000" y="4183291"/>
            <a:ext cx="1981200" cy="457200"/>
          </a:xfrm>
          <a:prstGeom prst="borderCallout1">
            <a:avLst>
              <a:gd name="adj1" fmla="val 18750"/>
              <a:gd name="adj2" fmla="val -8333"/>
              <a:gd name="adj3" fmla="val 271122"/>
              <a:gd name="adj4" fmla="val -50269"/>
            </a:avLst>
          </a:prstGeom>
          <a:solidFill>
            <a:srgbClr val="FFCC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400" b="0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Arial" charset="0"/>
              </a:rPr>
              <a:t>The data cells created using TD</a:t>
            </a:r>
          </a:p>
        </p:txBody>
      </p:sp>
      <p:sp>
        <p:nvSpPr>
          <p:cNvPr id="9" name="Left Brace 8"/>
          <p:cNvSpPr/>
          <p:nvPr/>
        </p:nvSpPr>
        <p:spPr bwMode="auto">
          <a:xfrm>
            <a:off x="2000956" y="5020292"/>
            <a:ext cx="381000" cy="1295400"/>
          </a:xfrm>
          <a:prstGeom prst="leftBrace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73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Syntax: Table tag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 flipH="1" flipV="1">
            <a:off x="7620000" y="4800600"/>
            <a:ext cx="152400" cy="7619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600200" y="0"/>
            <a:ext cx="75438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73339" y="1415904"/>
            <a:ext cx="4419600" cy="4585871"/>
          </a:xfrm>
          <a:prstGeom prst="rect">
            <a:avLst/>
          </a:prstGeom>
          <a:solidFill>
            <a:srgbClr val="FFC000">
              <a:alpha val="9000"/>
            </a:srgbClr>
          </a:solidFill>
          <a:ln>
            <a:solidFill>
              <a:srgbClr val="FFC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Syntax</a:t>
            </a:r>
            <a:r>
              <a:rPr lang="en-US" sz="2000" b="0" dirty="0" smtClean="0"/>
              <a:t> </a:t>
            </a:r>
          </a:p>
          <a:p>
            <a:r>
              <a:rPr lang="en-US" sz="2000" b="0" dirty="0" smtClean="0">
                <a:solidFill>
                  <a:srgbClr val="00B050"/>
                </a:solidFill>
              </a:rPr>
              <a:t>      </a:t>
            </a:r>
            <a:r>
              <a:rPr lang="en-US" b="0" dirty="0" smtClean="0">
                <a:solidFill>
                  <a:srgbClr val="00B050"/>
                </a:solidFill>
              </a:rPr>
              <a:t>&lt;table</a:t>
            </a:r>
            <a:r>
              <a:rPr lang="en-US" b="0" dirty="0" smtClean="0">
                <a:solidFill>
                  <a:srgbClr val="C00000"/>
                </a:solidFill>
              </a:rPr>
              <a:t> id</a:t>
            </a:r>
            <a:r>
              <a:rPr lang="en-US" b="0" dirty="0" smtClean="0">
                <a:solidFill>
                  <a:srgbClr val="00B050"/>
                </a:solidFill>
              </a:rPr>
              <a:t>=“</a:t>
            </a:r>
            <a:r>
              <a:rPr lang="en-US" b="0" dirty="0" smtClean="0">
                <a:solidFill>
                  <a:srgbClr val="00B0F0"/>
                </a:solidFill>
              </a:rPr>
              <a:t>id</a:t>
            </a:r>
            <a:r>
              <a:rPr lang="en-US" b="0" dirty="0" smtClean="0">
                <a:solidFill>
                  <a:srgbClr val="00B050"/>
                </a:solidFill>
              </a:rPr>
              <a:t>”&gt;</a:t>
            </a:r>
          </a:p>
          <a:p>
            <a:r>
              <a:rPr lang="en-US" b="0" dirty="0" smtClean="0">
                <a:solidFill>
                  <a:srgbClr val="00B050"/>
                </a:solidFill>
              </a:rPr>
              <a:t>        &lt;caption&gt;</a:t>
            </a:r>
            <a:r>
              <a:rPr lang="en-US" b="0" dirty="0" err="1" smtClean="0">
                <a:solidFill>
                  <a:srgbClr val="00B0F0"/>
                </a:solidFill>
              </a:rPr>
              <a:t>TableName</a:t>
            </a:r>
            <a:r>
              <a:rPr lang="en-US" b="0" dirty="0" smtClean="0">
                <a:solidFill>
                  <a:srgbClr val="00B050"/>
                </a:solidFill>
              </a:rPr>
              <a:t>&lt;/caption&gt;</a:t>
            </a:r>
          </a:p>
          <a:p>
            <a:r>
              <a:rPr lang="en-US" b="0" dirty="0" smtClean="0"/>
              <a:t>       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      	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th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/>
              <a:t>ColumnName1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th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	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th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/>
              <a:t>ColumnName2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th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      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      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      	</a:t>
            </a:r>
            <a:r>
              <a:rPr lang="en-US" b="0" dirty="0" smtClean="0">
                <a:solidFill>
                  <a:srgbClr val="00B050"/>
                </a:solidFill>
              </a:rPr>
              <a:t>&lt;td&gt;</a:t>
            </a:r>
            <a:r>
              <a:rPr lang="en-US" b="0" dirty="0" smtClean="0"/>
              <a:t>Data1</a:t>
            </a:r>
            <a:r>
              <a:rPr lang="en-US" b="0" dirty="0" smtClean="0">
                <a:solidFill>
                  <a:srgbClr val="00B050"/>
                </a:solidFill>
              </a:rPr>
              <a:t>&lt;/td&gt;</a:t>
            </a:r>
          </a:p>
          <a:p>
            <a:r>
              <a:rPr lang="en-US" b="0" dirty="0" smtClean="0"/>
              <a:t> 	</a:t>
            </a:r>
            <a:r>
              <a:rPr lang="en-US" b="0" dirty="0" smtClean="0">
                <a:solidFill>
                  <a:srgbClr val="00B050"/>
                </a:solidFill>
              </a:rPr>
              <a:t>&lt;td&gt;</a:t>
            </a:r>
            <a:r>
              <a:rPr lang="en-US" b="0" dirty="0" smtClean="0"/>
              <a:t>Data2</a:t>
            </a:r>
            <a:r>
              <a:rPr lang="en-US" b="0" dirty="0" smtClean="0">
                <a:solidFill>
                  <a:srgbClr val="00B050"/>
                </a:solidFill>
              </a:rPr>
              <a:t>&lt;/td&gt;</a:t>
            </a:r>
          </a:p>
          <a:p>
            <a:r>
              <a:rPr lang="en-US" b="0" dirty="0" smtClean="0"/>
              <a:t>       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 </a:t>
            </a:r>
          </a:p>
          <a:p>
            <a:r>
              <a:rPr lang="en-US" b="0" dirty="0" smtClean="0">
                <a:solidFill>
                  <a:srgbClr val="00B050"/>
                </a:solidFill>
              </a:rPr>
              <a:t>       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      	</a:t>
            </a:r>
            <a:r>
              <a:rPr lang="en-US" b="0" dirty="0" smtClean="0">
                <a:solidFill>
                  <a:srgbClr val="00B050"/>
                </a:solidFill>
              </a:rPr>
              <a:t>&lt;td&gt;</a:t>
            </a:r>
            <a:r>
              <a:rPr lang="en-US" b="0" dirty="0" smtClean="0"/>
              <a:t>Data1</a:t>
            </a:r>
            <a:r>
              <a:rPr lang="en-US" b="0" dirty="0" smtClean="0">
                <a:solidFill>
                  <a:srgbClr val="00B050"/>
                </a:solidFill>
              </a:rPr>
              <a:t>&lt;/td&gt;</a:t>
            </a:r>
          </a:p>
          <a:p>
            <a:r>
              <a:rPr lang="en-US" b="0" dirty="0" smtClean="0"/>
              <a:t> 	</a:t>
            </a:r>
            <a:r>
              <a:rPr lang="en-US" b="0" dirty="0" smtClean="0">
                <a:solidFill>
                  <a:srgbClr val="00B050"/>
                </a:solidFill>
              </a:rPr>
              <a:t>&lt;td&gt;</a:t>
            </a:r>
            <a:r>
              <a:rPr lang="en-US" b="0" dirty="0" smtClean="0"/>
              <a:t>Data2</a:t>
            </a:r>
            <a:r>
              <a:rPr lang="en-US" b="0" dirty="0" smtClean="0">
                <a:solidFill>
                  <a:srgbClr val="00B050"/>
                </a:solidFill>
              </a:rPr>
              <a:t>&lt;/td&gt;</a:t>
            </a:r>
          </a:p>
          <a:p>
            <a:r>
              <a:rPr lang="en-US" b="0" dirty="0" smtClean="0"/>
              <a:t>       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 </a:t>
            </a:r>
            <a:endParaRPr lang="en-US" b="0" dirty="0" smtClean="0"/>
          </a:p>
          <a:p>
            <a:r>
              <a:rPr lang="en-US" b="0" dirty="0" smtClean="0"/>
              <a:t>     </a:t>
            </a:r>
            <a:r>
              <a:rPr lang="en-US" b="0" dirty="0" smtClean="0">
                <a:solidFill>
                  <a:srgbClr val="00B050"/>
                </a:solidFill>
              </a:rPr>
              <a:t>&lt;/table&gt;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10691" y="1415903"/>
            <a:ext cx="4067139" cy="458587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Example</a:t>
            </a:r>
            <a:r>
              <a:rPr lang="en-US" sz="2000" b="0" dirty="0" smtClean="0">
                <a:solidFill>
                  <a:srgbClr val="00B050"/>
                </a:solidFill>
              </a:rPr>
              <a:t> </a:t>
            </a:r>
          </a:p>
          <a:p>
            <a:r>
              <a:rPr lang="en-US" sz="2000" b="0" dirty="0" smtClean="0">
                <a:solidFill>
                  <a:srgbClr val="00B050"/>
                </a:solidFill>
              </a:rPr>
              <a:t>  </a:t>
            </a:r>
            <a:r>
              <a:rPr lang="en-US" b="0" dirty="0" smtClean="0">
                <a:solidFill>
                  <a:srgbClr val="00B050"/>
                </a:solidFill>
              </a:rPr>
              <a:t>&lt;table </a:t>
            </a:r>
            <a:r>
              <a:rPr lang="en-US" b="0" dirty="0" smtClean="0">
                <a:solidFill>
                  <a:srgbClr val="C00000"/>
                </a:solidFill>
              </a:rPr>
              <a:t>id</a:t>
            </a:r>
            <a:r>
              <a:rPr lang="en-US" b="0" dirty="0" smtClean="0">
                <a:solidFill>
                  <a:srgbClr val="00B050"/>
                </a:solidFill>
              </a:rPr>
              <a:t>=“</a:t>
            </a:r>
            <a:r>
              <a:rPr lang="en-US" b="0" dirty="0" smtClean="0">
                <a:solidFill>
                  <a:srgbClr val="00B0F0"/>
                </a:solidFill>
              </a:rPr>
              <a:t>users</a:t>
            </a:r>
            <a:r>
              <a:rPr lang="en-US" b="0" dirty="0" smtClean="0">
                <a:solidFill>
                  <a:srgbClr val="00B050"/>
                </a:solidFill>
              </a:rPr>
              <a:t>”&gt;</a:t>
            </a:r>
          </a:p>
          <a:p>
            <a:r>
              <a:rPr lang="en-US" b="0" dirty="0" smtClean="0">
                <a:solidFill>
                  <a:srgbClr val="00B050"/>
                </a:solidFill>
              </a:rPr>
              <a:t>       &lt;caption&gt;</a:t>
            </a:r>
            <a:r>
              <a:rPr lang="en-US" b="0" dirty="0" smtClean="0">
                <a:solidFill>
                  <a:srgbClr val="00B0F0"/>
                </a:solidFill>
              </a:rPr>
              <a:t>User Details</a:t>
            </a:r>
            <a:r>
              <a:rPr lang="en-US" b="0" dirty="0" smtClean="0">
                <a:solidFill>
                  <a:srgbClr val="00B050"/>
                </a:solidFill>
              </a:rPr>
              <a:t>&lt;/caption&gt;</a:t>
            </a:r>
          </a:p>
          <a:p>
            <a:r>
              <a:rPr lang="en-US" b="0" dirty="0" smtClean="0"/>
              <a:t>       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      	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th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/>
              <a:t>Username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th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	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th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  <a:r>
              <a:rPr lang="en-US" b="0" dirty="0" smtClean="0">
                <a:solidFill>
                  <a:srgbClr val="002060"/>
                </a:solidFill>
              </a:rPr>
              <a:t>Contact Number</a:t>
            </a:r>
            <a:r>
              <a:rPr lang="en-US" b="0" dirty="0" smtClean="0">
                <a:solidFill>
                  <a:srgbClr val="00B050"/>
                </a:solidFill>
              </a:rPr>
              <a:t>&lt;/</a:t>
            </a:r>
            <a:r>
              <a:rPr lang="en-US" b="0" dirty="0" err="1" smtClean="0">
                <a:solidFill>
                  <a:srgbClr val="00B050"/>
                </a:solidFill>
              </a:rPr>
              <a:t>th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      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      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      	</a:t>
            </a:r>
            <a:r>
              <a:rPr lang="en-US" b="0" dirty="0" smtClean="0">
                <a:solidFill>
                  <a:srgbClr val="00B050"/>
                </a:solidFill>
              </a:rPr>
              <a:t>&lt;td&gt;</a:t>
            </a:r>
            <a:r>
              <a:rPr lang="en-US" b="0" dirty="0" err="1" smtClean="0"/>
              <a:t>Arun</a:t>
            </a:r>
            <a:r>
              <a:rPr lang="en-US" b="0" dirty="0" smtClean="0">
                <a:solidFill>
                  <a:srgbClr val="00B050"/>
                </a:solidFill>
              </a:rPr>
              <a:t>&lt;/td&gt;</a:t>
            </a:r>
          </a:p>
          <a:p>
            <a:r>
              <a:rPr lang="en-US" b="0" dirty="0" smtClean="0"/>
              <a:t> 	</a:t>
            </a:r>
            <a:r>
              <a:rPr lang="en-US" b="0" dirty="0" smtClean="0">
                <a:solidFill>
                  <a:srgbClr val="00B050"/>
                </a:solidFill>
              </a:rPr>
              <a:t>&lt;td&gt;</a:t>
            </a:r>
            <a:r>
              <a:rPr lang="en-US" b="0" dirty="0" smtClean="0">
                <a:solidFill>
                  <a:srgbClr val="002060"/>
                </a:solidFill>
              </a:rPr>
              <a:t>9568748756</a:t>
            </a:r>
            <a:r>
              <a:rPr lang="en-US" b="0" dirty="0" smtClean="0">
                <a:solidFill>
                  <a:srgbClr val="00B050"/>
                </a:solidFill>
              </a:rPr>
              <a:t>&lt;/td&gt;</a:t>
            </a:r>
          </a:p>
          <a:p>
            <a:r>
              <a:rPr lang="en-US" b="0" dirty="0" smtClean="0"/>
              <a:t>       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 </a:t>
            </a:r>
          </a:p>
          <a:p>
            <a:r>
              <a:rPr lang="en-US" b="0" dirty="0" smtClean="0">
                <a:solidFill>
                  <a:srgbClr val="00B050"/>
                </a:solidFill>
              </a:rPr>
              <a:t>       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b="0" dirty="0" smtClean="0"/>
              <a:t>       	</a:t>
            </a:r>
            <a:r>
              <a:rPr lang="en-US" b="0" dirty="0" smtClean="0">
                <a:solidFill>
                  <a:srgbClr val="00B050"/>
                </a:solidFill>
              </a:rPr>
              <a:t>&lt;td&gt;</a:t>
            </a:r>
            <a:r>
              <a:rPr lang="en-US" b="0" dirty="0" smtClean="0">
                <a:solidFill>
                  <a:srgbClr val="002060"/>
                </a:solidFill>
              </a:rPr>
              <a:t>Rose</a:t>
            </a:r>
            <a:r>
              <a:rPr lang="en-US" b="0" dirty="0" smtClean="0">
                <a:solidFill>
                  <a:srgbClr val="00B050"/>
                </a:solidFill>
              </a:rPr>
              <a:t>&lt;/td&gt;</a:t>
            </a:r>
          </a:p>
          <a:p>
            <a:r>
              <a:rPr lang="en-US" b="0" dirty="0" smtClean="0"/>
              <a:t> 	</a:t>
            </a:r>
            <a:r>
              <a:rPr lang="en-US" b="0" dirty="0" smtClean="0">
                <a:solidFill>
                  <a:srgbClr val="00B050"/>
                </a:solidFill>
              </a:rPr>
              <a:t>&lt;td&gt;</a:t>
            </a:r>
            <a:r>
              <a:rPr lang="en-US" b="0" dirty="0" smtClean="0">
                <a:solidFill>
                  <a:srgbClr val="002060"/>
                </a:solidFill>
              </a:rPr>
              <a:t>9254796541</a:t>
            </a:r>
            <a:r>
              <a:rPr lang="en-US" b="0" dirty="0" smtClean="0">
                <a:solidFill>
                  <a:srgbClr val="00B050"/>
                </a:solidFill>
              </a:rPr>
              <a:t>&lt;/td&gt;</a:t>
            </a:r>
          </a:p>
          <a:p>
            <a:r>
              <a:rPr lang="en-US" b="0" dirty="0" smtClean="0"/>
              <a:t>       </a:t>
            </a:r>
            <a:r>
              <a:rPr lang="en-US" b="0" dirty="0" smtClean="0">
                <a:solidFill>
                  <a:srgbClr val="00B050"/>
                </a:solidFill>
              </a:rPr>
              <a:t>&lt;</a:t>
            </a:r>
            <a:r>
              <a:rPr lang="en-US" b="0" dirty="0" err="1" smtClean="0">
                <a:solidFill>
                  <a:srgbClr val="00B050"/>
                </a:solidFill>
              </a:rPr>
              <a:t>tr</a:t>
            </a:r>
            <a:r>
              <a:rPr lang="en-US" b="0" dirty="0" smtClean="0">
                <a:solidFill>
                  <a:srgbClr val="00B050"/>
                </a:solidFill>
              </a:rPr>
              <a:t>&gt; </a:t>
            </a:r>
            <a:endParaRPr lang="en-US" b="0" dirty="0" smtClean="0"/>
          </a:p>
          <a:p>
            <a:r>
              <a:rPr lang="en-US" b="0" dirty="0" smtClean="0"/>
              <a:t>     </a:t>
            </a:r>
            <a:r>
              <a:rPr lang="en-US" b="0" dirty="0" smtClean="0">
                <a:solidFill>
                  <a:srgbClr val="00B050"/>
                </a:solidFill>
              </a:rPr>
              <a:t>&lt;/table&gt;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042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Demonstrate usage of Blocks and Inline to align content within the document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https://www.w3schools.com/html/html_blocks.asp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283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HTML Forms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1288"/>
            <a:ext cx="533400" cy="214312"/>
          </a:xfrm>
          <a:prstGeom prst="rect">
            <a:avLst/>
          </a:prstGeom>
        </p:spPr>
        <p:txBody>
          <a:bodyPr/>
          <a:lstStyle/>
          <a:p>
            <a:fld id="{47ED8886-DB3B-44F4-9A80-E6A224679F2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372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are HTML Forms?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HTML Forms are user interface through which users inputs data and communicates with the web applications.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2282030"/>
            <a:ext cx="3962400" cy="4210051"/>
          </a:xfrm>
          <a:prstGeom prst="rect">
            <a:avLst/>
          </a:prstGeom>
          <a:noFill/>
          <a:ln w="1587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-1126067" y="35814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HTML Form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Sample</a:t>
            </a:r>
          </a:p>
        </p:txBody>
      </p:sp>
      <p:sp>
        <p:nvSpPr>
          <p:cNvPr id="7" name="Right Arrow 6"/>
          <p:cNvSpPr/>
          <p:nvPr/>
        </p:nvSpPr>
        <p:spPr bwMode="auto">
          <a:xfrm>
            <a:off x="2362200" y="3790265"/>
            <a:ext cx="457200" cy="228600"/>
          </a:xfrm>
          <a:prstGeom prst="rightArrow">
            <a:avLst/>
          </a:prstGeom>
          <a:solidFill>
            <a:srgbClr val="FFCCCC"/>
          </a:solidFill>
          <a:ln w="9525" cap="flat" cmpd="sng" algn="ctr">
            <a:solidFill>
              <a:srgbClr val="EA38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6120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Need for HTML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393700" indent="-157163">
              <a:lnSpc>
                <a:spcPct val="90000"/>
              </a:lnSpc>
              <a:spcBef>
                <a:spcPts val="1200"/>
              </a:spcBef>
            </a:pPr>
            <a:r>
              <a:rPr lang="en-US" sz="2000" dirty="0"/>
              <a:t>Why do you need a HTML Form?</a:t>
            </a:r>
          </a:p>
          <a:p>
            <a:pPr marL="393700" indent="-157163">
              <a:lnSpc>
                <a:spcPct val="90000"/>
              </a:lnSpc>
              <a:spcBef>
                <a:spcPts val="1200"/>
              </a:spcBef>
            </a:pPr>
            <a:endParaRPr lang="en-US" sz="2000" dirty="0"/>
          </a:p>
          <a:p>
            <a:pPr marL="520700" lvl="1" indent="-2841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Forms contain form fields (or) elements which are components used to accept inputs from the user. </a:t>
            </a:r>
          </a:p>
          <a:p>
            <a:pPr marL="977900" lvl="2" indent="-284163">
              <a:spcBef>
                <a:spcPts val="1200"/>
              </a:spcBef>
              <a:buFont typeface="Wingdings" pitchFamily="2" charset="2"/>
              <a:buChar char="§"/>
            </a:pPr>
            <a:r>
              <a:rPr lang="en-US" dirty="0"/>
              <a:t>Form elements example: Textbox, Label, Button etc.</a:t>
            </a:r>
          </a:p>
          <a:p>
            <a:pPr marL="520700" indent="-284163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A form is simply an area where form fields can be placed.</a:t>
            </a:r>
          </a:p>
          <a:p>
            <a:pPr marL="520700" lvl="1" indent="-284163">
              <a:lnSpc>
                <a:spcPct val="9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The data from the forms are sent to the server where it is read by the server using server side scripts/ CGI scripts Common Gateway interface.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906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Form Tag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93700" indent="-157163">
              <a:lnSpc>
                <a:spcPct val="90000"/>
              </a:lnSpc>
              <a:spcBef>
                <a:spcPts val="1200"/>
              </a:spcBef>
            </a:pPr>
            <a:r>
              <a:rPr lang="en-US" sz="2000" dirty="0"/>
              <a:t>Forms are created  using form tags  </a:t>
            </a:r>
            <a:r>
              <a:rPr lang="en-US" sz="2000" dirty="0">
                <a:solidFill>
                  <a:srgbClr val="00B050"/>
                </a:solidFill>
              </a:rPr>
              <a:t>&lt;form&gt;&lt;/form&gt;</a:t>
            </a:r>
            <a:r>
              <a:rPr lang="en-US" sz="2000" dirty="0"/>
              <a:t>.</a:t>
            </a:r>
          </a:p>
          <a:p>
            <a:pPr marL="393700" indent="-157163">
              <a:lnSpc>
                <a:spcPct val="90000"/>
              </a:lnSpc>
              <a:spcBef>
                <a:spcPts val="1200"/>
              </a:spcBef>
            </a:pPr>
            <a:r>
              <a:rPr lang="en-US" sz="2000" dirty="0"/>
              <a:t>Syntax: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4388" y="2638455"/>
            <a:ext cx="6170279" cy="1446550"/>
          </a:xfrm>
          <a:prstGeom prst="rect">
            <a:avLst/>
          </a:prstGeom>
          <a:solidFill>
            <a:srgbClr val="FFFF00">
              <a:alpha val="15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2200" b="0" dirty="0" smtClean="0">
                <a:solidFill>
                  <a:srgbClr val="00B050"/>
                </a:solidFill>
              </a:rPr>
              <a:t>&lt;form </a:t>
            </a:r>
            <a:r>
              <a:rPr lang="en-US" sz="2200" b="0" dirty="0" smtClean="0">
                <a:solidFill>
                  <a:srgbClr val="C00000"/>
                </a:solidFill>
              </a:rPr>
              <a:t>method</a:t>
            </a:r>
            <a:r>
              <a:rPr lang="en-US" sz="2200" b="0" dirty="0" smtClean="0"/>
              <a:t>=“</a:t>
            </a:r>
            <a:r>
              <a:rPr lang="en-US" sz="2200" b="0" dirty="0" smtClean="0">
                <a:solidFill>
                  <a:srgbClr val="00B0F0"/>
                </a:solidFill>
              </a:rPr>
              <a:t>method</a:t>
            </a:r>
            <a:r>
              <a:rPr lang="en-US" sz="2200" b="0" dirty="0" smtClean="0"/>
              <a:t>” </a:t>
            </a:r>
            <a:r>
              <a:rPr lang="en-US" sz="2200" b="0" dirty="0" smtClean="0">
                <a:solidFill>
                  <a:srgbClr val="C00000"/>
                </a:solidFill>
              </a:rPr>
              <a:t>action</a:t>
            </a:r>
            <a:r>
              <a:rPr lang="en-US" sz="2200" b="0" dirty="0" smtClean="0"/>
              <a:t>=“</a:t>
            </a:r>
            <a:r>
              <a:rPr lang="en-US" sz="2200" b="0" dirty="0" smtClean="0">
                <a:solidFill>
                  <a:srgbClr val="00B0F0"/>
                </a:solidFill>
              </a:rPr>
              <a:t>action Name</a:t>
            </a:r>
            <a:r>
              <a:rPr lang="en-US" sz="2200" b="0" dirty="0" smtClean="0"/>
              <a:t>”</a:t>
            </a:r>
            <a:r>
              <a:rPr lang="en-US" sz="2200" b="0" dirty="0" smtClean="0">
                <a:solidFill>
                  <a:srgbClr val="00B050"/>
                </a:solidFill>
              </a:rPr>
              <a:t>&gt;</a:t>
            </a:r>
            <a:endParaRPr lang="en-US" sz="2200" b="0" dirty="0" smtClean="0">
              <a:solidFill>
                <a:srgbClr val="00B0F0"/>
              </a:solidFill>
            </a:endParaRPr>
          </a:p>
          <a:p>
            <a:endParaRPr lang="en-US" sz="2200" b="0" dirty="0" smtClean="0">
              <a:solidFill>
                <a:srgbClr val="00B0F0"/>
              </a:solidFill>
            </a:endParaRPr>
          </a:p>
          <a:p>
            <a:r>
              <a:rPr lang="en-US" sz="2200" b="0" dirty="0" smtClean="0">
                <a:solidFill>
                  <a:srgbClr val="00B0F0"/>
                </a:solidFill>
              </a:rPr>
              <a:t>      //Form Elements</a:t>
            </a:r>
            <a:endParaRPr lang="en-US" sz="2200" b="0" dirty="0" smtClean="0"/>
          </a:p>
          <a:p>
            <a:r>
              <a:rPr lang="en-US" sz="2200" b="0" dirty="0" smtClean="0">
                <a:solidFill>
                  <a:srgbClr val="00B050"/>
                </a:solidFill>
              </a:rPr>
              <a:t>&lt;/form&gt;</a:t>
            </a:r>
            <a:endParaRPr lang="en-US" sz="2200" b="0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3456" y="2900065"/>
            <a:ext cx="2362200" cy="9233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The Form elements are defined 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between these tags.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Right Brace 7"/>
          <p:cNvSpPr/>
          <p:nvPr/>
        </p:nvSpPr>
        <p:spPr bwMode="auto">
          <a:xfrm>
            <a:off x="6395352" y="2705932"/>
            <a:ext cx="381000" cy="129540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19200" y="4876800"/>
            <a:ext cx="6400800" cy="646331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You will learn more about “</a:t>
            </a:r>
            <a:r>
              <a:rPr lang="en-US" dirty="0" smtClean="0">
                <a:solidFill>
                  <a:srgbClr val="C00000"/>
                </a:solidFill>
              </a:rPr>
              <a:t>method</a:t>
            </a:r>
            <a:r>
              <a:rPr lang="en-US" dirty="0" smtClean="0"/>
              <a:t>” and “</a:t>
            </a:r>
            <a:r>
              <a:rPr lang="en-US" dirty="0" smtClean="0">
                <a:solidFill>
                  <a:srgbClr val="C00000"/>
                </a:solidFill>
              </a:rPr>
              <a:t>action</a:t>
            </a:r>
            <a:r>
              <a:rPr lang="en-US" dirty="0" smtClean="0"/>
              <a:t>” attribute in the next slides.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7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is action attribute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153400" y="5512166"/>
            <a:ext cx="609600" cy="248464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447800" y="206375"/>
            <a:ext cx="6858000" cy="5334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37885" y="1141739"/>
            <a:ext cx="8686800" cy="43704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173038">
              <a:spcBef>
                <a:spcPts val="1200"/>
              </a:spcBef>
            </a:pPr>
            <a:r>
              <a:rPr lang="en-US" sz="2000" dirty="0" smtClean="0">
                <a:solidFill>
                  <a:schemeClr val="bg1"/>
                </a:solidFill>
              </a:rPr>
              <a:t>Action Attribute </a:t>
            </a:r>
            <a:r>
              <a:rPr lang="en-US" sz="2000" b="0" dirty="0" smtClean="0">
                <a:solidFill>
                  <a:schemeClr val="bg1"/>
                </a:solidFill>
              </a:rPr>
              <a:t>specifies “</a:t>
            </a:r>
            <a:r>
              <a:rPr lang="en-US" sz="2000" dirty="0" smtClean="0">
                <a:solidFill>
                  <a:schemeClr val="bg1"/>
                </a:solidFill>
              </a:rPr>
              <a:t>where”</a:t>
            </a:r>
            <a:r>
              <a:rPr lang="en-US" sz="2000" b="0" dirty="0" smtClean="0">
                <a:solidFill>
                  <a:schemeClr val="bg1"/>
                </a:solidFill>
              </a:rPr>
              <a:t> to send the data when the user submits the form.</a:t>
            </a:r>
          </a:p>
          <a:p>
            <a:pPr indent="1730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Specifies which component is going to handle the form at the server</a:t>
            </a:r>
          </a:p>
          <a:p>
            <a:pPr indent="1730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This specifies the server side component which is going to process the request. </a:t>
            </a:r>
          </a:p>
          <a:p>
            <a:pPr indent="173038">
              <a:spcBef>
                <a:spcPts val="1200"/>
              </a:spcBef>
              <a:buFont typeface="Wingdings" pitchFamily="2" charset="2"/>
              <a:buChar char="§"/>
            </a:pPr>
            <a:endParaRPr lang="en-US" sz="2000" b="0" dirty="0" smtClean="0">
              <a:solidFill>
                <a:schemeClr val="bg1"/>
              </a:solidFill>
            </a:endParaRPr>
          </a:p>
          <a:p>
            <a:pPr indent="173038">
              <a:spcBef>
                <a:spcPts val="1200"/>
              </a:spcBef>
            </a:pPr>
            <a:r>
              <a:rPr lang="en-US" sz="2000" dirty="0" smtClean="0">
                <a:solidFill>
                  <a:schemeClr val="bg1"/>
                </a:solidFill>
              </a:rPr>
              <a:t>Server Side component  Example :  </a:t>
            </a:r>
            <a:r>
              <a:rPr lang="en-US" sz="2000" b="0" dirty="0" err="1" smtClean="0">
                <a:solidFill>
                  <a:schemeClr val="bg1"/>
                </a:solidFill>
              </a:rPr>
              <a:t>Servlets</a:t>
            </a:r>
            <a:r>
              <a:rPr lang="en-US" sz="2000" b="0" dirty="0" smtClean="0">
                <a:solidFill>
                  <a:schemeClr val="bg1"/>
                </a:solidFill>
              </a:rPr>
              <a:t>, Struts , JSF.</a:t>
            </a:r>
          </a:p>
          <a:p>
            <a:pPr indent="173038">
              <a:spcBef>
                <a:spcPts val="1200"/>
              </a:spcBef>
            </a:pPr>
            <a:r>
              <a:rPr lang="en-US" sz="2000" dirty="0" smtClean="0">
                <a:solidFill>
                  <a:schemeClr val="bg1"/>
                </a:solidFill>
              </a:rPr>
              <a:t>Example :</a:t>
            </a:r>
          </a:p>
          <a:p>
            <a:pPr indent="173038">
              <a:spcBef>
                <a:spcPts val="1200"/>
              </a:spcBef>
            </a:pPr>
            <a:r>
              <a:rPr lang="en-US" sz="2000" b="0" dirty="0" smtClean="0">
                <a:solidFill>
                  <a:srgbClr val="00B050"/>
                </a:solidFill>
              </a:rPr>
              <a:t>&lt;form </a:t>
            </a:r>
            <a:r>
              <a:rPr lang="en-US" sz="2000" dirty="0" smtClean="0">
                <a:solidFill>
                  <a:srgbClr val="00B0F0"/>
                </a:solidFill>
              </a:rPr>
              <a:t>action</a:t>
            </a:r>
            <a:r>
              <a:rPr lang="en-US" sz="2000" b="0" dirty="0" smtClean="0"/>
              <a:t>=“</a:t>
            </a:r>
            <a:r>
              <a:rPr lang="en-US" sz="2000" dirty="0" err="1" smtClean="0">
                <a:solidFill>
                  <a:srgbClr val="C00000"/>
                </a:solidFill>
              </a:rPr>
              <a:t>LoginServlet</a:t>
            </a:r>
            <a:r>
              <a:rPr lang="en-US" sz="2000" b="0" dirty="0" smtClean="0"/>
              <a:t>”</a:t>
            </a:r>
            <a:r>
              <a:rPr lang="en-US" sz="2000" b="0" dirty="0" smtClean="0">
                <a:solidFill>
                  <a:srgbClr val="00B050"/>
                </a:solidFill>
              </a:rPr>
              <a:t>&gt;</a:t>
            </a:r>
            <a:endParaRPr lang="en-US" sz="2000" b="0" dirty="0" smtClean="0">
              <a:solidFill>
                <a:srgbClr val="00B0F0"/>
              </a:solidFill>
            </a:endParaRPr>
          </a:p>
          <a:p>
            <a:pPr indent="173038">
              <a:spcBef>
                <a:spcPts val="1200"/>
              </a:spcBef>
            </a:pPr>
            <a:r>
              <a:rPr lang="en-US" sz="2000" b="0" dirty="0" smtClean="0">
                <a:solidFill>
                  <a:schemeClr val="bg1"/>
                </a:solidFill>
              </a:rPr>
              <a:t>//Form Controls goes in here</a:t>
            </a:r>
          </a:p>
          <a:p>
            <a:pPr indent="173038">
              <a:spcBef>
                <a:spcPts val="1200"/>
              </a:spcBef>
            </a:pPr>
            <a:r>
              <a:rPr lang="en-US" sz="2000" b="0" dirty="0" smtClean="0">
                <a:solidFill>
                  <a:srgbClr val="00B050"/>
                </a:solidFill>
              </a:rPr>
              <a:t>&lt;/form&gt;</a:t>
            </a:r>
          </a:p>
          <a:p>
            <a:pPr indent="173038">
              <a:spcBef>
                <a:spcPts val="1200"/>
              </a:spcBef>
            </a:pPr>
            <a:endParaRPr lang="en-US" sz="2000" b="0" dirty="0"/>
          </a:p>
        </p:txBody>
      </p:sp>
      <p:sp>
        <p:nvSpPr>
          <p:cNvPr id="8" name="TextBox 7"/>
          <p:cNvSpPr txBox="1"/>
          <p:nvPr/>
        </p:nvSpPr>
        <p:spPr>
          <a:xfrm>
            <a:off x="4876800" y="5020270"/>
            <a:ext cx="3886200" cy="9233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0" dirty="0" smtClean="0"/>
              <a:t>Here when the user submits the form it will be handled by a </a:t>
            </a:r>
            <a:r>
              <a:rPr lang="en-US" dirty="0" smtClean="0">
                <a:solidFill>
                  <a:srgbClr val="C00000"/>
                </a:solidFill>
              </a:rPr>
              <a:t>Login servlet </a:t>
            </a:r>
            <a:r>
              <a:rPr lang="en-US" b="0" dirty="0" smtClean="0"/>
              <a:t>running inside a web server</a:t>
            </a:r>
            <a:endParaRPr lang="en-US" b="0" dirty="0"/>
          </a:p>
        </p:txBody>
      </p:sp>
      <p:sp>
        <p:nvSpPr>
          <p:cNvPr id="9" name="Right Arrow 8"/>
          <p:cNvSpPr/>
          <p:nvPr/>
        </p:nvSpPr>
        <p:spPr bwMode="auto">
          <a:xfrm>
            <a:off x="4038600" y="5257800"/>
            <a:ext cx="533400" cy="381000"/>
          </a:xfrm>
          <a:prstGeom prst="rightArrow">
            <a:avLst/>
          </a:prstGeom>
          <a:solidFill>
            <a:srgbClr val="FFCCCC"/>
          </a:solidFill>
          <a:ln w="9525" cap="flat" cmpd="sng" algn="ctr">
            <a:solidFill>
              <a:srgbClr val="EA38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90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Form Tag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85268" y="2133600"/>
            <a:ext cx="6170279" cy="1446550"/>
          </a:xfrm>
          <a:prstGeom prst="rect">
            <a:avLst/>
          </a:prstGeom>
          <a:solidFill>
            <a:srgbClr val="FFFF00">
              <a:alpha val="15000"/>
            </a:srgbClr>
          </a:solidFill>
        </p:spPr>
        <p:txBody>
          <a:bodyPr wrap="none" rtlCol="0">
            <a:spAutoFit/>
          </a:bodyPr>
          <a:lstStyle/>
          <a:p>
            <a:r>
              <a:rPr lang="en-US" sz="2200" b="0" dirty="0" smtClean="0">
                <a:solidFill>
                  <a:srgbClr val="00B050"/>
                </a:solidFill>
              </a:rPr>
              <a:t>&lt;form </a:t>
            </a:r>
            <a:r>
              <a:rPr lang="en-US" sz="2200" b="0" dirty="0" smtClean="0">
                <a:solidFill>
                  <a:srgbClr val="C00000"/>
                </a:solidFill>
              </a:rPr>
              <a:t>method</a:t>
            </a:r>
            <a:r>
              <a:rPr lang="en-US" sz="2200" b="0" dirty="0" smtClean="0"/>
              <a:t>=“</a:t>
            </a:r>
            <a:r>
              <a:rPr lang="en-US" sz="2200" b="0" dirty="0" smtClean="0">
                <a:solidFill>
                  <a:srgbClr val="00B0F0"/>
                </a:solidFill>
              </a:rPr>
              <a:t>method</a:t>
            </a:r>
            <a:r>
              <a:rPr lang="en-US" sz="2200" b="0" dirty="0" smtClean="0"/>
              <a:t>” </a:t>
            </a:r>
            <a:r>
              <a:rPr lang="en-US" sz="2200" b="0" dirty="0" smtClean="0">
                <a:solidFill>
                  <a:srgbClr val="C00000"/>
                </a:solidFill>
              </a:rPr>
              <a:t>action</a:t>
            </a:r>
            <a:r>
              <a:rPr lang="en-US" sz="2200" b="0" dirty="0" smtClean="0"/>
              <a:t>=“</a:t>
            </a:r>
            <a:r>
              <a:rPr lang="en-US" sz="2200" b="0" dirty="0" smtClean="0">
                <a:solidFill>
                  <a:srgbClr val="00B0F0"/>
                </a:solidFill>
              </a:rPr>
              <a:t>action Name</a:t>
            </a:r>
            <a:r>
              <a:rPr lang="en-US" sz="2200" b="0" dirty="0" smtClean="0"/>
              <a:t>”</a:t>
            </a:r>
            <a:r>
              <a:rPr lang="en-US" sz="2200" b="0" dirty="0" smtClean="0">
                <a:solidFill>
                  <a:srgbClr val="00B050"/>
                </a:solidFill>
              </a:rPr>
              <a:t>&gt;</a:t>
            </a:r>
            <a:endParaRPr lang="en-US" sz="2200" b="0" dirty="0" smtClean="0">
              <a:solidFill>
                <a:srgbClr val="00B0F0"/>
              </a:solidFill>
            </a:endParaRPr>
          </a:p>
          <a:p>
            <a:endParaRPr lang="en-US" sz="2200" b="0" dirty="0" smtClean="0">
              <a:solidFill>
                <a:srgbClr val="00B0F0"/>
              </a:solidFill>
            </a:endParaRPr>
          </a:p>
          <a:p>
            <a:r>
              <a:rPr lang="en-US" sz="2200" b="0" dirty="0" smtClean="0">
                <a:solidFill>
                  <a:srgbClr val="00B0F0"/>
                </a:solidFill>
              </a:rPr>
              <a:t>      //Form Elements</a:t>
            </a:r>
            <a:endParaRPr lang="en-US" sz="2200" b="0" dirty="0" smtClean="0"/>
          </a:p>
          <a:p>
            <a:r>
              <a:rPr lang="en-US" sz="2200" b="0" dirty="0" smtClean="0">
                <a:solidFill>
                  <a:srgbClr val="00B050"/>
                </a:solidFill>
              </a:rPr>
              <a:t>&lt;/form&gt;</a:t>
            </a:r>
            <a:endParaRPr lang="en-US" sz="2200" b="0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557" y="1078020"/>
            <a:ext cx="8610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3700" indent="-157163">
              <a:lnSpc>
                <a:spcPct val="90000"/>
              </a:lnSpc>
              <a:spcBef>
                <a:spcPts val="1200"/>
              </a:spcBef>
            </a:pPr>
            <a:r>
              <a:rPr lang="en-US" sz="2000" b="0" dirty="0" smtClean="0">
                <a:solidFill>
                  <a:schemeClr val="bg1"/>
                </a:solidFill>
              </a:rPr>
              <a:t>Forms are created  using form tags  &lt;form&gt;&lt;/form&gt;.</a:t>
            </a:r>
          </a:p>
          <a:p>
            <a:pPr marL="393700" indent="-157163">
              <a:lnSpc>
                <a:spcPct val="90000"/>
              </a:lnSpc>
              <a:spcBef>
                <a:spcPts val="1200"/>
              </a:spcBef>
            </a:pPr>
            <a:r>
              <a:rPr lang="en-US" sz="2000" dirty="0" smtClean="0">
                <a:solidFill>
                  <a:schemeClr val="bg1"/>
                </a:solidFill>
              </a:rPr>
              <a:t>Syntax:</a:t>
            </a:r>
          </a:p>
          <a:p>
            <a:pPr marL="393700" indent="-157163">
              <a:spcBef>
                <a:spcPts val="1200"/>
              </a:spcBef>
            </a:pPr>
            <a:endParaRPr lang="en-US" sz="2200" b="0" dirty="0"/>
          </a:p>
        </p:txBody>
      </p:sp>
      <p:sp>
        <p:nvSpPr>
          <p:cNvPr id="9" name="Right Brace 8"/>
          <p:cNvSpPr/>
          <p:nvPr/>
        </p:nvSpPr>
        <p:spPr bwMode="auto">
          <a:xfrm>
            <a:off x="6248400" y="2133600"/>
            <a:ext cx="381000" cy="1295400"/>
          </a:xfrm>
          <a:prstGeom prst="righ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29400" y="2438400"/>
            <a:ext cx="2362200" cy="9233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The Form elements are defined 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between these tags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19200" y="4876800"/>
            <a:ext cx="6400800" cy="646331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You will learn more about “</a:t>
            </a:r>
            <a:r>
              <a:rPr lang="en-US" dirty="0" smtClean="0">
                <a:solidFill>
                  <a:srgbClr val="C00000"/>
                </a:solidFill>
              </a:rPr>
              <a:t>method</a:t>
            </a:r>
            <a:r>
              <a:rPr lang="en-US" dirty="0" smtClean="0"/>
              <a:t>” and “</a:t>
            </a:r>
            <a:r>
              <a:rPr lang="en-US" dirty="0" smtClean="0">
                <a:solidFill>
                  <a:srgbClr val="C00000"/>
                </a:solidFill>
              </a:rPr>
              <a:t>action</a:t>
            </a:r>
            <a:r>
              <a:rPr lang="en-US" dirty="0" smtClean="0"/>
              <a:t>” attribute in the next slides.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2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is action attribute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pPr indent="173038">
              <a:spcBef>
                <a:spcPts val="1200"/>
              </a:spcBef>
            </a:pPr>
            <a:r>
              <a:rPr lang="en-US" dirty="0"/>
              <a:t>Action Attribute specifies “where” to send the data when the user submits the form.</a:t>
            </a:r>
          </a:p>
          <a:p>
            <a:pPr indent="173038">
              <a:spcBef>
                <a:spcPts val="1200"/>
              </a:spcBef>
              <a:buFont typeface="Wingdings" pitchFamily="2" charset="2"/>
              <a:buChar char="§"/>
            </a:pPr>
            <a:r>
              <a:rPr lang="en-US" dirty="0"/>
              <a:t>Specifies which component is going to handle the form at the server</a:t>
            </a:r>
          </a:p>
          <a:p>
            <a:pPr indent="173038">
              <a:spcBef>
                <a:spcPts val="1200"/>
              </a:spcBef>
              <a:buFont typeface="Wingdings" pitchFamily="2" charset="2"/>
              <a:buChar char="§"/>
            </a:pPr>
            <a:r>
              <a:rPr lang="en-US" dirty="0"/>
              <a:t>This specifies the server side component which is going to process the request. </a:t>
            </a:r>
          </a:p>
          <a:p>
            <a:pPr indent="173038">
              <a:spcBef>
                <a:spcPts val="1200"/>
              </a:spcBef>
              <a:buFont typeface="Wingdings" pitchFamily="2" charset="2"/>
              <a:buChar char="§"/>
            </a:pPr>
            <a:endParaRPr lang="en-US" dirty="0"/>
          </a:p>
          <a:p>
            <a:pPr indent="173038">
              <a:spcBef>
                <a:spcPts val="1200"/>
              </a:spcBef>
            </a:pPr>
            <a:r>
              <a:rPr lang="en-US" dirty="0"/>
              <a:t>Server Side component  Example :  Servlets, Struts , JSF.</a:t>
            </a:r>
          </a:p>
          <a:p>
            <a:pPr indent="173038">
              <a:spcBef>
                <a:spcPts val="1200"/>
              </a:spcBef>
            </a:pPr>
            <a:r>
              <a:rPr lang="en-US" dirty="0"/>
              <a:t>Example :</a:t>
            </a:r>
          </a:p>
          <a:p>
            <a:pPr indent="173038">
              <a:spcBef>
                <a:spcPts val="1200"/>
              </a:spcBef>
            </a:pPr>
            <a:r>
              <a:rPr lang="en-US" dirty="0">
                <a:solidFill>
                  <a:srgbClr val="00B050"/>
                </a:solidFill>
              </a:rPr>
              <a:t>&lt;form </a:t>
            </a:r>
            <a:r>
              <a:rPr lang="en-US" dirty="0">
                <a:solidFill>
                  <a:srgbClr val="00B0F0"/>
                </a:solidFill>
              </a:rPr>
              <a:t>action</a:t>
            </a:r>
            <a:r>
              <a:rPr lang="en-US" dirty="0"/>
              <a:t>=“</a:t>
            </a:r>
            <a:r>
              <a:rPr lang="en-US" dirty="0" err="1">
                <a:solidFill>
                  <a:srgbClr val="C00000"/>
                </a:solidFill>
              </a:rPr>
              <a:t>LoginServlet</a:t>
            </a:r>
            <a:r>
              <a:rPr lang="en-US" dirty="0"/>
              <a:t>”</a:t>
            </a:r>
            <a:r>
              <a:rPr lang="en-US" dirty="0">
                <a:solidFill>
                  <a:srgbClr val="00B050"/>
                </a:solidFill>
              </a:rPr>
              <a:t>&gt;</a:t>
            </a:r>
            <a:endParaRPr lang="en-US" dirty="0">
              <a:solidFill>
                <a:srgbClr val="00B0F0"/>
              </a:solidFill>
            </a:endParaRPr>
          </a:p>
          <a:p>
            <a:pPr indent="173038">
              <a:spcBef>
                <a:spcPts val="1200"/>
              </a:spcBef>
            </a:pPr>
            <a:r>
              <a:rPr lang="en-US" dirty="0">
                <a:solidFill>
                  <a:srgbClr val="00B0F0"/>
                </a:solidFill>
              </a:rPr>
              <a:t>//Form Controls goes in here</a:t>
            </a:r>
          </a:p>
          <a:p>
            <a:pPr indent="173038">
              <a:spcBef>
                <a:spcPts val="1200"/>
              </a:spcBef>
            </a:pPr>
            <a:r>
              <a:rPr lang="en-US" dirty="0">
                <a:solidFill>
                  <a:srgbClr val="00B050"/>
                </a:solidFill>
              </a:rPr>
              <a:t>&lt;/form&gt;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Right Arrow 4"/>
          <p:cNvSpPr/>
          <p:nvPr/>
        </p:nvSpPr>
        <p:spPr bwMode="auto">
          <a:xfrm>
            <a:off x="4038600" y="5257800"/>
            <a:ext cx="533400" cy="381000"/>
          </a:xfrm>
          <a:prstGeom prst="rightArrow">
            <a:avLst/>
          </a:prstGeom>
          <a:solidFill>
            <a:srgbClr val="FFCCCC"/>
          </a:solidFill>
          <a:ln w="9525" cap="flat" cmpd="sng" algn="ctr">
            <a:solidFill>
              <a:srgbClr val="EA38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76800" y="5020270"/>
            <a:ext cx="3886200" cy="92333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0" dirty="0" smtClean="0">
                <a:solidFill>
                  <a:schemeClr val="bg1"/>
                </a:solidFill>
              </a:rPr>
              <a:t>Here when the user submits the form it will be handled by a </a:t>
            </a:r>
            <a:r>
              <a:rPr lang="en-US" dirty="0" smtClean="0">
                <a:solidFill>
                  <a:srgbClr val="C00000"/>
                </a:solidFill>
              </a:rPr>
              <a:t>Login servlet </a:t>
            </a:r>
            <a:r>
              <a:rPr lang="en-US" b="0" dirty="0" smtClean="0">
                <a:solidFill>
                  <a:schemeClr val="bg1"/>
                </a:solidFill>
              </a:rPr>
              <a:t>running inside a web server</a:t>
            </a:r>
            <a:endParaRPr lang="en-US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57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is method attribute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</a:pPr>
            <a:r>
              <a:rPr lang="en-US" sz="2200" dirty="0"/>
              <a:t>Method attribute are used to specify “how” to send the form data to the server.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The methods are,</a:t>
            </a:r>
          </a:p>
          <a:p>
            <a:pPr marL="457200" lvl="3" indent="0">
              <a:spcBef>
                <a:spcPts val="1200"/>
              </a:spcBef>
              <a:buNone/>
            </a:pPr>
            <a:r>
              <a:rPr lang="en-US" sz="2200" dirty="0"/>
              <a:t>Get :  Form data is sent via the URL with</a:t>
            </a:r>
            <a:r>
              <a:rPr lang="en-US" sz="2200" dirty="0">
                <a:solidFill>
                  <a:schemeClr val="accent2"/>
                </a:solidFill>
              </a:rPr>
              <a:t> </a:t>
            </a:r>
            <a:r>
              <a:rPr lang="en-US" sz="2200" dirty="0" smtClean="0"/>
              <a:t>appended </a:t>
            </a:r>
            <a:r>
              <a:rPr lang="en-US" sz="2200" dirty="0"/>
              <a:t>to the URL. </a:t>
            </a:r>
            <a:endParaRPr lang="en-US" sz="2200" dirty="0" smtClean="0"/>
          </a:p>
          <a:p>
            <a:pPr marL="457200" lvl="3" indent="0">
              <a:spcBef>
                <a:spcPts val="1200"/>
              </a:spcBef>
              <a:buNone/>
            </a:pPr>
            <a:r>
              <a:rPr lang="en-US" sz="2200" dirty="0"/>
              <a:t>	</a:t>
            </a:r>
            <a:r>
              <a:rPr lang="en-US" sz="2200" dirty="0" smtClean="0"/>
              <a:t>   URL </a:t>
            </a:r>
            <a:r>
              <a:rPr lang="en-US" sz="2200" dirty="0"/>
              <a:t>data is referred to as query String.</a:t>
            </a:r>
          </a:p>
          <a:p>
            <a:pPr marL="280987" lvl="3" indent="0">
              <a:spcBef>
                <a:spcPts val="1200"/>
              </a:spcBef>
              <a:buNone/>
            </a:pPr>
            <a:r>
              <a:rPr lang="en-US" sz="2200" dirty="0" smtClean="0"/>
              <a:t>   Post </a:t>
            </a:r>
            <a:r>
              <a:rPr lang="en-US" sz="2200" dirty="0"/>
              <a:t>: Form data is sent in the body of the </a:t>
            </a:r>
            <a:r>
              <a:rPr lang="en-US" sz="2200" dirty="0" err="1"/>
              <a:t>HTTPrequest</a:t>
            </a:r>
            <a:r>
              <a:rPr lang="en-US" sz="2200" dirty="0" smtClean="0"/>
              <a:t>.</a:t>
            </a:r>
          </a:p>
          <a:p>
            <a:pPr marL="280987" lvl="3" indent="0">
              <a:spcBef>
                <a:spcPts val="1200"/>
              </a:spcBef>
              <a:buNone/>
            </a:pPr>
            <a:endParaRPr lang="en-US" sz="2200" dirty="0"/>
          </a:p>
          <a:p>
            <a:pPr marL="280987" lvl="3" indent="0">
              <a:spcBef>
                <a:spcPts val="1200"/>
              </a:spcBef>
              <a:buNone/>
            </a:pPr>
            <a:r>
              <a:rPr lang="en-US" sz="2200" dirty="0" smtClean="0"/>
              <a:t>  </a:t>
            </a:r>
            <a:r>
              <a:rPr lang="en-US" sz="2200" dirty="0"/>
              <a:t>The default  method value is “</a:t>
            </a:r>
            <a:r>
              <a:rPr lang="en-US" sz="2200" dirty="0" smtClean="0"/>
              <a:t>Get”</a:t>
            </a:r>
          </a:p>
          <a:p>
            <a:pPr marL="280987" lvl="3" indent="0">
              <a:spcBef>
                <a:spcPts val="1200"/>
              </a:spcBef>
              <a:buNone/>
            </a:pPr>
            <a:r>
              <a:rPr lang="en-US" sz="2200" dirty="0" smtClean="0"/>
              <a:t>Example</a:t>
            </a:r>
            <a:r>
              <a:rPr lang="en-US" sz="2200" dirty="0"/>
              <a:t>:</a:t>
            </a:r>
          </a:p>
          <a:p>
            <a:pPr indent="173038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&lt;form action</a:t>
            </a:r>
            <a:r>
              <a:rPr lang="en-US" sz="2000" dirty="0"/>
              <a:t>=“</a:t>
            </a:r>
            <a:r>
              <a:rPr lang="en-US" sz="2000" dirty="0" err="1">
                <a:solidFill>
                  <a:srgbClr val="0070C0"/>
                </a:solidFill>
              </a:rPr>
              <a:t>LoginServlet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method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post</a:t>
            </a:r>
            <a:r>
              <a:rPr lang="en-US" sz="2000" dirty="0"/>
              <a:t>”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  <a:endParaRPr lang="en-US" sz="2000" dirty="0">
              <a:solidFill>
                <a:srgbClr val="00B0F0"/>
              </a:solidFill>
            </a:endParaRPr>
          </a:p>
          <a:p>
            <a:pPr indent="173038">
              <a:spcBef>
                <a:spcPts val="1200"/>
              </a:spcBef>
            </a:pPr>
            <a:r>
              <a:rPr lang="en-US" sz="2000" dirty="0">
                <a:solidFill>
                  <a:srgbClr val="00B0F0"/>
                </a:solidFill>
              </a:rPr>
              <a:t>//Form controls are implemented here.</a:t>
            </a:r>
          </a:p>
          <a:p>
            <a:pPr indent="173038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&lt;/form&gt;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4421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GET Vs POST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4259320"/>
            <a:ext cx="8153400" cy="990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Bef>
                <a:spcPts val="1200"/>
              </a:spcBef>
            </a:pPr>
            <a:r>
              <a:rPr lang="en-US" sz="1600" dirty="0" smtClean="0"/>
              <a:t>GET URL Example:</a:t>
            </a:r>
          </a:p>
          <a:p>
            <a:pPr>
              <a:spcBef>
                <a:spcPts val="1200"/>
              </a:spcBef>
            </a:pPr>
            <a:r>
              <a:rPr lang="en-US" dirty="0" smtClean="0">
                <a:solidFill>
                  <a:srgbClr val="00B0F0"/>
                </a:solidFill>
              </a:rPr>
              <a:t>http://www.domain.com/forms.html?</a:t>
            </a:r>
            <a:r>
              <a:rPr lang="en-US" dirty="0" smtClean="0">
                <a:solidFill>
                  <a:srgbClr val="00B050"/>
                </a:solidFill>
              </a:rPr>
              <a:t>username=</a:t>
            </a:r>
            <a:r>
              <a:rPr lang="en-US" dirty="0" smtClean="0">
                <a:solidFill>
                  <a:srgbClr val="EA3800"/>
                </a:solidFill>
              </a:rPr>
              <a:t>admin</a:t>
            </a:r>
            <a:r>
              <a:rPr lang="en-US" dirty="0" smtClean="0">
                <a:solidFill>
                  <a:srgbClr val="00B0F0"/>
                </a:solidFill>
              </a:rPr>
              <a:t>&amp;</a:t>
            </a:r>
            <a:r>
              <a:rPr lang="en-US" dirty="0" smtClean="0">
                <a:solidFill>
                  <a:srgbClr val="00B050"/>
                </a:solidFill>
              </a:rPr>
              <a:t>password=</a:t>
            </a:r>
            <a:r>
              <a:rPr lang="en-US" dirty="0" smtClean="0">
                <a:solidFill>
                  <a:srgbClr val="EA3800"/>
                </a:solidFill>
              </a:rPr>
              <a:t>admin</a:t>
            </a:r>
            <a:endParaRPr lang="en-US" dirty="0" smtClean="0">
              <a:solidFill>
                <a:srgbClr val="00B0F0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32503"/>
              </p:ext>
            </p:extLst>
          </p:nvPr>
        </p:nvGraphicFramePr>
        <p:xfrm>
          <a:off x="1066800" y="1066800"/>
          <a:ext cx="73914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24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GET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rial" pitchFamily="34" charset="0"/>
                          <a:cs typeface="Arial" pitchFamily="34" charset="0"/>
                        </a:rPr>
                        <a:t>POST</a:t>
                      </a:r>
                      <a:endParaRPr 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0498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As the data is</a:t>
                      </a:r>
                      <a:r>
                        <a:rPr lang="en-US" sz="2000" baseline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sent through the URL, there are limitation in the size of data sent.</a:t>
                      </a:r>
                      <a:endParaRPr 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There is no</a:t>
                      </a:r>
                      <a:r>
                        <a:rPr lang="en-US" sz="2000" baseline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limitation in the data size sent.</a:t>
                      </a:r>
                      <a:endParaRPr 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0498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Since</a:t>
                      </a:r>
                      <a:r>
                        <a:rPr lang="en-US" sz="2000" baseline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the data is sent in URL it is visible to the user, this cannot be used for sending secured data.</a:t>
                      </a:r>
                      <a:endParaRPr 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The data</a:t>
                      </a:r>
                      <a:r>
                        <a:rPr lang="en-US" sz="2000" baseline="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is sent along with the HTTP request body so this method is secured.</a:t>
                      </a:r>
                      <a:endParaRPr lang="en-US" sz="20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2000" y="5096470"/>
            <a:ext cx="7772400" cy="1323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0" dirty="0" smtClean="0">
                <a:solidFill>
                  <a:schemeClr val="bg1"/>
                </a:solidFill>
              </a:rPr>
              <a:t>The form field values are sent as key/value pairs </a:t>
            </a:r>
            <a:r>
              <a:rPr lang="en-US" sz="2000" dirty="0" smtClean="0">
                <a:solidFill>
                  <a:schemeClr val="bg1"/>
                </a:solidFill>
              </a:rPr>
              <a:t>key=value</a:t>
            </a:r>
            <a:r>
              <a:rPr lang="en-US" sz="2000" b="0" dirty="0" smtClean="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en-US" sz="2000" b="0" dirty="0" smtClean="0">
                <a:solidFill>
                  <a:schemeClr val="bg1"/>
                </a:solidFill>
              </a:rPr>
              <a:t>Where the </a:t>
            </a:r>
            <a:r>
              <a:rPr lang="en-US" sz="2000" dirty="0" err="1" smtClean="0">
                <a:solidFill>
                  <a:schemeClr val="bg1"/>
                </a:solidFill>
              </a:rPr>
              <a:t>userName</a:t>
            </a:r>
            <a:r>
              <a:rPr lang="en-US" sz="2000" b="0" dirty="0" smtClean="0">
                <a:solidFill>
                  <a:schemeClr val="bg1"/>
                </a:solidFill>
              </a:rPr>
              <a:t>  &amp; </a:t>
            </a:r>
            <a:r>
              <a:rPr lang="en-US" sz="2000" dirty="0" smtClean="0">
                <a:solidFill>
                  <a:schemeClr val="bg1"/>
                </a:solidFill>
              </a:rPr>
              <a:t>password </a:t>
            </a:r>
            <a:r>
              <a:rPr lang="en-US" sz="2000" b="0" dirty="0" smtClean="0">
                <a:solidFill>
                  <a:schemeClr val="bg1"/>
                </a:solidFill>
              </a:rPr>
              <a:t>are the HTML form element attributes are sent as key and the values are depicted in brown color font.</a:t>
            </a:r>
          </a:p>
        </p:txBody>
      </p:sp>
    </p:spTree>
    <p:extLst>
      <p:ext uri="{BB962C8B-B14F-4D97-AF65-F5344CB8AC3E}">
        <p14:creationId xmlns:p14="http://schemas.microsoft.com/office/powerpoint/2010/main" val="408514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Form Controls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4272369"/>
          </a:xfrm>
        </p:spPr>
        <p:txBody>
          <a:bodyPr>
            <a:normAutofit fontScale="85000" lnSpcReduction="10000"/>
          </a:bodyPr>
          <a:lstStyle/>
          <a:p>
            <a:pPr>
              <a:spcBef>
                <a:spcPts val="1200"/>
              </a:spcBef>
            </a:pPr>
            <a:r>
              <a:rPr lang="en-US" sz="2400" dirty="0"/>
              <a:t>Form Controls or form elements are used to accept input from the user. </a:t>
            </a:r>
          </a:p>
          <a:p>
            <a:pPr>
              <a:spcBef>
                <a:spcPts val="1200"/>
              </a:spcBef>
            </a:pPr>
            <a:r>
              <a:rPr lang="en-US" sz="2400" dirty="0"/>
              <a:t>They are the basic building blocks of forms in HTML pages.</a:t>
            </a:r>
          </a:p>
          <a:p>
            <a:pPr indent="568325">
              <a:spcBef>
                <a:spcPts val="1200"/>
              </a:spcBef>
            </a:pPr>
            <a:r>
              <a:rPr lang="en-US" sz="2400" dirty="0"/>
              <a:t>The basic form controls are</a:t>
            </a:r>
          </a:p>
          <a:p>
            <a:pPr marL="1482725" indent="2825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Text box</a:t>
            </a:r>
          </a:p>
          <a:p>
            <a:pPr marL="1482725" indent="2825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Password field</a:t>
            </a:r>
          </a:p>
          <a:p>
            <a:pPr marL="1482725" indent="2825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Text Area</a:t>
            </a:r>
          </a:p>
          <a:p>
            <a:pPr marL="1482725" indent="2825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Drop Down Menu</a:t>
            </a:r>
          </a:p>
          <a:p>
            <a:pPr marL="1482725" indent="2825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Radio Button</a:t>
            </a:r>
          </a:p>
          <a:p>
            <a:pPr marL="1482725" indent="2825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Check Box</a:t>
            </a:r>
          </a:p>
          <a:p>
            <a:pPr marL="1482725" indent="2825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400" dirty="0"/>
              <a:t>Buttons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2574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– Create a HTML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/>
              <a:t>Lets create an user registration form with controls.</a:t>
            </a:r>
          </a:p>
          <a:p>
            <a:pPr>
              <a:spcBef>
                <a:spcPts val="1200"/>
              </a:spcBef>
            </a:pPr>
            <a:endParaRPr lang="en-US" sz="2000" dirty="0"/>
          </a:p>
          <a:p>
            <a:pPr marL="342900" indent="-342900">
              <a:spcBef>
                <a:spcPts val="1200"/>
              </a:spcBef>
            </a:pPr>
            <a:r>
              <a:rPr lang="en-US" sz="2000" dirty="0"/>
              <a:t>To start with lets all create a empty registration.html</a:t>
            </a:r>
          </a:p>
          <a:p>
            <a:pPr marL="342900" indent="-342900">
              <a:spcBef>
                <a:spcPts val="1200"/>
              </a:spcBef>
            </a:pPr>
            <a:endParaRPr lang="en-US" sz="2000" dirty="0"/>
          </a:p>
          <a:p>
            <a:pPr marL="342900" indent="-342900">
              <a:spcBef>
                <a:spcPts val="1200"/>
              </a:spcBef>
            </a:pPr>
            <a:r>
              <a:rPr lang="en-US" sz="2000" dirty="0"/>
              <a:t>NOTE: On completion of each form control we will add the control to registration.html. Use table for aligning the controls, add additional columns and rows to the table wherever required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350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Name and ID attribute for a form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000" dirty="0"/>
              <a:t>A form control can have a name and id attribute.</a:t>
            </a:r>
          </a:p>
          <a:p>
            <a:pPr>
              <a:spcBef>
                <a:spcPts val="1200"/>
              </a:spcBef>
            </a:pPr>
            <a:endParaRPr lang="en-US" sz="2000" dirty="0"/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	&lt;</a:t>
            </a:r>
            <a:r>
              <a:rPr lang="en-US" sz="2000" dirty="0" err="1">
                <a:solidFill>
                  <a:srgbClr val="00B050"/>
                </a:solidFill>
              </a:rPr>
              <a:t>formcontrol</a:t>
            </a:r>
            <a:r>
              <a:rPr lang="en-US" sz="2000" dirty="0">
                <a:solidFill>
                  <a:srgbClr val="C00000"/>
                </a:solidFill>
              </a:rPr>
              <a:t> 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name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id</a:t>
            </a:r>
            <a:r>
              <a:rPr lang="en-US" sz="2000" dirty="0"/>
              <a:t>”</a:t>
            </a:r>
            <a:r>
              <a:rPr lang="en-US" sz="2000" dirty="0">
                <a:solidFill>
                  <a:srgbClr val="00B050"/>
                </a:solidFill>
              </a:rPr>
              <a:t>&gt;&lt;</a:t>
            </a:r>
            <a:r>
              <a:rPr lang="en-US" sz="2000" dirty="0" err="1">
                <a:solidFill>
                  <a:srgbClr val="00B050"/>
                </a:solidFill>
              </a:rPr>
              <a:t>formcontrol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pPr>
              <a:spcBef>
                <a:spcPts val="1200"/>
              </a:spcBef>
            </a:pPr>
            <a:endParaRPr lang="en-US" sz="2000" dirty="0">
              <a:solidFill>
                <a:srgbClr val="00B0F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00B0F0"/>
                </a:solidFill>
              </a:rPr>
              <a:t>- name</a:t>
            </a:r>
            <a:r>
              <a:rPr lang="en-US" sz="2000" dirty="0"/>
              <a:t> attribute is used to refer the control at the server side using 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Server side script.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00B0F0"/>
                </a:solidFill>
              </a:rPr>
              <a:t>- id</a:t>
            </a:r>
            <a:r>
              <a:rPr lang="en-US" sz="2000" dirty="0"/>
              <a:t> attribute is used to refer the control at the client side using 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Client side scripts and CSS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664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Label Tag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indent="3460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A label tag is used to label a form control.</a:t>
            </a:r>
          </a:p>
          <a:p>
            <a:pPr indent="3460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Binds text to the form control.</a:t>
            </a:r>
          </a:p>
          <a:p>
            <a:pPr marL="346075" indent="-3460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Uses </a:t>
            </a:r>
            <a:r>
              <a:rPr lang="en-US" sz="2000" dirty="0">
                <a:solidFill>
                  <a:srgbClr val="00B0F0"/>
                </a:solidFill>
              </a:rPr>
              <a:t>for</a:t>
            </a:r>
            <a:r>
              <a:rPr lang="en-US" sz="2000" dirty="0"/>
              <a:t> attribute to bind to a particular form control, where the value  is the </a:t>
            </a:r>
            <a:r>
              <a:rPr lang="en-US" sz="2000" dirty="0">
                <a:solidFill>
                  <a:srgbClr val="00B0F0"/>
                </a:solidFill>
              </a:rPr>
              <a:t>id</a:t>
            </a:r>
            <a:r>
              <a:rPr lang="en-US" sz="2000" dirty="0"/>
              <a:t> of the form control.</a:t>
            </a:r>
          </a:p>
          <a:p>
            <a:pPr marL="346075" indent="-3460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Clicking the label text activates the appropriate form control.</a:t>
            </a:r>
          </a:p>
          <a:p>
            <a:endParaRPr lang="en-US" sz="2000" dirty="0"/>
          </a:p>
          <a:p>
            <a:r>
              <a:rPr lang="en-US" sz="2000" dirty="0"/>
              <a:t>Usage :</a:t>
            </a:r>
          </a:p>
          <a:p>
            <a:endParaRPr lang="en-US" sz="2000" dirty="0"/>
          </a:p>
          <a:p>
            <a:pPr lvl="2"/>
            <a:r>
              <a:rPr lang="en-US" dirty="0">
                <a:solidFill>
                  <a:srgbClr val="00B050"/>
                </a:solidFill>
              </a:rPr>
              <a:t>&lt;label </a:t>
            </a:r>
            <a:r>
              <a:rPr lang="en-US" dirty="0">
                <a:solidFill>
                  <a:srgbClr val="C00000"/>
                </a:solidFill>
              </a:rPr>
              <a:t>for</a:t>
            </a:r>
            <a:r>
              <a:rPr lang="en-US" dirty="0"/>
              <a:t>=“</a:t>
            </a:r>
            <a:r>
              <a:rPr lang="en-US" dirty="0" err="1">
                <a:solidFill>
                  <a:srgbClr val="00B0F0"/>
                </a:solidFill>
              </a:rPr>
              <a:t>elementID</a:t>
            </a:r>
            <a:r>
              <a:rPr lang="en-US" dirty="0"/>
              <a:t>”</a:t>
            </a:r>
            <a:r>
              <a:rPr lang="en-US" dirty="0">
                <a:solidFill>
                  <a:srgbClr val="00B050"/>
                </a:solidFill>
              </a:rPr>
              <a:t>&gt;</a:t>
            </a:r>
            <a:r>
              <a:rPr lang="en-US" dirty="0"/>
              <a:t>Text</a:t>
            </a:r>
            <a:r>
              <a:rPr lang="en-US" dirty="0">
                <a:solidFill>
                  <a:srgbClr val="00B050"/>
                </a:solidFill>
              </a:rPr>
              <a:t>&lt;/label&gt;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&lt;</a:t>
            </a:r>
            <a:r>
              <a:rPr lang="en-US" dirty="0" err="1">
                <a:solidFill>
                  <a:srgbClr val="00B050"/>
                </a:solidFill>
              </a:rPr>
              <a:t>formcontrol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id</a:t>
            </a:r>
            <a:r>
              <a:rPr lang="en-US" dirty="0"/>
              <a:t>=“</a:t>
            </a:r>
            <a:r>
              <a:rPr lang="en-US" dirty="0" err="1">
                <a:solidFill>
                  <a:srgbClr val="00B0F0"/>
                </a:solidFill>
              </a:rPr>
              <a:t>elementID</a:t>
            </a:r>
            <a:r>
              <a:rPr lang="en-US" dirty="0"/>
              <a:t>” </a:t>
            </a:r>
            <a:r>
              <a:rPr lang="en-US" dirty="0">
                <a:solidFill>
                  <a:srgbClr val="00B050"/>
                </a:solidFill>
              </a:rPr>
              <a:t>/&gt;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302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Text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66800" y="1447800"/>
            <a:ext cx="6324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/>
                </a:solidFill>
              </a:rPr>
              <a:t>Used to accept single line of text from the user.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3800" y="2667000"/>
            <a:ext cx="5588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783688" y="4412159"/>
            <a:ext cx="754456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11125" indent="-47625"/>
            <a:r>
              <a:rPr lang="en-US" sz="2200" dirty="0" smtClean="0">
                <a:solidFill>
                  <a:schemeClr val="bg1"/>
                </a:solidFill>
              </a:rPr>
              <a:t>Example of Text Fields</a:t>
            </a:r>
            <a:r>
              <a:rPr lang="en-US" sz="2200" b="0" dirty="0" smtClean="0">
                <a:solidFill>
                  <a:schemeClr val="bg1"/>
                </a:solidFill>
              </a:rPr>
              <a:t>: Name , Username, Phone number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56144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To Create a Text Box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000" dirty="0"/>
              <a:t>To create a text box we use </a:t>
            </a:r>
            <a:r>
              <a:rPr lang="en-US" sz="2000" dirty="0">
                <a:solidFill>
                  <a:srgbClr val="00B050"/>
                </a:solidFill>
              </a:rPr>
              <a:t>&lt;input&gt; </a:t>
            </a:r>
            <a:r>
              <a:rPr lang="en-US" sz="2000" dirty="0"/>
              <a:t>tag</a:t>
            </a:r>
          </a:p>
          <a:p>
            <a:pPr>
              <a:spcBef>
                <a:spcPts val="1200"/>
              </a:spcBef>
            </a:pPr>
            <a:endParaRPr lang="en-US" sz="2000" dirty="0"/>
          </a:p>
          <a:p>
            <a:pPr indent="346075">
              <a:spcBef>
                <a:spcPts val="1200"/>
              </a:spcBef>
            </a:pPr>
            <a:r>
              <a:rPr lang="en-US" sz="2000" dirty="0"/>
              <a:t>Syntax :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 =“</a:t>
            </a:r>
            <a:r>
              <a:rPr lang="en-US" sz="2000" dirty="0">
                <a:solidFill>
                  <a:srgbClr val="00B0F0"/>
                </a:solidFill>
              </a:rPr>
              <a:t>text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 err="1">
                <a:solidFill>
                  <a:srgbClr val="00B0F0"/>
                </a:solidFill>
              </a:rPr>
              <a:t>textName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id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/>
              <a:t>=“</a:t>
            </a:r>
            <a:r>
              <a:rPr lang="en-US" sz="2000" dirty="0" err="1">
                <a:solidFill>
                  <a:srgbClr val="00B0F0"/>
                </a:solidFill>
              </a:rPr>
              <a:t>defaultValue</a:t>
            </a:r>
            <a:r>
              <a:rPr lang="en-US" sz="2000" dirty="0"/>
              <a:t>”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</a:p>
          <a:p>
            <a:pPr indent="346075">
              <a:spcBef>
                <a:spcPts val="1200"/>
              </a:spcBef>
            </a:pPr>
            <a:endParaRPr lang="en-US" sz="2000" dirty="0"/>
          </a:p>
          <a:p>
            <a:pPr indent="346075">
              <a:spcBef>
                <a:spcPts val="1200"/>
              </a:spcBef>
            </a:pPr>
            <a:r>
              <a:rPr lang="en-US" sz="2000" dirty="0"/>
              <a:t>Example :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 =“</a:t>
            </a:r>
            <a:r>
              <a:rPr lang="en-US" sz="2000" dirty="0">
                <a:solidFill>
                  <a:srgbClr val="00B0F0"/>
                </a:solidFill>
              </a:rPr>
              <a:t>text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 err="1">
                <a:solidFill>
                  <a:srgbClr val="00B0F0"/>
                </a:solidFill>
              </a:rPr>
              <a:t>userName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 err="1">
                <a:solidFill>
                  <a:srgbClr val="00B0F0"/>
                </a:solidFill>
              </a:rPr>
              <a:t>userName</a:t>
            </a:r>
            <a:r>
              <a:rPr lang="en-US" sz="2000" dirty="0"/>
              <a:t>” 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Enter user Name</a:t>
            </a:r>
            <a:r>
              <a:rPr lang="en-US" sz="2000" dirty="0"/>
              <a:t>”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6902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Optional Attributes for Textbox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 smtClean="0"/>
              <a:t> Size </a:t>
            </a:r>
            <a:r>
              <a:rPr lang="en-US" sz="2000" dirty="0"/>
              <a:t>-  Specifies the visible width, characters displayed.</a:t>
            </a:r>
          </a:p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</a:t>
            </a:r>
            <a:r>
              <a:rPr lang="en-US" sz="2000" dirty="0" err="1"/>
              <a:t>Maxlength</a:t>
            </a:r>
            <a:r>
              <a:rPr lang="en-US" sz="2000" dirty="0"/>
              <a:t> - Specifies the maximum number of characters allowed. </a:t>
            </a:r>
          </a:p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</a:t>
            </a:r>
            <a:r>
              <a:rPr lang="en-US" sz="2000" dirty="0" err="1"/>
              <a:t>Tabindex</a:t>
            </a:r>
            <a:r>
              <a:rPr lang="en-US" sz="2000" dirty="0"/>
              <a:t> - Sets the tab order for the control.</a:t>
            </a:r>
          </a:p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Value - Default value for the textbox.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168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– Text Fields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>
              <a:spcBef>
                <a:spcPts val="1200"/>
              </a:spcBef>
            </a:pPr>
            <a:r>
              <a:rPr lang="en-US" dirty="0"/>
              <a:t>Lets all add a user name field to the registration form,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Create a label username in registration.html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/>
              <a:t>  </a:t>
            </a:r>
            <a:r>
              <a:rPr lang="en-US" dirty="0">
                <a:solidFill>
                  <a:srgbClr val="00B050"/>
                </a:solidFill>
              </a:rPr>
              <a:t> 	&lt;label&gt;</a:t>
            </a:r>
            <a:r>
              <a:rPr lang="en-US" dirty="0">
                <a:solidFill>
                  <a:srgbClr val="0070C0"/>
                </a:solidFill>
              </a:rPr>
              <a:t>Name</a:t>
            </a:r>
            <a:r>
              <a:rPr lang="en-US" dirty="0">
                <a:solidFill>
                  <a:srgbClr val="00B050"/>
                </a:solidFill>
              </a:rPr>
              <a:t>&lt;/label&gt;</a:t>
            </a:r>
          </a:p>
          <a:p>
            <a:pPr marL="342900" indent="-342900">
              <a:spcBef>
                <a:spcPts val="1200"/>
              </a:spcBef>
              <a:buAutoNum type="arabicPeriod" startAt="2"/>
            </a:pPr>
            <a:r>
              <a:rPr lang="en-US" dirty="0"/>
              <a:t>Create a textbox in registration.html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/>
              <a:t>    	 </a:t>
            </a:r>
            <a:r>
              <a:rPr lang="en-US" dirty="0">
                <a:solidFill>
                  <a:srgbClr val="00B050"/>
                </a:solidFill>
              </a:rPr>
              <a:t>&lt;input </a:t>
            </a:r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 =“</a:t>
            </a:r>
            <a:r>
              <a:rPr lang="en-US" dirty="0">
                <a:solidFill>
                  <a:srgbClr val="00B0F0"/>
                </a:solidFill>
              </a:rPr>
              <a:t>text</a:t>
            </a:r>
            <a:r>
              <a:rPr lang="en-US" dirty="0"/>
              <a:t>”</a:t>
            </a:r>
            <a:r>
              <a:rPr lang="en-US" dirty="0">
                <a:solidFill>
                  <a:srgbClr val="C00000"/>
                </a:solidFill>
              </a:rPr>
              <a:t> name</a:t>
            </a:r>
            <a:r>
              <a:rPr lang="en-US" dirty="0"/>
              <a:t>=“</a:t>
            </a:r>
            <a:r>
              <a:rPr lang="en-US" dirty="0" err="1">
                <a:solidFill>
                  <a:srgbClr val="00B0F0"/>
                </a:solidFill>
              </a:rPr>
              <a:t>userName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id</a:t>
            </a:r>
            <a:r>
              <a:rPr lang="en-US" dirty="0"/>
              <a:t>=“</a:t>
            </a:r>
            <a:r>
              <a:rPr lang="en-US" dirty="0" err="1">
                <a:solidFill>
                  <a:srgbClr val="00B0F0"/>
                </a:solidFill>
              </a:rPr>
              <a:t>userName</a:t>
            </a:r>
            <a:r>
              <a:rPr lang="en-US" dirty="0"/>
              <a:t>”</a:t>
            </a:r>
            <a:r>
              <a:rPr lang="en-US" dirty="0">
                <a:solidFill>
                  <a:srgbClr val="00B050"/>
                </a:solidFill>
              </a:rPr>
              <a:t> /&gt;</a:t>
            </a:r>
          </a:p>
          <a:p>
            <a:pPr marL="342900" indent="-342900">
              <a:spcBef>
                <a:spcPts val="1200"/>
              </a:spcBef>
              <a:buAutoNum type="arabicPeriod" startAt="3"/>
            </a:pPr>
            <a:r>
              <a:rPr lang="en-US" dirty="0"/>
              <a:t>Set the </a:t>
            </a:r>
            <a:r>
              <a:rPr lang="en-US" dirty="0">
                <a:solidFill>
                  <a:srgbClr val="C00000"/>
                </a:solidFill>
              </a:rPr>
              <a:t>for </a:t>
            </a:r>
            <a:r>
              <a:rPr lang="en-US" dirty="0"/>
              <a:t>attribute of the label . The value should be the text box’s ID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/>
              <a:t>    	 </a:t>
            </a:r>
            <a:r>
              <a:rPr lang="en-US" dirty="0">
                <a:solidFill>
                  <a:srgbClr val="00B050"/>
                </a:solidFill>
              </a:rPr>
              <a:t>&lt;label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for</a:t>
            </a:r>
            <a:r>
              <a:rPr lang="en-US" dirty="0"/>
              <a:t>=“</a:t>
            </a:r>
            <a:r>
              <a:rPr lang="en-US" dirty="0" err="1">
                <a:solidFill>
                  <a:srgbClr val="00B0F0"/>
                </a:solidFill>
              </a:rPr>
              <a:t>userName</a:t>
            </a:r>
            <a:r>
              <a:rPr lang="en-US" dirty="0"/>
              <a:t>”</a:t>
            </a:r>
            <a:r>
              <a:rPr lang="en-US" dirty="0">
                <a:solidFill>
                  <a:srgbClr val="00B050"/>
                </a:solidFill>
              </a:rPr>
              <a:t>&gt;</a:t>
            </a:r>
            <a:r>
              <a:rPr lang="en-US" dirty="0">
                <a:solidFill>
                  <a:srgbClr val="0070C0"/>
                </a:solidFill>
              </a:rPr>
              <a:t>Name</a:t>
            </a:r>
            <a:r>
              <a:rPr lang="en-US" dirty="0">
                <a:solidFill>
                  <a:srgbClr val="00B050"/>
                </a:solidFill>
              </a:rPr>
              <a:t>&lt;/label&gt;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 startAt="4"/>
            </a:pPr>
            <a:r>
              <a:rPr lang="en-US" dirty="0"/>
              <a:t>Place the form fields inside a table tag, like</a:t>
            </a:r>
          </a:p>
          <a:p>
            <a:pPr marL="457200" indent="-457200">
              <a:spcBef>
                <a:spcPts val="0"/>
              </a:spcBef>
            </a:pPr>
            <a:endParaRPr lang="en-US" dirty="0"/>
          </a:p>
          <a:p>
            <a:pPr marL="457200" indent="-457200">
              <a:spcBef>
                <a:spcPts val="0"/>
              </a:spcBef>
            </a:pPr>
            <a:r>
              <a:rPr lang="en-US" dirty="0"/>
              <a:t>	&lt;table&gt;&lt;</a:t>
            </a:r>
            <a:r>
              <a:rPr lang="en-US" dirty="0" err="1"/>
              <a:t>tr</a:t>
            </a:r>
            <a:r>
              <a:rPr lang="en-US" dirty="0"/>
              <a:t>&gt;</a:t>
            </a:r>
          </a:p>
          <a:p>
            <a:pPr marL="457200" indent="-457200">
              <a:spcBef>
                <a:spcPts val="0"/>
              </a:spcBef>
            </a:pPr>
            <a:r>
              <a:rPr lang="en-US" dirty="0"/>
              <a:t>		&lt;td&gt;  </a:t>
            </a:r>
            <a:r>
              <a:rPr lang="en-US" dirty="0">
                <a:solidFill>
                  <a:srgbClr val="00B050"/>
                </a:solidFill>
              </a:rPr>
              <a:t>&lt;label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for</a:t>
            </a:r>
            <a:r>
              <a:rPr lang="en-US" dirty="0"/>
              <a:t>=“</a:t>
            </a:r>
            <a:r>
              <a:rPr lang="en-US" dirty="0" err="1">
                <a:solidFill>
                  <a:srgbClr val="00B0F0"/>
                </a:solidFill>
              </a:rPr>
              <a:t>userName</a:t>
            </a:r>
            <a:r>
              <a:rPr lang="en-US" dirty="0"/>
              <a:t>”</a:t>
            </a:r>
            <a:r>
              <a:rPr lang="en-US" dirty="0">
                <a:solidFill>
                  <a:srgbClr val="00B050"/>
                </a:solidFill>
              </a:rPr>
              <a:t>&gt;</a:t>
            </a:r>
            <a:r>
              <a:rPr lang="en-US" dirty="0">
                <a:solidFill>
                  <a:srgbClr val="0070C0"/>
                </a:solidFill>
              </a:rPr>
              <a:t>Name</a:t>
            </a:r>
            <a:r>
              <a:rPr lang="en-US" dirty="0">
                <a:solidFill>
                  <a:srgbClr val="00B050"/>
                </a:solidFill>
              </a:rPr>
              <a:t>&lt;/label&gt;</a:t>
            </a:r>
            <a:r>
              <a:rPr lang="en-US" dirty="0"/>
              <a:t>&lt;/td&gt;</a:t>
            </a:r>
          </a:p>
          <a:p>
            <a:pPr marL="342900" indent="-342900">
              <a:spcBef>
                <a:spcPts val="0"/>
              </a:spcBef>
            </a:pPr>
            <a:r>
              <a:rPr lang="en-US" dirty="0"/>
              <a:t>		&lt;td&gt;  </a:t>
            </a:r>
            <a:r>
              <a:rPr lang="en-US" dirty="0">
                <a:solidFill>
                  <a:srgbClr val="00B050"/>
                </a:solidFill>
              </a:rPr>
              <a:t>&lt;input </a:t>
            </a:r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 =“</a:t>
            </a:r>
            <a:r>
              <a:rPr lang="en-US" dirty="0">
                <a:solidFill>
                  <a:srgbClr val="00B0F0"/>
                </a:solidFill>
              </a:rPr>
              <a:t>text</a:t>
            </a:r>
            <a:r>
              <a:rPr lang="en-US" dirty="0"/>
              <a:t>”</a:t>
            </a:r>
            <a:r>
              <a:rPr lang="en-US" dirty="0">
                <a:solidFill>
                  <a:srgbClr val="C00000"/>
                </a:solidFill>
              </a:rPr>
              <a:t> name</a:t>
            </a:r>
            <a:r>
              <a:rPr lang="en-US" dirty="0"/>
              <a:t>=“</a:t>
            </a:r>
            <a:r>
              <a:rPr lang="en-US" dirty="0" err="1">
                <a:solidFill>
                  <a:srgbClr val="00B0F0"/>
                </a:solidFill>
              </a:rPr>
              <a:t>userName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id</a:t>
            </a:r>
            <a:r>
              <a:rPr lang="en-US" dirty="0"/>
              <a:t>=“</a:t>
            </a:r>
            <a:r>
              <a:rPr lang="en-US" dirty="0" err="1">
                <a:solidFill>
                  <a:srgbClr val="00B0F0"/>
                </a:solidFill>
              </a:rPr>
              <a:t>userName</a:t>
            </a:r>
            <a:r>
              <a:rPr lang="en-US" dirty="0"/>
              <a:t>”</a:t>
            </a:r>
            <a:r>
              <a:rPr lang="en-US" dirty="0">
                <a:solidFill>
                  <a:srgbClr val="00B050"/>
                </a:solidFill>
              </a:rPr>
              <a:t> /&gt; </a:t>
            </a:r>
            <a:r>
              <a:rPr lang="en-US" dirty="0"/>
              <a:t>&lt;/td&gt;</a:t>
            </a:r>
          </a:p>
          <a:p>
            <a:pPr marL="342900" indent="-342900">
              <a:spcBef>
                <a:spcPts val="0"/>
              </a:spcBef>
            </a:pPr>
            <a:r>
              <a:rPr lang="en-US" dirty="0"/>
              <a:t>	&lt;/</a:t>
            </a:r>
            <a:r>
              <a:rPr lang="en-US" dirty="0" err="1"/>
              <a:t>tr</a:t>
            </a:r>
            <a:r>
              <a:rPr lang="en-US" dirty="0"/>
              <a:t>&gt; &lt;/table&gt;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2610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Password Field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02504" y="1371600"/>
            <a:ext cx="7946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chemeClr val="bg1"/>
                </a:solidFill>
              </a:rPr>
              <a:t>Used to accept secure data from the user which should be displayed</a:t>
            </a:r>
          </a:p>
          <a:p>
            <a:r>
              <a:rPr lang="en-US" sz="2000" b="0" dirty="0" smtClean="0">
                <a:solidFill>
                  <a:schemeClr val="bg1"/>
                </a:solidFill>
              </a:rPr>
              <a:t>on  the screen.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819400"/>
            <a:ext cx="4343400" cy="67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609600" y="4495800"/>
            <a:ext cx="46510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Uses</a:t>
            </a:r>
            <a:r>
              <a:rPr lang="en-US" sz="2000" b="0" dirty="0" smtClean="0">
                <a:solidFill>
                  <a:schemeClr val="bg1"/>
                </a:solidFill>
              </a:rPr>
              <a:t> : Passwords, ATM pin number etc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267658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To Create a password field?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000" dirty="0"/>
              <a:t>To create a text box we use </a:t>
            </a:r>
            <a:r>
              <a:rPr lang="en-US" sz="2000" dirty="0">
                <a:solidFill>
                  <a:srgbClr val="00B050"/>
                </a:solidFill>
              </a:rPr>
              <a:t>&lt;input&gt; </a:t>
            </a:r>
            <a:r>
              <a:rPr lang="en-US" sz="2000" dirty="0"/>
              <a:t>tag</a:t>
            </a:r>
          </a:p>
          <a:p>
            <a:pPr>
              <a:spcBef>
                <a:spcPts val="1200"/>
              </a:spcBef>
            </a:pPr>
            <a:endParaRPr lang="en-US" sz="2000" dirty="0"/>
          </a:p>
          <a:p>
            <a:pPr indent="346075">
              <a:spcBef>
                <a:spcPts val="1200"/>
              </a:spcBef>
            </a:pPr>
            <a:r>
              <a:rPr lang="en-US" sz="2000" dirty="0"/>
              <a:t>Syntax :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 =“</a:t>
            </a:r>
            <a:r>
              <a:rPr lang="en-US" sz="2000" dirty="0">
                <a:solidFill>
                  <a:srgbClr val="00B0F0"/>
                </a:solidFill>
              </a:rPr>
              <a:t>password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Name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id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</a:p>
          <a:p>
            <a:pPr indent="346075">
              <a:spcBef>
                <a:spcPts val="1200"/>
              </a:spcBef>
            </a:pPr>
            <a:endParaRPr lang="en-US" sz="2000" dirty="0">
              <a:solidFill>
                <a:srgbClr val="00B050"/>
              </a:solidFill>
            </a:endParaRPr>
          </a:p>
          <a:p>
            <a:pPr indent="346075">
              <a:spcBef>
                <a:spcPts val="1200"/>
              </a:spcBef>
            </a:pPr>
            <a:r>
              <a:rPr lang="en-US" sz="2000" dirty="0"/>
              <a:t>Example :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 =“</a:t>
            </a:r>
            <a:r>
              <a:rPr lang="en-US" sz="2000" dirty="0">
                <a:solidFill>
                  <a:srgbClr val="00B0F0"/>
                </a:solidFill>
              </a:rPr>
              <a:t>password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password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password</a:t>
            </a:r>
            <a:r>
              <a:rPr lang="en-US" sz="2000" dirty="0"/>
              <a:t>” 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Enter user Name</a:t>
            </a:r>
            <a:r>
              <a:rPr lang="en-US" sz="2000" dirty="0"/>
              <a:t>”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2267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Optional Attributes for password field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 smtClean="0"/>
              <a:t> Size </a:t>
            </a:r>
            <a:r>
              <a:rPr lang="en-US" sz="2000" dirty="0"/>
              <a:t>-  Specifies the visible width, characters displayed.</a:t>
            </a:r>
          </a:p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</a:t>
            </a:r>
            <a:r>
              <a:rPr lang="en-US" sz="2000" dirty="0" err="1"/>
              <a:t>Maxlength</a:t>
            </a:r>
            <a:r>
              <a:rPr lang="en-US" sz="2000" dirty="0"/>
              <a:t> - Specifies the maximum number of characters allowed. </a:t>
            </a:r>
          </a:p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</a:t>
            </a:r>
            <a:r>
              <a:rPr lang="en-US" sz="2000" dirty="0" err="1"/>
              <a:t>Tabindex</a:t>
            </a:r>
            <a:r>
              <a:rPr lang="en-US" sz="2000" dirty="0"/>
              <a:t> - Sets the tab order for the control.</a:t>
            </a:r>
          </a:p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Value - Default value for the textbox.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7189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– Password Fields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5582850"/>
          </a:xfrm>
        </p:spPr>
        <p:txBody>
          <a:bodyPr>
            <a:normAutofit fontScale="47500" lnSpcReduction="20000"/>
          </a:bodyPr>
          <a:lstStyle/>
          <a:p>
            <a:pPr marL="342900" indent="-342900">
              <a:spcBef>
                <a:spcPts val="1200"/>
              </a:spcBef>
            </a:pPr>
            <a:r>
              <a:rPr lang="en-US" sz="4200" dirty="0"/>
              <a:t>Add the Password field to the registration form,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4200" dirty="0"/>
              <a:t>Create a label username in registration.html</a:t>
            </a:r>
          </a:p>
          <a:p>
            <a:pPr marL="342900" indent="-342900">
              <a:spcBef>
                <a:spcPts val="1200"/>
              </a:spcBef>
            </a:pPr>
            <a:r>
              <a:rPr lang="en-US" sz="4200" dirty="0"/>
              <a:t>	  </a:t>
            </a:r>
            <a:r>
              <a:rPr lang="en-US" sz="4200" dirty="0">
                <a:solidFill>
                  <a:srgbClr val="00B050"/>
                </a:solidFill>
              </a:rPr>
              <a:t> &lt;label&gt;</a:t>
            </a:r>
            <a:r>
              <a:rPr lang="en-US" sz="4200" dirty="0">
                <a:solidFill>
                  <a:srgbClr val="0070C0"/>
                </a:solidFill>
              </a:rPr>
              <a:t>Password</a:t>
            </a:r>
            <a:r>
              <a:rPr lang="en-US" sz="4200" dirty="0">
                <a:solidFill>
                  <a:srgbClr val="00B050"/>
                </a:solidFill>
              </a:rPr>
              <a:t>&lt;/label&gt;</a:t>
            </a:r>
          </a:p>
          <a:p>
            <a:pPr marL="342900" indent="-342900">
              <a:spcBef>
                <a:spcPts val="1200"/>
              </a:spcBef>
              <a:buAutoNum type="arabicPeriod" startAt="2"/>
            </a:pPr>
            <a:r>
              <a:rPr lang="en-US" sz="4200" dirty="0"/>
              <a:t>Create a password field in registration.html</a:t>
            </a:r>
          </a:p>
          <a:p>
            <a:pPr marL="342900" indent="-342900">
              <a:spcBef>
                <a:spcPts val="1200"/>
              </a:spcBef>
            </a:pPr>
            <a:r>
              <a:rPr lang="en-US" sz="4200" dirty="0"/>
              <a:t>      </a:t>
            </a:r>
            <a:r>
              <a:rPr lang="en-US" sz="4200" dirty="0">
                <a:solidFill>
                  <a:srgbClr val="00B050"/>
                </a:solidFill>
              </a:rPr>
              <a:t>&lt;input </a:t>
            </a:r>
            <a:r>
              <a:rPr lang="en-US" sz="4200" dirty="0">
                <a:solidFill>
                  <a:srgbClr val="C00000"/>
                </a:solidFill>
              </a:rPr>
              <a:t>type</a:t>
            </a:r>
            <a:r>
              <a:rPr lang="en-US" sz="4200" dirty="0"/>
              <a:t> =“</a:t>
            </a:r>
            <a:r>
              <a:rPr lang="en-US" sz="4200" dirty="0">
                <a:solidFill>
                  <a:srgbClr val="00B0F0"/>
                </a:solidFill>
              </a:rPr>
              <a:t>password</a:t>
            </a:r>
            <a:r>
              <a:rPr lang="en-US" sz="4200" dirty="0"/>
              <a:t>”</a:t>
            </a:r>
            <a:r>
              <a:rPr lang="en-US" sz="4200" dirty="0">
                <a:solidFill>
                  <a:srgbClr val="C00000"/>
                </a:solidFill>
              </a:rPr>
              <a:t> name</a:t>
            </a:r>
            <a:r>
              <a:rPr lang="en-US" sz="4200" dirty="0"/>
              <a:t>=“</a:t>
            </a:r>
            <a:r>
              <a:rPr lang="en-US" sz="4200" dirty="0">
                <a:solidFill>
                  <a:srgbClr val="00B0F0"/>
                </a:solidFill>
              </a:rPr>
              <a:t>password</a:t>
            </a:r>
            <a:r>
              <a:rPr lang="en-US" sz="4200" dirty="0"/>
              <a:t>” </a:t>
            </a:r>
            <a:r>
              <a:rPr lang="en-US" sz="4200" dirty="0">
                <a:solidFill>
                  <a:srgbClr val="C00000"/>
                </a:solidFill>
              </a:rPr>
              <a:t>id</a:t>
            </a:r>
            <a:r>
              <a:rPr lang="en-US" sz="4200" dirty="0"/>
              <a:t>=“</a:t>
            </a:r>
            <a:r>
              <a:rPr lang="en-US" sz="4200" dirty="0">
                <a:solidFill>
                  <a:srgbClr val="00B0F0"/>
                </a:solidFill>
              </a:rPr>
              <a:t>password</a:t>
            </a:r>
            <a:r>
              <a:rPr lang="en-US" sz="4200" dirty="0"/>
              <a:t>”</a:t>
            </a:r>
            <a:r>
              <a:rPr lang="en-US" sz="4200" dirty="0">
                <a:solidFill>
                  <a:srgbClr val="00B050"/>
                </a:solidFill>
              </a:rPr>
              <a:t> /&gt;</a:t>
            </a:r>
          </a:p>
          <a:p>
            <a:pPr marL="342900" indent="-342900">
              <a:spcBef>
                <a:spcPts val="1200"/>
              </a:spcBef>
              <a:buAutoNum type="arabicPeriod" startAt="3"/>
            </a:pPr>
            <a:r>
              <a:rPr lang="en-US" sz="4200" dirty="0"/>
              <a:t>Set the </a:t>
            </a:r>
            <a:r>
              <a:rPr lang="en-US" sz="4200" dirty="0">
                <a:solidFill>
                  <a:srgbClr val="C00000"/>
                </a:solidFill>
              </a:rPr>
              <a:t>for </a:t>
            </a:r>
            <a:r>
              <a:rPr lang="en-US" sz="4200" dirty="0"/>
              <a:t>attribute of the label . The value should be the password field’s ID.</a:t>
            </a:r>
          </a:p>
          <a:p>
            <a:pPr marL="342900" indent="-342900">
              <a:spcBef>
                <a:spcPts val="1200"/>
              </a:spcBef>
            </a:pPr>
            <a:r>
              <a:rPr lang="en-US" sz="4200" dirty="0"/>
              <a:t>	     </a:t>
            </a:r>
            <a:r>
              <a:rPr lang="en-US" sz="4200" dirty="0">
                <a:solidFill>
                  <a:srgbClr val="00B050"/>
                </a:solidFill>
              </a:rPr>
              <a:t>&lt;label</a:t>
            </a:r>
            <a:r>
              <a:rPr lang="en-US" sz="4200" dirty="0"/>
              <a:t> </a:t>
            </a:r>
            <a:r>
              <a:rPr lang="en-US" sz="4200" dirty="0">
                <a:solidFill>
                  <a:srgbClr val="C00000"/>
                </a:solidFill>
              </a:rPr>
              <a:t>for</a:t>
            </a:r>
            <a:r>
              <a:rPr lang="en-US" sz="4200" dirty="0"/>
              <a:t>=“</a:t>
            </a:r>
            <a:r>
              <a:rPr lang="en-US" sz="4200" dirty="0">
                <a:solidFill>
                  <a:srgbClr val="00B0F0"/>
                </a:solidFill>
              </a:rPr>
              <a:t>password</a:t>
            </a:r>
            <a:r>
              <a:rPr lang="en-US" sz="4200" dirty="0"/>
              <a:t>”</a:t>
            </a:r>
            <a:r>
              <a:rPr lang="en-US" sz="4200" dirty="0">
                <a:solidFill>
                  <a:srgbClr val="00B050"/>
                </a:solidFill>
              </a:rPr>
              <a:t>&gt;</a:t>
            </a:r>
            <a:r>
              <a:rPr lang="en-US" sz="4200" dirty="0">
                <a:solidFill>
                  <a:srgbClr val="0070C0"/>
                </a:solidFill>
              </a:rPr>
              <a:t>Password</a:t>
            </a:r>
            <a:r>
              <a:rPr lang="en-US" sz="4200" dirty="0">
                <a:solidFill>
                  <a:srgbClr val="00B050"/>
                </a:solidFill>
              </a:rPr>
              <a:t>&lt;/label&gt;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 startAt="4"/>
            </a:pPr>
            <a:r>
              <a:rPr lang="en-US" sz="4200" dirty="0"/>
              <a:t>Place the form fields inside a table tag, like</a:t>
            </a:r>
          </a:p>
          <a:p>
            <a:pPr marL="457200" indent="-457200">
              <a:spcBef>
                <a:spcPts val="0"/>
              </a:spcBef>
            </a:pPr>
            <a:endParaRPr lang="en-US" sz="4200" dirty="0"/>
          </a:p>
          <a:p>
            <a:pPr marL="457200" indent="-457200">
              <a:spcBef>
                <a:spcPts val="0"/>
              </a:spcBef>
            </a:pPr>
            <a:r>
              <a:rPr lang="en-US" sz="4200" dirty="0"/>
              <a:t>	&lt;</a:t>
            </a:r>
            <a:r>
              <a:rPr lang="en-US" sz="4200" dirty="0" err="1"/>
              <a:t>tr</a:t>
            </a:r>
            <a:r>
              <a:rPr lang="en-US" sz="4200" dirty="0"/>
              <a:t>&gt;</a:t>
            </a:r>
          </a:p>
          <a:p>
            <a:pPr marL="457200" indent="-457200">
              <a:spcBef>
                <a:spcPts val="0"/>
              </a:spcBef>
            </a:pPr>
            <a:r>
              <a:rPr lang="en-US" sz="4200" dirty="0"/>
              <a:t>		&lt;td&gt;   </a:t>
            </a:r>
            <a:r>
              <a:rPr lang="en-US" sz="4200" dirty="0">
                <a:solidFill>
                  <a:srgbClr val="00B050"/>
                </a:solidFill>
              </a:rPr>
              <a:t>&lt;label</a:t>
            </a:r>
            <a:r>
              <a:rPr lang="en-US" sz="4200" dirty="0"/>
              <a:t> </a:t>
            </a:r>
            <a:r>
              <a:rPr lang="en-US" sz="4200" dirty="0">
                <a:solidFill>
                  <a:srgbClr val="C00000"/>
                </a:solidFill>
              </a:rPr>
              <a:t>for</a:t>
            </a:r>
            <a:r>
              <a:rPr lang="en-US" sz="4200" dirty="0"/>
              <a:t>=“</a:t>
            </a:r>
            <a:r>
              <a:rPr lang="en-US" sz="4200" dirty="0">
                <a:solidFill>
                  <a:srgbClr val="00B0F0"/>
                </a:solidFill>
              </a:rPr>
              <a:t>password</a:t>
            </a:r>
            <a:r>
              <a:rPr lang="en-US" sz="4200" dirty="0"/>
              <a:t>”</a:t>
            </a:r>
            <a:r>
              <a:rPr lang="en-US" sz="4200" dirty="0">
                <a:solidFill>
                  <a:srgbClr val="00B050"/>
                </a:solidFill>
              </a:rPr>
              <a:t>&gt;</a:t>
            </a:r>
            <a:r>
              <a:rPr lang="en-US" sz="4200" dirty="0">
                <a:solidFill>
                  <a:srgbClr val="0070C0"/>
                </a:solidFill>
              </a:rPr>
              <a:t>Password</a:t>
            </a:r>
            <a:r>
              <a:rPr lang="en-US" sz="4200" dirty="0">
                <a:solidFill>
                  <a:srgbClr val="00B050"/>
                </a:solidFill>
              </a:rPr>
              <a:t>&lt;/label&gt;</a:t>
            </a:r>
            <a:r>
              <a:rPr lang="en-US" sz="4200" dirty="0"/>
              <a:t>&lt;/td&gt;</a:t>
            </a:r>
          </a:p>
          <a:p>
            <a:pPr marL="342900" indent="-342900">
              <a:spcBef>
                <a:spcPts val="0"/>
              </a:spcBef>
            </a:pPr>
            <a:r>
              <a:rPr lang="en-US" sz="4200" dirty="0"/>
              <a:t>		&lt;td&gt;  </a:t>
            </a:r>
            <a:r>
              <a:rPr lang="en-US" sz="4200" dirty="0">
                <a:solidFill>
                  <a:srgbClr val="00B050"/>
                </a:solidFill>
              </a:rPr>
              <a:t>&lt;input </a:t>
            </a:r>
            <a:r>
              <a:rPr lang="en-US" sz="4200" dirty="0">
                <a:solidFill>
                  <a:srgbClr val="C00000"/>
                </a:solidFill>
              </a:rPr>
              <a:t>type</a:t>
            </a:r>
            <a:r>
              <a:rPr lang="en-US" sz="4200" dirty="0"/>
              <a:t> =“</a:t>
            </a:r>
            <a:r>
              <a:rPr lang="en-US" sz="4200" dirty="0">
                <a:solidFill>
                  <a:srgbClr val="00B0F0"/>
                </a:solidFill>
              </a:rPr>
              <a:t>password</a:t>
            </a:r>
            <a:r>
              <a:rPr lang="en-US" sz="4200" dirty="0"/>
              <a:t>”</a:t>
            </a:r>
            <a:r>
              <a:rPr lang="en-US" sz="4200" dirty="0">
                <a:solidFill>
                  <a:srgbClr val="C00000"/>
                </a:solidFill>
              </a:rPr>
              <a:t> name</a:t>
            </a:r>
            <a:r>
              <a:rPr lang="en-US" sz="4200" dirty="0"/>
              <a:t>=“</a:t>
            </a:r>
            <a:r>
              <a:rPr lang="en-US" sz="4200" dirty="0">
                <a:solidFill>
                  <a:srgbClr val="00B0F0"/>
                </a:solidFill>
              </a:rPr>
              <a:t>password</a:t>
            </a:r>
            <a:r>
              <a:rPr lang="en-US" sz="4200" dirty="0"/>
              <a:t>” </a:t>
            </a:r>
            <a:r>
              <a:rPr lang="en-US" sz="4200" dirty="0">
                <a:solidFill>
                  <a:srgbClr val="C00000"/>
                </a:solidFill>
              </a:rPr>
              <a:t>id</a:t>
            </a:r>
            <a:r>
              <a:rPr lang="en-US" sz="4200" dirty="0"/>
              <a:t>=“</a:t>
            </a:r>
            <a:r>
              <a:rPr lang="en-US" sz="4200" dirty="0">
                <a:solidFill>
                  <a:srgbClr val="00B0F0"/>
                </a:solidFill>
              </a:rPr>
              <a:t>password</a:t>
            </a:r>
            <a:r>
              <a:rPr lang="en-US" sz="4200" dirty="0"/>
              <a:t>”</a:t>
            </a:r>
            <a:r>
              <a:rPr lang="en-US" sz="4200" dirty="0">
                <a:solidFill>
                  <a:srgbClr val="00B050"/>
                </a:solidFill>
              </a:rPr>
              <a:t> /&gt;</a:t>
            </a:r>
            <a:r>
              <a:rPr lang="en-US" sz="4200" dirty="0"/>
              <a:t>&lt;/td&gt;</a:t>
            </a:r>
          </a:p>
          <a:p>
            <a:pPr marL="342900" indent="-342900">
              <a:spcBef>
                <a:spcPts val="0"/>
              </a:spcBef>
            </a:pPr>
            <a:r>
              <a:rPr lang="en-US" sz="4200" dirty="0"/>
              <a:t>	&lt;/</a:t>
            </a:r>
            <a:r>
              <a:rPr lang="en-US" sz="4200" dirty="0" err="1"/>
              <a:t>tr</a:t>
            </a:r>
            <a:r>
              <a:rPr lang="en-US" sz="4200" dirty="0"/>
              <a:t>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343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Hidden Fields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6075" indent="-234950">
              <a:spcBef>
                <a:spcPts val="1200"/>
              </a:spcBef>
            </a:pPr>
            <a:r>
              <a:rPr lang="en-US" sz="2000" dirty="0"/>
              <a:t>Hidden fields are similar to text field but does not show on the page. Therefore, the visitor cannot type anything into a hidden field.</a:t>
            </a:r>
          </a:p>
          <a:p>
            <a:pPr marL="457200" indent="346075">
              <a:spcBef>
                <a:spcPts val="1200"/>
              </a:spcBef>
            </a:pPr>
            <a:endParaRPr lang="en-US" sz="2200" dirty="0"/>
          </a:p>
          <a:p>
            <a:pPr marL="284163" indent="-173038">
              <a:spcBef>
                <a:spcPts val="1200"/>
              </a:spcBef>
            </a:pPr>
            <a:r>
              <a:rPr lang="en-US" sz="2000" dirty="0"/>
              <a:t>When used?</a:t>
            </a:r>
          </a:p>
          <a:p>
            <a:pPr lvl="1" indent="3460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Used to submit information that is not entered by the visitor.</a:t>
            </a:r>
          </a:p>
          <a:p>
            <a:pPr lvl="1" indent="346075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Used as mechanism for carrying information between pages.</a:t>
            </a:r>
          </a:p>
          <a:p>
            <a:pPr lvl="1" indent="346075">
              <a:spcBef>
                <a:spcPts val="1200"/>
              </a:spcBef>
            </a:pPr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822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to create a Hidden field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n-US" sz="2000" dirty="0"/>
              <a:t>To create a hidden field we use </a:t>
            </a:r>
            <a:r>
              <a:rPr lang="en-US" sz="2000" dirty="0">
                <a:solidFill>
                  <a:srgbClr val="00B050"/>
                </a:solidFill>
              </a:rPr>
              <a:t>&lt;input&gt; </a:t>
            </a:r>
            <a:r>
              <a:rPr lang="en-US" sz="2000" dirty="0"/>
              <a:t>tag</a:t>
            </a:r>
          </a:p>
          <a:p>
            <a:pPr indent="346075">
              <a:spcBef>
                <a:spcPts val="1200"/>
              </a:spcBef>
            </a:pPr>
            <a:r>
              <a:rPr lang="en-US" sz="2000" dirty="0"/>
              <a:t>Syntax :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 =“</a:t>
            </a:r>
            <a:r>
              <a:rPr lang="en-US" sz="2000" dirty="0">
                <a:solidFill>
                  <a:srgbClr val="00B0F0"/>
                </a:solidFill>
              </a:rPr>
              <a:t>hidden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Name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id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</a:p>
          <a:p>
            <a:pPr indent="346075">
              <a:spcBef>
                <a:spcPts val="1200"/>
              </a:spcBef>
            </a:pPr>
            <a:endParaRPr lang="en-US" sz="2000" dirty="0">
              <a:solidFill>
                <a:srgbClr val="00B050"/>
              </a:solidFill>
            </a:endParaRPr>
          </a:p>
          <a:p>
            <a:pPr indent="346075">
              <a:spcBef>
                <a:spcPts val="1200"/>
              </a:spcBef>
            </a:pPr>
            <a:r>
              <a:rPr lang="en-US" sz="2000" dirty="0"/>
              <a:t>Example :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 =“</a:t>
            </a:r>
            <a:r>
              <a:rPr lang="en-US" sz="2000" dirty="0">
                <a:solidFill>
                  <a:srgbClr val="00B0F0"/>
                </a:solidFill>
              </a:rPr>
              <a:t>hidden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 err="1">
                <a:solidFill>
                  <a:srgbClr val="00B0F0"/>
                </a:solidFill>
              </a:rPr>
              <a:t>userType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 err="1">
                <a:solidFill>
                  <a:srgbClr val="00B0F0"/>
                </a:solidFill>
              </a:rPr>
              <a:t>userType</a:t>
            </a:r>
            <a:r>
              <a:rPr lang="en-US" sz="2000" dirty="0"/>
              <a:t>” 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Administrator</a:t>
            </a:r>
            <a:r>
              <a:rPr lang="en-US" sz="2000" dirty="0"/>
              <a:t>”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  <a:endParaRPr lang="en-US" sz="2000" dirty="0"/>
          </a:p>
          <a:p>
            <a:pPr marL="693738" lvl="1" indent="-236538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 setting adds an internal name to the field so the program that handles the form can identify the fields.</a:t>
            </a:r>
          </a:p>
          <a:p>
            <a:pPr marL="693738" lvl="1" indent="-236538">
              <a:spcBef>
                <a:spcPts val="1200"/>
              </a:spcBef>
              <a:buFont typeface="Arial" pitchFamily="34" charset="0"/>
              <a:buChar char="•"/>
            </a:pPr>
            <a:r>
              <a:rPr lang="en-US" sz="2000" dirty="0"/>
              <a:t>The </a:t>
            </a: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/>
              <a:t> setting defines what will be sent once the form is submitted.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005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: Hidden Field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spcBef>
                <a:spcPts val="1200"/>
              </a:spcBef>
            </a:pPr>
            <a:r>
              <a:rPr lang="en-US" sz="2000" dirty="0"/>
              <a:t>Add the Hidden field to the registration form,</a:t>
            </a:r>
          </a:p>
          <a:p>
            <a:pPr marL="457200" indent="-457200">
              <a:spcBef>
                <a:spcPts val="1200"/>
              </a:spcBef>
            </a:pPr>
            <a:endParaRPr lang="en-US" sz="2000" dirty="0"/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Create a password field in registration.html</a:t>
            </a:r>
          </a:p>
          <a:p>
            <a:pPr marL="457200" indent="-457200">
              <a:spcBef>
                <a:spcPts val="1200"/>
              </a:spcBef>
            </a:pPr>
            <a:r>
              <a:rPr lang="en-US" sz="2000" dirty="0"/>
              <a:t>	     </a:t>
            </a: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 =“</a:t>
            </a:r>
            <a:r>
              <a:rPr lang="en-US" sz="2000" dirty="0">
                <a:solidFill>
                  <a:srgbClr val="00B0F0"/>
                </a:solidFill>
              </a:rPr>
              <a:t>hidden</a:t>
            </a:r>
            <a:r>
              <a:rPr lang="en-US" sz="2000" dirty="0"/>
              <a:t>”</a:t>
            </a:r>
            <a:r>
              <a:rPr lang="en-US" sz="2000" dirty="0">
                <a:solidFill>
                  <a:srgbClr val="C00000"/>
                </a:solidFill>
              </a:rPr>
              <a:t> name</a:t>
            </a:r>
            <a:r>
              <a:rPr lang="en-US" sz="2000" dirty="0"/>
              <a:t>=“</a:t>
            </a:r>
            <a:r>
              <a:rPr lang="en-US" sz="2000" dirty="0" err="1">
                <a:solidFill>
                  <a:srgbClr val="00B0F0"/>
                </a:solidFill>
              </a:rPr>
              <a:t>userType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 err="1">
                <a:solidFill>
                  <a:srgbClr val="00B0F0"/>
                </a:solidFill>
              </a:rPr>
              <a:t>userType</a:t>
            </a:r>
            <a:r>
              <a:rPr lang="en-US" sz="2000" dirty="0"/>
              <a:t>” </a:t>
            </a:r>
          </a:p>
          <a:p>
            <a:pPr marL="457200" indent="-457200">
              <a:spcBef>
                <a:spcPts val="1200"/>
              </a:spcBef>
            </a:pPr>
            <a:r>
              <a:rPr lang="en-US" dirty="0">
                <a:solidFill>
                  <a:srgbClr val="C00000"/>
                </a:solidFill>
              </a:rPr>
              <a:t>			value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administrator</a:t>
            </a:r>
            <a:r>
              <a:rPr lang="en-US" dirty="0"/>
              <a:t>”</a:t>
            </a:r>
            <a:r>
              <a:rPr lang="en-US" dirty="0">
                <a:solidFill>
                  <a:srgbClr val="00B050"/>
                </a:solidFill>
              </a:rPr>
              <a:t>  /&gt;</a:t>
            </a:r>
          </a:p>
          <a:p>
            <a:pPr marL="457200" indent="-457200">
              <a:spcBef>
                <a:spcPts val="1200"/>
              </a:spcBef>
              <a:buAutoNum type="arabicPeriod" startAt="2"/>
            </a:pPr>
            <a:r>
              <a:rPr lang="en-US" sz="2000" dirty="0">
                <a:solidFill>
                  <a:schemeClr val="bg1"/>
                </a:solidFill>
              </a:rPr>
              <a:t>View the page in the browser.</a:t>
            </a:r>
          </a:p>
          <a:p>
            <a:pPr marL="457200" indent="-457200">
              <a:spcBef>
                <a:spcPts val="1200"/>
              </a:spcBef>
              <a:buAutoNum type="arabicPeriod" startAt="2"/>
            </a:pPr>
            <a:r>
              <a:rPr lang="en-US" sz="2000" dirty="0">
                <a:solidFill>
                  <a:schemeClr val="bg1"/>
                </a:solidFill>
              </a:rPr>
              <a:t>The hidden field will not be seen in the page.</a:t>
            </a:r>
          </a:p>
          <a:p>
            <a:pPr marL="457200" indent="-457200">
              <a:spcBef>
                <a:spcPts val="1200"/>
              </a:spcBef>
              <a:buAutoNum type="arabicPeriod" startAt="2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</a:rPr>
              <a:t>NOTE:  This need not be included in the table tag.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4889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Text Area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19200" y="1550313"/>
            <a:ext cx="6151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/>
                </a:solidFill>
              </a:rPr>
              <a:t>Used to accept multiline text input from the user</a:t>
            </a:r>
            <a:endParaRPr lang="en-US" sz="2000" b="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6800" y="4876800"/>
            <a:ext cx="51240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236538"/>
            <a:r>
              <a:rPr lang="en-US" sz="2000" dirty="0" smtClean="0">
                <a:solidFill>
                  <a:schemeClr val="bg1"/>
                </a:solidFill>
              </a:rPr>
              <a:t>Used for Fields</a:t>
            </a:r>
            <a:r>
              <a:rPr lang="en-US" sz="2000" b="0" dirty="0" smtClean="0">
                <a:solidFill>
                  <a:schemeClr val="bg1"/>
                </a:solidFill>
              </a:rPr>
              <a:t>: Address , Description etc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667000"/>
            <a:ext cx="4617720" cy="114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447988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to create a Text Area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4" y="937521"/>
            <a:ext cx="8382000" cy="3786879"/>
          </a:xfrm>
        </p:spPr>
        <p:txBody>
          <a:bodyPr>
            <a:normAutofit fontScale="92500" lnSpcReduction="10000"/>
          </a:bodyPr>
          <a:lstStyle/>
          <a:p>
            <a:pPr indent="236538">
              <a:spcBef>
                <a:spcPts val="1200"/>
              </a:spcBef>
            </a:pPr>
            <a:r>
              <a:rPr lang="en-US" sz="2200" dirty="0"/>
              <a:t>To create a text area we use the </a:t>
            </a:r>
            <a:r>
              <a:rPr lang="en-US" sz="2200" dirty="0">
                <a:solidFill>
                  <a:srgbClr val="00B050"/>
                </a:solidFill>
              </a:rPr>
              <a:t>&lt;</a:t>
            </a:r>
            <a:r>
              <a:rPr lang="en-US" sz="2200" dirty="0" err="1">
                <a:solidFill>
                  <a:srgbClr val="00B050"/>
                </a:solidFill>
              </a:rPr>
              <a:t>textarea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  <a:r>
              <a:rPr lang="en-US" sz="2200" dirty="0"/>
              <a:t> tag</a:t>
            </a:r>
          </a:p>
          <a:p>
            <a:pPr indent="236538">
              <a:spcBef>
                <a:spcPts val="1200"/>
              </a:spcBef>
            </a:pPr>
            <a:endParaRPr lang="en-US" sz="2200" dirty="0"/>
          </a:p>
          <a:p>
            <a:pPr indent="236538">
              <a:spcBef>
                <a:spcPts val="1200"/>
              </a:spcBef>
            </a:pPr>
            <a:r>
              <a:rPr lang="en-US" sz="2200" dirty="0"/>
              <a:t>Syntax:</a:t>
            </a:r>
          </a:p>
          <a:p>
            <a:pPr indent="520700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&lt;</a:t>
            </a:r>
            <a:r>
              <a:rPr lang="en-US" sz="2200" dirty="0" err="1">
                <a:solidFill>
                  <a:srgbClr val="00B050"/>
                </a:solidFill>
              </a:rPr>
              <a:t>textarea</a:t>
            </a: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name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id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cols</a:t>
            </a:r>
            <a:r>
              <a:rPr lang="en-US" sz="2200" dirty="0"/>
              <a:t>=“</a:t>
            </a:r>
            <a:r>
              <a:rPr lang="en-US" sz="2200" dirty="0" err="1">
                <a:solidFill>
                  <a:srgbClr val="00B0F0"/>
                </a:solidFill>
              </a:rPr>
              <a:t>columnCount</a:t>
            </a:r>
            <a:r>
              <a:rPr lang="en-US" sz="2200" dirty="0"/>
              <a:t>” </a:t>
            </a:r>
          </a:p>
          <a:p>
            <a:pPr indent="520700">
              <a:spcBef>
                <a:spcPts val="1200"/>
              </a:spcBef>
            </a:pPr>
            <a:r>
              <a:rPr lang="en-US" sz="2200" dirty="0">
                <a:solidFill>
                  <a:srgbClr val="C00000"/>
                </a:solidFill>
              </a:rPr>
              <a:t> rows</a:t>
            </a:r>
            <a:r>
              <a:rPr lang="en-US" sz="2200" dirty="0"/>
              <a:t>=“</a:t>
            </a:r>
            <a:r>
              <a:rPr lang="en-US" sz="2200" dirty="0" err="1">
                <a:solidFill>
                  <a:srgbClr val="00B0F0"/>
                </a:solidFill>
              </a:rPr>
              <a:t>rowCount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&gt;&lt;/</a:t>
            </a:r>
            <a:r>
              <a:rPr lang="en-US" sz="2200" dirty="0" err="1">
                <a:solidFill>
                  <a:srgbClr val="00B050"/>
                </a:solidFill>
              </a:rPr>
              <a:t>textarea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</a:p>
          <a:p>
            <a:pPr indent="520700">
              <a:spcBef>
                <a:spcPts val="1200"/>
              </a:spcBef>
            </a:pPr>
            <a:endParaRPr lang="en-US" sz="2200" dirty="0">
              <a:solidFill>
                <a:srgbClr val="00B050"/>
              </a:solidFill>
            </a:endParaRPr>
          </a:p>
          <a:p>
            <a:pPr indent="284163">
              <a:spcBef>
                <a:spcPts val="1200"/>
              </a:spcBef>
            </a:pPr>
            <a:r>
              <a:rPr lang="en-US" sz="2200" dirty="0">
                <a:solidFill>
                  <a:schemeClr val="bg1"/>
                </a:solidFill>
              </a:rPr>
              <a:t>Example :</a:t>
            </a:r>
          </a:p>
          <a:p>
            <a:pPr indent="568325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&lt;</a:t>
            </a:r>
            <a:r>
              <a:rPr lang="en-US" sz="2200" dirty="0" err="1">
                <a:solidFill>
                  <a:srgbClr val="00B050"/>
                </a:solidFill>
              </a:rPr>
              <a:t>textarea</a:t>
            </a: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address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address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cols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10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rows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4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</a:p>
          <a:p>
            <a:pPr indent="520700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&lt;/</a:t>
            </a:r>
            <a:r>
              <a:rPr lang="en-US" sz="2200" dirty="0" err="1">
                <a:solidFill>
                  <a:srgbClr val="00B050"/>
                </a:solidFill>
              </a:rPr>
              <a:t>textarea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4399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Optional Attributes for text area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indent="173038"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dirty="0"/>
              <a:t> </a:t>
            </a:r>
            <a:r>
              <a:rPr lang="en-US" sz="2000" dirty="0"/>
              <a:t>Rows - Specifies the number of rows.</a:t>
            </a:r>
          </a:p>
          <a:p>
            <a:pPr indent="173038"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Cols -  Specifies the number of columns.</a:t>
            </a:r>
          </a:p>
          <a:p>
            <a:pPr indent="173038"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</a:t>
            </a:r>
            <a:r>
              <a:rPr lang="en-US" sz="2000" dirty="0" err="1"/>
              <a:t>Wrapoff</a:t>
            </a:r>
            <a:r>
              <a:rPr lang="en-US" sz="2000" dirty="0"/>
              <a:t>  - Turns off line breaking.</a:t>
            </a:r>
          </a:p>
          <a:p>
            <a:pPr indent="173038"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</a:t>
            </a:r>
            <a:r>
              <a:rPr lang="en-US" sz="2000" dirty="0" err="1"/>
              <a:t>Tabindex</a:t>
            </a:r>
            <a:r>
              <a:rPr lang="en-US" sz="2000" dirty="0"/>
              <a:t> - sets the tab order for the control.</a:t>
            </a:r>
          </a:p>
          <a:p>
            <a:pPr indent="173038"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Virtual - Shows line breaking, but sends text as entered.</a:t>
            </a:r>
          </a:p>
          <a:p>
            <a:pPr indent="173038"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Physical - Inserts line breaks when needed and even sends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45928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– Text Area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4" y="937520"/>
            <a:ext cx="8382000" cy="5720170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spcBef>
                <a:spcPts val="1200"/>
              </a:spcBef>
            </a:pPr>
            <a:r>
              <a:rPr lang="en-US" sz="2200" dirty="0"/>
              <a:t>Add the Address field to the registration form,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200" dirty="0"/>
              <a:t>Create a label username in registration.html</a:t>
            </a:r>
          </a:p>
          <a:p>
            <a:pPr marL="342900" indent="-106363">
              <a:spcBef>
                <a:spcPts val="1200"/>
              </a:spcBef>
            </a:pPr>
            <a:r>
              <a:rPr lang="en-US" sz="2200" dirty="0"/>
              <a:t>  </a:t>
            </a:r>
            <a:r>
              <a:rPr lang="en-US" sz="2200" dirty="0">
                <a:solidFill>
                  <a:srgbClr val="00B050"/>
                </a:solidFill>
              </a:rPr>
              <a:t> &lt;label&gt;</a:t>
            </a:r>
            <a:r>
              <a:rPr lang="en-US" sz="2200" dirty="0">
                <a:solidFill>
                  <a:srgbClr val="0070C0"/>
                </a:solidFill>
              </a:rPr>
              <a:t>Address</a:t>
            </a:r>
            <a:r>
              <a:rPr lang="en-US" sz="2200" dirty="0">
                <a:solidFill>
                  <a:srgbClr val="00B050"/>
                </a:solidFill>
              </a:rPr>
              <a:t>&lt;/label&gt;</a:t>
            </a:r>
          </a:p>
          <a:p>
            <a:pPr marL="342900" indent="-342900">
              <a:spcBef>
                <a:spcPts val="1200"/>
              </a:spcBef>
              <a:buAutoNum type="arabicPeriod" startAt="2"/>
            </a:pPr>
            <a:r>
              <a:rPr lang="en-US" sz="2200" dirty="0"/>
              <a:t>Create a text area in registration.html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&lt;</a:t>
            </a:r>
            <a:r>
              <a:rPr lang="en-US" sz="2200" dirty="0" err="1">
                <a:solidFill>
                  <a:srgbClr val="00B050"/>
                </a:solidFill>
              </a:rPr>
              <a:t>textarea</a:t>
            </a: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address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address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cols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10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rows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4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&lt;/</a:t>
            </a:r>
            <a:r>
              <a:rPr lang="en-US" sz="2200" dirty="0" err="1">
                <a:solidFill>
                  <a:srgbClr val="00B050"/>
                </a:solidFill>
              </a:rPr>
              <a:t>textarea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</a:p>
          <a:p>
            <a:pPr marL="342900" indent="-342900">
              <a:spcBef>
                <a:spcPts val="1200"/>
              </a:spcBef>
              <a:buAutoNum type="arabicPeriod" startAt="3"/>
            </a:pPr>
            <a:r>
              <a:rPr lang="en-US" sz="2200" dirty="0"/>
              <a:t>Set the </a:t>
            </a:r>
            <a:r>
              <a:rPr lang="en-US" sz="2200" dirty="0">
                <a:solidFill>
                  <a:srgbClr val="C00000"/>
                </a:solidFill>
              </a:rPr>
              <a:t>for </a:t>
            </a:r>
            <a:r>
              <a:rPr lang="en-US" sz="2200" dirty="0"/>
              <a:t>attribute of the label . The value should be the text area’s ID.</a:t>
            </a:r>
          </a:p>
          <a:p>
            <a:pPr marL="342900" indent="-342900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	&lt;label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C00000"/>
                </a:solidFill>
              </a:rPr>
              <a:t>for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address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  <a:r>
              <a:rPr lang="en-US" sz="2200" dirty="0">
                <a:solidFill>
                  <a:srgbClr val="0070C0"/>
                </a:solidFill>
              </a:rPr>
              <a:t>Address</a:t>
            </a:r>
            <a:r>
              <a:rPr lang="en-US" sz="2200" dirty="0">
                <a:solidFill>
                  <a:srgbClr val="00B050"/>
                </a:solidFill>
              </a:rPr>
              <a:t>&lt;/label&gt;</a:t>
            </a:r>
            <a:endParaRPr lang="en-US" sz="2200" dirty="0"/>
          </a:p>
          <a:p>
            <a:pPr marL="342900" indent="-342900">
              <a:spcBef>
                <a:spcPts val="1200"/>
              </a:spcBef>
              <a:buFontTx/>
              <a:buAutoNum type="arabicPeriod" startAt="3"/>
            </a:pPr>
            <a:r>
              <a:rPr lang="en-US" sz="2200" dirty="0"/>
              <a:t>Place the form fields inside a table tag, like</a:t>
            </a:r>
          </a:p>
          <a:p>
            <a:pPr marL="914400" lvl="1" indent="-457200">
              <a:spcBef>
                <a:spcPts val="0"/>
              </a:spcBef>
            </a:pPr>
            <a:r>
              <a:rPr lang="en-US" sz="2200" dirty="0"/>
              <a:t>&lt;</a:t>
            </a:r>
            <a:r>
              <a:rPr lang="en-US" sz="2200" dirty="0" err="1"/>
              <a:t>tr</a:t>
            </a:r>
            <a:r>
              <a:rPr lang="en-US" sz="2200" dirty="0"/>
              <a:t>&gt;</a:t>
            </a:r>
          </a:p>
          <a:p>
            <a:pPr marL="914400" lvl="1" indent="-457200">
              <a:spcBef>
                <a:spcPts val="0"/>
              </a:spcBef>
            </a:pPr>
            <a:r>
              <a:rPr lang="en-US" sz="2200" dirty="0"/>
              <a:t>		&lt;td&gt;   </a:t>
            </a:r>
            <a:r>
              <a:rPr lang="en-US" sz="2200" dirty="0">
                <a:solidFill>
                  <a:srgbClr val="00B050"/>
                </a:solidFill>
              </a:rPr>
              <a:t>&lt;label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C00000"/>
                </a:solidFill>
              </a:rPr>
              <a:t>for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address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  <a:r>
              <a:rPr lang="en-US" sz="2200" dirty="0">
                <a:solidFill>
                  <a:srgbClr val="0070C0"/>
                </a:solidFill>
              </a:rPr>
              <a:t>Address</a:t>
            </a:r>
            <a:r>
              <a:rPr lang="en-US" sz="2200" dirty="0">
                <a:solidFill>
                  <a:srgbClr val="00B050"/>
                </a:solidFill>
              </a:rPr>
              <a:t>&lt;/label&gt;</a:t>
            </a:r>
            <a:r>
              <a:rPr lang="en-US" sz="2200" dirty="0"/>
              <a:t>&lt;/td&gt;</a:t>
            </a:r>
          </a:p>
          <a:p>
            <a:pPr lvl="1" indent="346075">
              <a:spcBef>
                <a:spcPts val="1200"/>
              </a:spcBef>
            </a:pPr>
            <a:r>
              <a:rPr lang="en-US" sz="2200" dirty="0"/>
              <a:t>		&lt;td&gt;  </a:t>
            </a:r>
            <a:r>
              <a:rPr lang="en-US" sz="2200" dirty="0">
                <a:solidFill>
                  <a:srgbClr val="00B050"/>
                </a:solidFill>
              </a:rPr>
              <a:t>&lt;</a:t>
            </a:r>
            <a:r>
              <a:rPr lang="en-US" sz="2200" dirty="0" err="1">
                <a:solidFill>
                  <a:srgbClr val="00B050"/>
                </a:solidFill>
              </a:rPr>
              <a:t>textarea</a:t>
            </a: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address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address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cols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10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rows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4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</a:p>
          <a:p>
            <a:pPr lvl="1" indent="346075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&lt;/</a:t>
            </a:r>
            <a:r>
              <a:rPr lang="en-US" sz="2200" dirty="0" err="1">
                <a:solidFill>
                  <a:srgbClr val="00B050"/>
                </a:solidFill>
              </a:rPr>
              <a:t>textarea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</a:p>
          <a:p>
            <a:pPr marL="800100" lvl="1" indent="-342900">
              <a:spcBef>
                <a:spcPts val="0"/>
              </a:spcBef>
            </a:pPr>
            <a:r>
              <a:rPr lang="en-US" sz="2200" dirty="0"/>
              <a:t>&lt;/td&gt; &lt;/</a:t>
            </a:r>
            <a:r>
              <a:rPr lang="en-US" sz="2200" dirty="0" err="1"/>
              <a:t>tr</a:t>
            </a:r>
            <a:r>
              <a:rPr lang="en-US" sz="2200" dirty="0"/>
              <a:t>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5621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Check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3400" y="1143000"/>
            <a:ext cx="83058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b="0" dirty="0" smtClean="0"/>
          </a:p>
          <a:p>
            <a:r>
              <a:rPr lang="en-US" sz="2000" b="0" dirty="0" smtClean="0">
                <a:solidFill>
                  <a:schemeClr val="bg1"/>
                </a:solidFill>
              </a:rPr>
              <a:t>Check boxes are used when you want to let the visitor select</a:t>
            </a:r>
          </a:p>
          <a:p>
            <a:r>
              <a:rPr lang="en-US" sz="2000" b="0" dirty="0" smtClean="0">
                <a:solidFill>
                  <a:schemeClr val="bg1"/>
                </a:solidFill>
              </a:rPr>
              <a:t>one or more options from a set of alternatives. </a:t>
            </a:r>
          </a:p>
          <a:p>
            <a:endParaRPr lang="en-US" sz="2000" b="0" dirty="0">
              <a:solidFill>
                <a:schemeClr val="bg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33537" y="3124200"/>
            <a:ext cx="461486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682774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How To Create a Check box?</a:t>
            </a: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137831"/>
            <a:ext cx="8382000" cy="3891369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US" sz="2200" dirty="0"/>
              <a:t>To create a text box we use </a:t>
            </a:r>
            <a:r>
              <a:rPr lang="en-US" sz="2200" dirty="0">
                <a:solidFill>
                  <a:srgbClr val="00B050"/>
                </a:solidFill>
              </a:rPr>
              <a:t>&lt;input&gt; </a:t>
            </a:r>
            <a:r>
              <a:rPr lang="en-US" sz="2200" dirty="0"/>
              <a:t>tag</a:t>
            </a:r>
          </a:p>
          <a:p>
            <a:pPr indent="346075">
              <a:spcBef>
                <a:spcPts val="1200"/>
              </a:spcBef>
            </a:pPr>
            <a:r>
              <a:rPr lang="en-US" sz="2200" dirty="0"/>
              <a:t>Syntax :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&lt;input </a:t>
            </a:r>
            <a:r>
              <a:rPr lang="en-US" sz="2200" dirty="0">
                <a:solidFill>
                  <a:srgbClr val="C00000"/>
                </a:solidFill>
              </a:rPr>
              <a:t>type</a:t>
            </a:r>
            <a:r>
              <a:rPr lang="en-US" sz="2200" dirty="0"/>
              <a:t> =“</a:t>
            </a:r>
            <a:r>
              <a:rPr lang="en-US" sz="2200" dirty="0" err="1">
                <a:solidFill>
                  <a:srgbClr val="00B0F0"/>
                </a:solidFill>
              </a:rPr>
              <a:t>checkBox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Name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id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value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value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00B050"/>
                </a:solidFill>
              </a:rPr>
              <a:t>/&gt;</a:t>
            </a:r>
          </a:p>
          <a:p>
            <a:pPr indent="346075">
              <a:spcBef>
                <a:spcPts val="1200"/>
              </a:spcBef>
            </a:pPr>
            <a:endParaRPr lang="en-US" sz="2200" dirty="0">
              <a:solidFill>
                <a:srgbClr val="00B050"/>
              </a:solidFill>
            </a:endParaRPr>
          </a:p>
          <a:p>
            <a:pPr indent="346075">
              <a:spcBef>
                <a:spcPts val="1200"/>
              </a:spcBef>
            </a:pPr>
            <a:r>
              <a:rPr lang="en-US" sz="2200" dirty="0"/>
              <a:t>Example :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	&lt;input </a:t>
            </a:r>
            <a:r>
              <a:rPr lang="en-US" sz="2200" dirty="0">
                <a:solidFill>
                  <a:srgbClr val="C00000"/>
                </a:solidFill>
              </a:rPr>
              <a:t>type</a:t>
            </a:r>
            <a:r>
              <a:rPr lang="en-US" sz="2200" dirty="0"/>
              <a:t> =“</a:t>
            </a:r>
            <a:r>
              <a:rPr lang="en-US" sz="2200" dirty="0">
                <a:solidFill>
                  <a:srgbClr val="00B0F0"/>
                </a:solidFill>
              </a:rPr>
              <a:t>checkbox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>
                <a:solidFill>
                  <a:srgbClr val="00B0F0"/>
                </a:solidFill>
              </a:rPr>
              <a:t>=“language”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language1</a:t>
            </a:r>
            <a:r>
              <a:rPr lang="en-US" sz="2200" dirty="0"/>
              <a:t>” 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C00000"/>
                </a:solidFill>
              </a:rPr>
              <a:t>value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English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/&gt; </a:t>
            </a:r>
            <a:r>
              <a:rPr lang="en-US" sz="2200" dirty="0">
                <a:solidFill>
                  <a:srgbClr val="0070C0"/>
                </a:solidFill>
              </a:rPr>
              <a:t>English 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	&lt;input </a:t>
            </a:r>
            <a:r>
              <a:rPr lang="en-US" sz="2200" dirty="0">
                <a:solidFill>
                  <a:srgbClr val="C00000"/>
                </a:solidFill>
              </a:rPr>
              <a:t>type</a:t>
            </a:r>
            <a:r>
              <a:rPr lang="en-US" sz="2200" dirty="0"/>
              <a:t> =“</a:t>
            </a:r>
            <a:r>
              <a:rPr lang="en-US" sz="2200" dirty="0">
                <a:solidFill>
                  <a:srgbClr val="00B0F0"/>
                </a:solidFill>
              </a:rPr>
              <a:t>checkbox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>
                <a:solidFill>
                  <a:srgbClr val="00B0F0"/>
                </a:solidFill>
              </a:rPr>
              <a:t>=“language”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language2</a:t>
            </a:r>
            <a:r>
              <a:rPr lang="en-US" sz="2200" dirty="0"/>
              <a:t>” 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C00000"/>
                </a:solidFill>
              </a:rPr>
              <a:t>value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Tamil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/&gt; </a:t>
            </a:r>
            <a:r>
              <a:rPr lang="en-US" sz="2200" dirty="0">
                <a:solidFill>
                  <a:srgbClr val="0070C0"/>
                </a:solidFill>
              </a:rPr>
              <a:t>Tamil</a:t>
            </a:r>
            <a:endParaRPr lang="en-US" sz="22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5638801"/>
            <a:ext cx="8458200" cy="646331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320019"/>
                </a:solidFill>
              </a:rPr>
              <a:t>NOTE: </a:t>
            </a:r>
            <a:r>
              <a:rPr lang="en-US" b="0" dirty="0" smtClean="0">
                <a:solidFill>
                  <a:srgbClr val="320019"/>
                </a:solidFill>
              </a:rPr>
              <a:t> All the check boxes should belong to the same group this is done by specifying the same name. </a:t>
            </a:r>
            <a:r>
              <a:rPr lang="en-US" dirty="0" smtClean="0">
                <a:solidFill>
                  <a:srgbClr val="320019"/>
                </a:solidFill>
              </a:rPr>
              <a:t>Example: </a:t>
            </a:r>
            <a:r>
              <a:rPr lang="en-US" b="0" dirty="0" smtClean="0">
                <a:solidFill>
                  <a:srgbClr val="320019"/>
                </a:solidFill>
              </a:rPr>
              <a:t>“Language”.</a:t>
            </a:r>
            <a:endParaRPr lang="en-US" dirty="0">
              <a:solidFill>
                <a:srgbClr val="3200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8454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Optional Attributes for check box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Checked - Default check this field </a:t>
            </a:r>
          </a:p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</a:t>
            </a:r>
            <a:r>
              <a:rPr lang="en-US" sz="2000" dirty="0" err="1"/>
              <a:t>Tabindex</a:t>
            </a:r>
            <a:r>
              <a:rPr lang="en-US" sz="2000" dirty="0"/>
              <a:t> - Sets the tab order for the control.</a:t>
            </a:r>
          </a:p>
          <a:p>
            <a:pPr>
              <a:spcBef>
                <a:spcPts val="1800"/>
              </a:spcBef>
              <a:spcAft>
                <a:spcPts val="1200"/>
              </a:spcAft>
              <a:buFont typeface="Wingdings" pitchFamily="2" charset="2"/>
              <a:buChar char="§"/>
            </a:pPr>
            <a:r>
              <a:rPr lang="en-US" sz="2000" dirty="0"/>
              <a:t> Value - Value that is submitted if checked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45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Drop Down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/>
              <a:t>Drop-down menus can serve the same purpose as radio buttons (one selection only) or check boxes (multiple selections allowed).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The advantage of a drop-down menu, compared to radio buttons or check boxes, is that it takes up less space.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200400"/>
            <a:ext cx="3934479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5145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to create a Drop Down Menu?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050" y="1371600"/>
            <a:ext cx="728353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236538">
              <a:spcBef>
                <a:spcPts val="1200"/>
              </a:spcBef>
            </a:pPr>
            <a:r>
              <a:rPr lang="en-US" sz="2000" b="0" dirty="0" smtClean="0">
                <a:solidFill>
                  <a:schemeClr val="bg1"/>
                </a:solidFill>
              </a:rPr>
              <a:t>To create a text area we use the &lt;select&gt; tag. Each option is</a:t>
            </a:r>
          </a:p>
          <a:p>
            <a:pPr indent="236538">
              <a:spcBef>
                <a:spcPts val="1200"/>
              </a:spcBef>
            </a:pPr>
            <a:r>
              <a:rPr lang="en-US" sz="2000" b="0" dirty="0" smtClean="0">
                <a:solidFill>
                  <a:schemeClr val="bg1"/>
                </a:solidFill>
              </a:rPr>
              <a:t>declared inside the &lt;option&gt; tag.</a:t>
            </a:r>
            <a:endParaRPr lang="en-US" sz="2000" b="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8600" y="2514600"/>
            <a:ext cx="3929281" cy="3816429"/>
          </a:xfrm>
          <a:prstGeom prst="rect">
            <a:avLst/>
          </a:prstGeom>
          <a:solidFill>
            <a:srgbClr val="FFFF00">
              <a:alpha val="16000"/>
            </a:srgbClr>
          </a:solidFill>
        </p:spPr>
        <p:txBody>
          <a:bodyPr wrap="none" rtlCol="0">
            <a:spAutoFit/>
          </a:bodyPr>
          <a:lstStyle/>
          <a:p>
            <a:pPr indent="236538">
              <a:spcBef>
                <a:spcPts val="1200"/>
              </a:spcBef>
            </a:pPr>
            <a:r>
              <a:rPr lang="en-US" dirty="0" smtClean="0"/>
              <a:t>Syntax:</a:t>
            </a:r>
          </a:p>
          <a:p>
            <a:pPr indent="393700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 &lt;select </a:t>
            </a:r>
            <a:r>
              <a:rPr lang="en-US" b="0" dirty="0" smtClean="0">
                <a:solidFill>
                  <a:srgbClr val="C00000"/>
                </a:solidFill>
              </a:rPr>
              <a:t>name</a:t>
            </a:r>
            <a:r>
              <a:rPr lang="en-US" b="0" dirty="0" smtClean="0">
                <a:solidFill>
                  <a:srgbClr val="00B050"/>
                </a:solidFill>
              </a:rPr>
              <a:t>=“</a:t>
            </a:r>
            <a:r>
              <a:rPr lang="en-US" b="0" dirty="0" smtClean="0">
                <a:solidFill>
                  <a:srgbClr val="00B0F0"/>
                </a:solidFill>
              </a:rPr>
              <a:t>name</a:t>
            </a:r>
            <a:r>
              <a:rPr lang="en-US" b="0" dirty="0" smtClean="0">
                <a:solidFill>
                  <a:srgbClr val="00B050"/>
                </a:solidFill>
              </a:rPr>
              <a:t>” </a:t>
            </a:r>
            <a:r>
              <a:rPr lang="en-US" b="0" dirty="0" smtClean="0">
                <a:solidFill>
                  <a:srgbClr val="C00000"/>
                </a:solidFill>
              </a:rPr>
              <a:t>id</a:t>
            </a:r>
            <a:r>
              <a:rPr lang="en-US" b="0" dirty="0" smtClean="0">
                <a:solidFill>
                  <a:srgbClr val="00B050"/>
                </a:solidFill>
              </a:rPr>
              <a:t>=“</a:t>
            </a:r>
            <a:r>
              <a:rPr lang="en-US" b="0" dirty="0" smtClean="0">
                <a:solidFill>
                  <a:srgbClr val="00B0F0"/>
                </a:solidFill>
              </a:rPr>
              <a:t>id</a:t>
            </a:r>
            <a:r>
              <a:rPr lang="en-US" b="0" dirty="0" smtClean="0">
                <a:solidFill>
                  <a:srgbClr val="00B050"/>
                </a:solidFill>
              </a:rPr>
              <a:t>” &gt;</a:t>
            </a:r>
          </a:p>
          <a:p>
            <a:pPr indent="741363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&lt;option </a:t>
            </a:r>
            <a:r>
              <a:rPr lang="en-US" b="0" dirty="0" smtClean="0">
                <a:solidFill>
                  <a:srgbClr val="C00000"/>
                </a:solidFill>
              </a:rPr>
              <a:t>value</a:t>
            </a:r>
            <a:r>
              <a:rPr lang="en-US" b="0" dirty="0" smtClean="0">
                <a:solidFill>
                  <a:srgbClr val="00B050"/>
                </a:solidFill>
              </a:rPr>
              <a:t>=“</a:t>
            </a:r>
            <a:r>
              <a:rPr lang="en-US" b="0" dirty="0" smtClean="0">
                <a:solidFill>
                  <a:srgbClr val="00B0F0"/>
                </a:solidFill>
              </a:rPr>
              <a:t>value</a:t>
            </a:r>
            <a:r>
              <a:rPr lang="en-US" b="0" dirty="0" smtClean="0">
                <a:solidFill>
                  <a:srgbClr val="00B050"/>
                </a:solidFill>
              </a:rPr>
              <a:t>”&gt;</a:t>
            </a:r>
          </a:p>
          <a:p>
            <a:pPr indent="914400">
              <a:spcBef>
                <a:spcPts val="1200"/>
              </a:spcBef>
            </a:pPr>
            <a:r>
              <a:rPr lang="en-US" b="0" dirty="0" smtClean="0">
                <a:solidFill>
                  <a:srgbClr val="0070C0"/>
                </a:solidFill>
              </a:rPr>
              <a:t>Option1</a:t>
            </a:r>
          </a:p>
          <a:p>
            <a:pPr indent="741363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&lt;/option&gt;</a:t>
            </a:r>
          </a:p>
          <a:p>
            <a:pPr indent="741363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&lt;option </a:t>
            </a:r>
            <a:r>
              <a:rPr lang="en-US" b="0" dirty="0" smtClean="0">
                <a:solidFill>
                  <a:srgbClr val="C00000"/>
                </a:solidFill>
              </a:rPr>
              <a:t>value</a:t>
            </a:r>
            <a:r>
              <a:rPr lang="en-US" b="0" dirty="0" smtClean="0">
                <a:solidFill>
                  <a:srgbClr val="00B050"/>
                </a:solidFill>
              </a:rPr>
              <a:t>=“</a:t>
            </a:r>
            <a:r>
              <a:rPr lang="en-US" b="0" dirty="0" smtClean="0">
                <a:solidFill>
                  <a:srgbClr val="00B0F0"/>
                </a:solidFill>
              </a:rPr>
              <a:t>value</a:t>
            </a:r>
            <a:r>
              <a:rPr lang="en-US" b="0" dirty="0" smtClean="0">
                <a:solidFill>
                  <a:srgbClr val="00B050"/>
                </a:solidFill>
              </a:rPr>
              <a:t>”&gt;</a:t>
            </a:r>
          </a:p>
          <a:p>
            <a:pPr indent="914400">
              <a:spcBef>
                <a:spcPts val="1200"/>
              </a:spcBef>
            </a:pPr>
            <a:r>
              <a:rPr lang="en-US" b="0" dirty="0" smtClean="0">
                <a:solidFill>
                  <a:srgbClr val="0070C0"/>
                </a:solidFill>
              </a:rPr>
              <a:t>Option2</a:t>
            </a:r>
          </a:p>
          <a:p>
            <a:pPr indent="741363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&lt;option&gt;</a:t>
            </a:r>
          </a:p>
          <a:p>
            <a:pPr indent="457200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 &lt;/select&gt;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495800" y="2438400"/>
            <a:ext cx="4557658" cy="3816429"/>
          </a:xfrm>
          <a:prstGeom prst="rect">
            <a:avLst/>
          </a:prstGeom>
          <a:solidFill>
            <a:srgbClr val="FFFF00">
              <a:alpha val="16000"/>
            </a:srgbClr>
          </a:solidFill>
        </p:spPr>
        <p:txBody>
          <a:bodyPr wrap="none" rtlCol="0">
            <a:spAutoFit/>
          </a:bodyPr>
          <a:lstStyle/>
          <a:p>
            <a:pPr indent="236538">
              <a:spcBef>
                <a:spcPts val="1200"/>
              </a:spcBef>
            </a:pPr>
            <a:r>
              <a:rPr lang="en-US" dirty="0" smtClean="0"/>
              <a:t>Example :</a:t>
            </a:r>
          </a:p>
          <a:p>
            <a:pPr indent="393700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 &lt;select </a:t>
            </a:r>
            <a:r>
              <a:rPr lang="en-US" b="0" dirty="0" smtClean="0">
                <a:solidFill>
                  <a:srgbClr val="C00000"/>
                </a:solidFill>
              </a:rPr>
              <a:t>name</a:t>
            </a:r>
            <a:r>
              <a:rPr lang="en-US" b="0" dirty="0" smtClean="0">
                <a:solidFill>
                  <a:srgbClr val="00B050"/>
                </a:solidFill>
              </a:rPr>
              <a:t>=“</a:t>
            </a:r>
            <a:r>
              <a:rPr lang="en-US" b="0" dirty="0" smtClean="0">
                <a:solidFill>
                  <a:srgbClr val="00B0F0"/>
                </a:solidFill>
              </a:rPr>
              <a:t>country</a:t>
            </a:r>
            <a:r>
              <a:rPr lang="en-US" b="0" dirty="0" smtClean="0">
                <a:solidFill>
                  <a:srgbClr val="00B050"/>
                </a:solidFill>
              </a:rPr>
              <a:t>” </a:t>
            </a:r>
            <a:r>
              <a:rPr lang="en-US" b="0" dirty="0" smtClean="0">
                <a:solidFill>
                  <a:srgbClr val="C00000"/>
                </a:solidFill>
              </a:rPr>
              <a:t>id</a:t>
            </a:r>
            <a:r>
              <a:rPr lang="en-US" b="0" dirty="0" smtClean="0">
                <a:solidFill>
                  <a:srgbClr val="00B050"/>
                </a:solidFill>
              </a:rPr>
              <a:t>=“</a:t>
            </a:r>
            <a:r>
              <a:rPr lang="en-US" b="0" dirty="0" smtClean="0">
                <a:solidFill>
                  <a:srgbClr val="00B0F0"/>
                </a:solidFill>
              </a:rPr>
              <a:t>country</a:t>
            </a:r>
            <a:r>
              <a:rPr lang="en-US" b="0" dirty="0" smtClean="0">
                <a:solidFill>
                  <a:srgbClr val="00B050"/>
                </a:solidFill>
              </a:rPr>
              <a:t>” &gt;</a:t>
            </a:r>
          </a:p>
          <a:p>
            <a:pPr indent="741363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&lt;option </a:t>
            </a:r>
            <a:r>
              <a:rPr lang="en-US" b="0" dirty="0" smtClean="0">
                <a:solidFill>
                  <a:srgbClr val="C00000"/>
                </a:solidFill>
              </a:rPr>
              <a:t>value</a:t>
            </a:r>
            <a:r>
              <a:rPr lang="en-US" b="0" dirty="0" smtClean="0">
                <a:solidFill>
                  <a:srgbClr val="00B050"/>
                </a:solidFill>
              </a:rPr>
              <a:t>=“</a:t>
            </a:r>
            <a:r>
              <a:rPr lang="en-US" b="0" dirty="0" smtClean="0">
                <a:solidFill>
                  <a:srgbClr val="00B0F0"/>
                </a:solidFill>
              </a:rPr>
              <a:t>1</a:t>
            </a:r>
            <a:r>
              <a:rPr lang="en-US" b="0" dirty="0" smtClean="0">
                <a:solidFill>
                  <a:srgbClr val="00B050"/>
                </a:solidFill>
              </a:rPr>
              <a:t>” &gt;</a:t>
            </a:r>
          </a:p>
          <a:p>
            <a:pPr indent="914400">
              <a:spcBef>
                <a:spcPts val="1200"/>
              </a:spcBef>
            </a:pPr>
            <a:r>
              <a:rPr lang="en-US" b="0" dirty="0" smtClean="0">
                <a:solidFill>
                  <a:srgbClr val="0070C0"/>
                </a:solidFill>
              </a:rPr>
              <a:t>India</a:t>
            </a:r>
          </a:p>
          <a:p>
            <a:pPr indent="741363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&lt;/option&gt;</a:t>
            </a:r>
          </a:p>
          <a:p>
            <a:pPr indent="741363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&lt;option </a:t>
            </a:r>
            <a:r>
              <a:rPr lang="en-US" b="0" dirty="0" smtClean="0">
                <a:solidFill>
                  <a:srgbClr val="C00000"/>
                </a:solidFill>
              </a:rPr>
              <a:t>value</a:t>
            </a:r>
            <a:r>
              <a:rPr lang="en-US" b="0" dirty="0" smtClean="0">
                <a:solidFill>
                  <a:srgbClr val="00B050"/>
                </a:solidFill>
              </a:rPr>
              <a:t>=“</a:t>
            </a:r>
            <a:r>
              <a:rPr lang="en-US" b="0" dirty="0" smtClean="0">
                <a:solidFill>
                  <a:srgbClr val="00B0F0"/>
                </a:solidFill>
              </a:rPr>
              <a:t>2</a:t>
            </a:r>
            <a:r>
              <a:rPr lang="en-US" b="0" dirty="0" smtClean="0">
                <a:solidFill>
                  <a:srgbClr val="00B050"/>
                </a:solidFill>
              </a:rPr>
              <a:t>”&gt;</a:t>
            </a:r>
          </a:p>
          <a:p>
            <a:pPr indent="914400">
              <a:spcBef>
                <a:spcPts val="1200"/>
              </a:spcBef>
            </a:pPr>
            <a:r>
              <a:rPr lang="en-US" b="0" dirty="0" smtClean="0">
                <a:solidFill>
                  <a:srgbClr val="0070C0"/>
                </a:solidFill>
              </a:rPr>
              <a:t>Australia</a:t>
            </a:r>
          </a:p>
          <a:p>
            <a:pPr indent="741363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&lt;option&gt;</a:t>
            </a:r>
          </a:p>
          <a:p>
            <a:pPr indent="457200">
              <a:spcBef>
                <a:spcPts val="1200"/>
              </a:spcBef>
            </a:pPr>
            <a:r>
              <a:rPr lang="en-US" b="0" dirty="0" smtClean="0">
                <a:solidFill>
                  <a:srgbClr val="00B050"/>
                </a:solidFill>
              </a:rPr>
              <a:t> &lt;/select&gt;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3679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– Drop down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4" y="937520"/>
            <a:ext cx="8382000" cy="5643970"/>
          </a:xfrm>
        </p:spPr>
        <p:txBody>
          <a:bodyPr>
            <a:noAutofit/>
          </a:bodyPr>
          <a:lstStyle/>
          <a:p>
            <a:pPr marL="342900" indent="-342900">
              <a:spcBef>
                <a:spcPts val="1200"/>
              </a:spcBef>
            </a:pPr>
            <a:r>
              <a:rPr lang="en-US" sz="2000" dirty="0"/>
              <a:t>Add the Drop down menu to the registration form,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/>
              <a:t>Create a label username in registration.html</a:t>
            </a:r>
          </a:p>
          <a:p>
            <a:pPr marL="342900" indent="-342900">
              <a:spcBef>
                <a:spcPts val="1200"/>
              </a:spcBef>
            </a:pPr>
            <a:r>
              <a:rPr lang="en-US" sz="2000" dirty="0"/>
              <a:t>  </a:t>
            </a:r>
            <a:r>
              <a:rPr lang="en-US" sz="2000" dirty="0">
                <a:solidFill>
                  <a:srgbClr val="00B050"/>
                </a:solidFill>
              </a:rPr>
              <a:t> &lt;label&gt;</a:t>
            </a:r>
            <a:r>
              <a:rPr lang="en-US" sz="2000" dirty="0">
                <a:solidFill>
                  <a:srgbClr val="0070C0"/>
                </a:solidFill>
              </a:rPr>
              <a:t>Country</a:t>
            </a:r>
            <a:r>
              <a:rPr lang="en-US" sz="2000" dirty="0">
                <a:solidFill>
                  <a:srgbClr val="00B050"/>
                </a:solidFill>
              </a:rPr>
              <a:t>&lt;/label&gt;</a:t>
            </a:r>
          </a:p>
          <a:p>
            <a:pPr marL="342900" indent="-342900">
              <a:spcBef>
                <a:spcPts val="1200"/>
              </a:spcBef>
              <a:buAutoNum type="arabicPeriod" startAt="2"/>
            </a:pPr>
            <a:r>
              <a:rPr lang="en-US" sz="2000" dirty="0"/>
              <a:t>Create a drop down menu in registration.html</a:t>
            </a:r>
          </a:p>
          <a:p>
            <a:pPr indent="393700">
              <a:spcBef>
                <a:spcPts val="1200"/>
              </a:spcBef>
            </a:pPr>
            <a:r>
              <a:rPr lang="en-US" sz="2000" dirty="0"/>
              <a:t> </a:t>
            </a:r>
            <a:r>
              <a:rPr lang="en-US" sz="2000" dirty="0">
                <a:solidFill>
                  <a:srgbClr val="00B050"/>
                </a:solidFill>
              </a:rPr>
              <a:t>&lt;select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>
                <a:solidFill>
                  <a:srgbClr val="00B0F0"/>
                </a:solidFill>
              </a:rPr>
              <a:t>country</a:t>
            </a:r>
            <a:r>
              <a:rPr lang="en-US" sz="2000" dirty="0">
                <a:solidFill>
                  <a:srgbClr val="00B050"/>
                </a:solidFill>
              </a:rPr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>
                <a:solidFill>
                  <a:srgbClr val="00B0F0"/>
                </a:solidFill>
              </a:rPr>
              <a:t>country</a:t>
            </a:r>
            <a:r>
              <a:rPr lang="en-US" sz="2000" dirty="0">
                <a:solidFill>
                  <a:srgbClr val="00B050"/>
                </a:solidFill>
              </a:rPr>
              <a:t>” &gt;</a:t>
            </a:r>
          </a:p>
          <a:p>
            <a:pPr indent="741363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&lt;option </a:t>
            </a: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>
                <a:solidFill>
                  <a:srgbClr val="00B0F0"/>
                </a:solidFill>
              </a:rPr>
              <a:t>1</a:t>
            </a:r>
            <a:r>
              <a:rPr lang="en-US" sz="2000" dirty="0">
                <a:solidFill>
                  <a:srgbClr val="00B050"/>
                </a:solidFill>
              </a:rPr>
              <a:t>” &gt;</a:t>
            </a:r>
            <a:r>
              <a:rPr lang="en-US" sz="2000" dirty="0">
                <a:solidFill>
                  <a:srgbClr val="0070C0"/>
                </a:solidFill>
              </a:rPr>
              <a:t>India</a:t>
            </a:r>
            <a:r>
              <a:rPr lang="en-US" sz="2000" dirty="0">
                <a:solidFill>
                  <a:srgbClr val="00B050"/>
                </a:solidFill>
              </a:rPr>
              <a:t>&lt;/option&gt;</a:t>
            </a:r>
          </a:p>
          <a:p>
            <a:pPr indent="741363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&lt;option </a:t>
            </a: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>
                <a:solidFill>
                  <a:srgbClr val="00B0F0"/>
                </a:solidFill>
              </a:rPr>
              <a:t>2</a:t>
            </a:r>
            <a:r>
              <a:rPr lang="en-US" sz="2000" dirty="0">
                <a:solidFill>
                  <a:srgbClr val="00B050"/>
                </a:solidFill>
              </a:rPr>
              <a:t>”&gt;</a:t>
            </a:r>
            <a:r>
              <a:rPr lang="en-US" sz="2000" dirty="0">
                <a:solidFill>
                  <a:srgbClr val="0070C0"/>
                </a:solidFill>
              </a:rPr>
              <a:t>Australia</a:t>
            </a:r>
            <a:r>
              <a:rPr lang="en-US" sz="2000" dirty="0">
                <a:solidFill>
                  <a:srgbClr val="00B050"/>
                </a:solidFill>
              </a:rPr>
              <a:t>&lt;option&gt;</a:t>
            </a:r>
          </a:p>
          <a:p>
            <a:pPr marL="520700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&lt;option </a:t>
            </a: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>
                <a:solidFill>
                  <a:srgbClr val="00B0F0"/>
                </a:solidFill>
              </a:rPr>
              <a:t>3” </a:t>
            </a:r>
            <a:r>
              <a:rPr lang="en-US" sz="2000" dirty="0">
                <a:solidFill>
                  <a:srgbClr val="C00000"/>
                </a:solidFill>
              </a:rPr>
              <a:t>selected</a:t>
            </a:r>
            <a:r>
              <a:rPr lang="en-US" sz="2000" dirty="0">
                <a:solidFill>
                  <a:srgbClr val="00B050"/>
                </a:solidFill>
              </a:rPr>
              <a:t>=“</a:t>
            </a:r>
            <a:r>
              <a:rPr lang="en-US" sz="2000" dirty="0">
                <a:solidFill>
                  <a:srgbClr val="00B0F0"/>
                </a:solidFill>
              </a:rPr>
              <a:t>selected” 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  <a:r>
              <a:rPr lang="en-US" sz="2000" dirty="0" err="1">
                <a:solidFill>
                  <a:srgbClr val="0070C0"/>
                </a:solidFill>
              </a:rPr>
              <a:t>SriLanka</a:t>
            </a:r>
            <a:r>
              <a:rPr lang="en-US" sz="2000" dirty="0">
                <a:solidFill>
                  <a:srgbClr val="00B050"/>
                </a:solidFill>
              </a:rPr>
              <a:t>&lt;option&gt;</a:t>
            </a:r>
          </a:p>
          <a:p>
            <a:pPr marL="520700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 &lt;/select&gt;</a:t>
            </a:r>
          </a:p>
          <a:p>
            <a:pPr marL="346075" indent="-346075">
              <a:spcBef>
                <a:spcPts val="1200"/>
              </a:spcBef>
              <a:buFont typeface="+mj-lt"/>
              <a:buAutoNum type="arabicPeriod" startAt="3"/>
            </a:pPr>
            <a:r>
              <a:rPr lang="en-US" sz="2000" dirty="0"/>
              <a:t> Place the form fields inside a table tag, like</a:t>
            </a:r>
          </a:p>
          <a:p>
            <a:pPr marL="803275" lvl="1" indent="-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</a:t>
            </a:r>
            <a:r>
              <a:rPr lang="en-US" sz="2000" dirty="0" err="1">
                <a:solidFill>
                  <a:srgbClr val="00B050"/>
                </a:solidFill>
              </a:rPr>
              <a:t>tr</a:t>
            </a:r>
            <a:r>
              <a:rPr lang="en-US" sz="2000" dirty="0">
                <a:solidFill>
                  <a:srgbClr val="00B050"/>
                </a:solidFill>
              </a:rPr>
              <a:t>&gt;&lt;td &gt;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B050"/>
                </a:solidFill>
              </a:rPr>
              <a:t> &lt;label&gt;</a:t>
            </a:r>
            <a:r>
              <a:rPr lang="en-US" sz="2000" dirty="0">
                <a:solidFill>
                  <a:srgbClr val="0070C0"/>
                </a:solidFill>
              </a:rPr>
              <a:t>Country</a:t>
            </a:r>
            <a:r>
              <a:rPr lang="en-US" sz="2000" dirty="0">
                <a:solidFill>
                  <a:srgbClr val="00B050"/>
                </a:solidFill>
              </a:rPr>
              <a:t>&lt;/label&gt; &lt;/td&gt;</a:t>
            </a:r>
          </a:p>
          <a:p>
            <a:pPr marL="803275" lvl="1" indent="-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&lt;td &gt; </a:t>
            </a:r>
            <a:r>
              <a:rPr lang="en-US" sz="2000" dirty="0">
                <a:solidFill>
                  <a:schemeClr val="tx2"/>
                </a:solidFill>
              </a:rPr>
              <a:t>The drop down code snippet in point # 2  goes in here</a:t>
            </a:r>
            <a:r>
              <a:rPr lang="en-US" sz="2000" dirty="0">
                <a:solidFill>
                  <a:srgbClr val="00B050"/>
                </a:solidFill>
              </a:rPr>
              <a:t>&lt;/td&gt;</a:t>
            </a:r>
          </a:p>
          <a:p>
            <a:pPr marL="803275" lvl="1" indent="-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&lt;/</a:t>
            </a:r>
            <a:r>
              <a:rPr lang="en-US" sz="2000" dirty="0" err="1">
                <a:solidFill>
                  <a:srgbClr val="00B050"/>
                </a:solidFill>
              </a:rPr>
              <a:t>tr</a:t>
            </a:r>
            <a:r>
              <a:rPr lang="en-US" sz="2000" dirty="0">
                <a:solidFill>
                  <a:srgbClr val="00B050"/>
                </a:solidFill>
              </a:rPr>
              <a:t>&gt;</a:t>
            </a:r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853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Radio Button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Radio buttons are used when you want to let the visitor select one </a:t>
            </a:r>
          </a:p>
          <a:p>
            <a:r>
              <a:rPr lang="en-US" sz="2000" dirty="0"/>
              <a:t>and just one option from a set of alternatives.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5200" y="2895600"/>
            <a:ext cx="3632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820418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To Create a radio button?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US" sz="2000" dirty="0"/>
              <a:t>To create a text box we use </a:t>
            </a:r>
            <a:r>
              <a:rPr lang="en-US" sz="2000" dirty="0">
                <a:solidFill>
                  <a:srgbClr val="00B050"/>
                </a:solidFill>
              </a:rPr>
              <a:t>&lt;input&gt; </a:t>
            </a:r>
            <a:r>
              <a:rPr lang="en-US" sz="2000" dirty="0"/>
              <a:t>tag</a:t>
            </a:r>
          </a:p>
          <a:p>
            <a:pPr>
              <a:spcBef>
                <a:spcPts val="1200"/>
              </a:spcBef>
            </a:pPr>
            <a:endParaRPr lang="en-US" sz="2000" dirty="0"/>
          </a:p>
          <a:p>
            <a:pPr indent="346075">
              <a:spcBef>
                <a:spcPts val="1200"/>
              </a:spcBef>
            </a:pPr>
            <a:r>
              <a:rPr lang="en-US" sz="2000" dirty="0"/>
              <a:t>Syntax :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	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 =“</a:t>
            </a:r>
            <a:r>
              <a:rPr lang="en-US" sz="2000" dirty="0">
                <a:solidFill>
                  <a:srgbClr val="00B0F0"/>
                </a:solidFill>
              </a:rPr>
              <a:t>radio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name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id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</a:p>
          <a:p>
            <a:pPr indent="346075">
              <a:spcBef>
                <a:spcPts val="1200"/>
              </a:spcBef>
            </a:pPr>
            <a:endParaRPr lang="en-US" sz="2000" dirty="0">
              <a:solidFill>
                <a:srgbClr val="00B050"/>
              </a:solidFill>
            </a:endParaRPr>
          </a:p>
          <a:p>
            <a:pPr indent="346075">
              <a:spcBef>
                <a:spcPts val="1200"/>
              </a:spcBef>
            </a:pPr>
            <a:r>
              <a:rPr lang="en-US" sz="2000" dirty="0"/>
              <a:t>Example :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	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 =“</a:t>
            </a:r>
            <a:r>
              <a:rPr lang="en-US" sz="2000" dirty="0">
                <a:solidFill>
                  <a:srgbClr val="00B0F0"/>
                </a:solidFill>
              </a:rPr>
              <a:t>radio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gender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male</a:t>
            </a:r>
            <a:r>
              <a:rPr lang="en-US" sz="2000" dirty="0"/>
              <a:t>” 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C00000"/>
                </a:solidFill>
              </a:rPr>
              <a:t>		value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Male</a:t>
            </a:r>
            <a:r>
              <a:rPr lang="en-US" sz="2000" dirty="0"/>
              <a:t>”</a:t>
            </a:r>
            <a:r>
              <a:rPr lang="en-US" sz="2000" dirty="0">
                <a:solidFill>
                  <a:srgbClr val="00B050"/>
                </a:solidFill>
              </a:rPr>
              <a:t>/&gt; </a:t>
            </a:r>
            <a:r>
              <a:rPr lang="en-US" sz="2000" dirty="0">
                <a:solidFill>
                  <a:srgbClr val="0070C0"/>
                </a:solidFill>
              </a:rPr>
              <a:t>Male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	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 =“</a:t>
            </a:r>
            <a:r>
              <a:rPr lang="en-US" sz="2000" dirty="0">
                <a:solidFill>
                  <a:srgbClr val="00B0F0"/>
                </a:solidFill>
              </a:rPr>
              <a:t>radio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gender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female</a:t>
            </a:r>
            <a:r>
              <a:rPr lang="en-US" sz="2000" dirty="0"/>
              <a:t>” </a:t>
            </a:r>
          </a:p>
          <a:p>
            <a:pPr indent="346075">
              <a:spcBef>
                <a:spcPts val="1200"/>
              </a:spcBef>
            </a:pPr>
            <a:r>
              <a:rPr lang="en-US" sz="2000" dirty="0">
                <a:solidFill>
                  <a:srgbClr val="C00000"/>
                </a:solidFill>
              </a:rPr>
              <a:t>		value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female</a:t>
            </a:r>
            <a:r>
              <a:rPr lang="en-US" sz="2000" dirty="0"/>
              <a:t>”</a:t>
            </a:r>
            <a:r>
              <a:rPr lang="en-US" sz="2000" dirty="0">
                <a:solidFill>
                  <a:srgbClr val="00B050"/>
                </a:solidFill>
              </a:rPr>
              <a:t>/&gt; </a:t>
            </a:r>
            <a:r>
              <a:rPr lang="en-US" sz="2000" dirty="0">
                <a:solidFill>
                  <a:srgbClr val="0070C0"/>
                </a:solidFill>
              </a:rPr>
              <a:t>Female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1612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Tips in Using Radio Button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25000" lnSpcReduction="20000"/>
          </a:bodyPr>
          <a:lstStyle/>
          <a:p>
            <a:pPr indent="2365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8000" dirty="0"/>
              <a:t>In a radio button group, all the buttons should be given the same name </a:t>
            </a:r>
            <a:r>
              <a:rPr lang="en-US" sz="8000" dirty="0" smtClean="0"/>
              <a:t>to make </a:t>
            </a:r>
            <a:r>
              <a:rPr lang="en-US" sz="8000" dirty="0"/>
              <a:t>only one button in the group getting selected. Else all the buttons can be </a:t>
            </a:r>
            <a:r>
              <a:rPr lang="en-US" sz="8000" dirty="0" smtClean="0"/>
              <a:t>selected  </a:t>
            </a:r>
            <a:r>
              <a:rPr lang="en-US" sz="8000" dirty="0"/>
              <a:t>which does not serve the purpose of using radio button.</a:t>
            </a:r>
          </a:p>
          <a:p>
            <a:pPr indent="236538">
              <a:spcBef>
                <a:spcPts val="1200"/>
              </a:spcBef>
            </a:pPr>
            <a:endParaRPr lang="en-US" sz="6200" dirty="0"/>
          </a:p>
          <a:p>
            <a:pPr indent="2365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8000" dirty="0"/>
              <a:t>The value attribute will be send to the server on page submit. It will not get </a:t>
            </a:r>
            <a:r>
              <a:rPr lang="en-US" sz="8000" dirty="0" smtClean="0"/>
              <a:t>printed </a:t>
            </a:r>
            <a:r>
              <a:rPr lang="en-US" sz="8000" dirty="0"/>
              <a:t>in the html page. To display any text next to the radio button print it as </a:t>
            </a:r>
            <a:r>
              <a:rPr lang="en-US" sz="8000" dirty="0" smtClean="0"/>
              <a:t>normal </a:t>
            </a:r>
            <a:r>
              <a:rPr lang="en-US" sz="8000" dirty="0"/>
              <a:t>text or using the label tag. </a:t>
            </a:r>
          </a:p>
          <a:p>
            <a:pPr indent="236538">
              <a:spcBef>
                <a:spcPts val="1200"/>
              </a:spcBef>
              <a:buFont typeface="Wingdings" pitchFamily="2" charset="2"/>
              <a:buChar char="§"/>
            </a:pPr>
            <a:endParaRPr lang="en-US" sz="8000" dirty="0"/>
          </a:p>
          <a:p>
            <a:pPr indent="2365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8000" dirty="0"/>
              <a:t>When a label tag is set for a radio button clicking the label enables the </a:t>
            </a:r>
            <a:r>
              <a:rPr lang="en-US" sz="8000" dirty="0" smtClean="0"/>
              <a:t>corresponding </a:t>
            </a:r>
            <a:r>
              <a:rPr lang="en-US" sz="8000" dirty="0"/>
              <a:t>radio button.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7350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– Radio Button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spcBef>
                <a:spcPts val="1200"/>
              </a:spcBef>
            </a:pPr>
            <a:r>
              <a:rPr lang="en-US" sz="2200" dirty="0"/>
              <a:t>Add the radio button to the registration form,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200" dirty="0"/>
              <a:t>Create a label username in registration.html</a:t>
            </a:r>
          </a:p>
          <a:p>
            <a:pPr marL="342900" indent="-342900">
              <a:spcBef>
                <a:spcPts val="1200"/>
              </a:spcBef>
            </a:pPr>
            <a:r>
              <a:rPr lang="en-US" sz="2200" dirty="0"/>
              <a:t>  </a:t>
            </a:r>
            <a:r>
              <a:rPr lang="en-US" sz="2200" dirty="0">
                <a:solidFill>
                  <a:srgbClr val="00B050"/>
                </a:solidFill>
              </a:rPr>
              <a:t> 	&lt;label&gt;</a:t>
            </a:r>
            <a:r>
              <a:rPr lang="en-US" sz="2200" dirty="0">
                <a:solidFill>
                  <a:srgbClr val="0070C0"/>
                </a:solidFill>
              </a:rPr>
              <a:t>Gender</a:t>
            </a:r>
            <a:r>
              <a:rPr lang="en-US" sz="2200" dirty="0">
                <a:solidFill>
                  <a:srgbClr val="00B050"/>
                </a:solidFill>
              </a:rPr>
              <a:t>&lt;/label&gt;</a:t>
            </a:r>
          </a:p>
          <a:p>
            <a:pPr marL="342900" indent="-342900">
              <a:spcBef>
                <a:spcPts val="1200"/>
              </a:spcBef>
              <a:buAutoNum type="arabicPeriod" startAt="2"/>
            </a:pPr>
            <a:r>
              <a:rPr lang="en-US" sz="2200" dirty="0"/>
              <a:t>Create a radio buttons in registration.html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	&lt;input </a:t>
            </a:r>
            <a:r>
              <a:rPr lang="en-US" sz="2200" dirty="0">
                <a:solidFill>
                  <a:srgbClr val="C00000"/>
                </a:solidFill>
              </a:rPr>
              <a:t>type</a:t>
            </a:r>
            <a:r>
              <a:rPr lang="en-US" sz="2200" dirty="0"/>
              <a:t> =“</a:t>
            </a:r>
            <a:r>
              <a:rPr lang="en-US" sz="2200" dirty="0">
                <a:solidFill>
                  <a:srgbClr val="00B0F0"/>
                </a:solidFill>
              </a:rPr>
              <a:t>radio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gender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gender</a:t>
            </a:r>
            <a:r>
              <a:rPr lang="en-US" sz="2200" dirty="0"/>
              <a:t>” 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C00000"/>
                </a:solidFill>
              </a:rPr>
              <a:t>	value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Male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/&gt; &lt;label </a:t>
            </a:r>
            <a:r>
              <a:rPr lang="en-US" sz="2200" dirty="0">
                <a:solidFill>
                  <a:srgbClr val="C00000"/>
                </a:solidFill>
              </a:rPr>
              <a:t>for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male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  <a:r>
              <a:rPr lang="en-US" sz="2200" dirty="0">
                <a:solidFill>
                  <a:srgbClr val="0070C0"/>
                </a:solidFill>
              </a:rPr>
              <a:t>Male</a:t>
            </a:r>
            <a:r>
              <a:rPr lang="en-US" sz="2200" dirty="0">
                <a:solidFill>
                  <a:srgbClr val="00B050"/>
                </a:solidFill>
              </a:rPr>
              <a:t>&lt;/label&gt;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	&lt;input </a:t>
            </a:r>
            <a:r>
              <a:rPr lang="en-US" sz="2200" dirty="0">
                <a:solidFill>
                  <a:srgbClr val="C00000"/>
                </a:solidFill>
              </a:rPr>
              <a:t>type</a:t>
            </a:r>
            <a:r>
              <a:rPr lang="en-US" sz="2200" dirty="0"/>
              <a:t> =“</a:t>
            </a:r>
            <a:r>
              <a:rPr lang="en-US" sz="2200" dirty="0">
                <a:solidFill>
                  <a:srgbClr val="00B0F0"/>
                </a:solidFill>
              </a:rPr>
              <a:t>radio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gender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gender</a:t>
            </a:r>
            <a:r>
              <a:rPr lang="en-US" sz="2200" dirty="0"/>
              <a:t>” </a:t>
            </a:r>
          </a:p>
          <a:p>
            <a:pPr indent="346075">
              <a:spcBef>
                <a:spcPts val="1200"/>
              </a:spcBef>
            </a:pPr>
            <a:r>
              <a:rPr lang="en-US" sz="2200" dirty="0">
                <a:solidFill>
                  <a:srgbClr val="C00000"/>
                </a:solidFill>
              </a:rPr>
              <a:t>	value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female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/&gt;&lt;label </a:t>
            </a:r>
            <a:r>
              <a:rPr lang="en-US" sz="2200" dirty="0">
                <a:solidFill>
                  <a:srgbClr val="C00000"/>
                </a:solidFill>
              </a:rPr>
              <a:t>for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female</a:t>
            </a:r>
            <a:r>
              <a:rPr lang="en-US" sz="2200" dirty="0"/>
              <a:t>”&gt;</a:t>
            </a: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sz="2200" dirty="0">
                <a:solidFill>
                  <a:srgbClr val="0070C0"/>
                </a:solidFill>
              </a:rPr>
              <a:t>Female</a:t>
            </a:r>
            <a:r>
              <a:rPr lang="en-US" sz="2200" dirty="0">
                <a:solidFill>
                  <a:srgbClr val="00B050"/>
                </a:solidFill>
              </a:rPr>
              <a:t>&lt;/label&gt;</a:t>
            </a:r>
          </a:p>
          <a:p>
            <a:pPr marL="342900" indent="-342900">
              <a:spcBef>
                <a:spcPts val="1200"/>
              </a:spcBef>
            </a:pPr>
            <a:r>
              <a:rPr lang="en-US" sz="2200" dirty="0"/>
              <a:t>3. Clicking the label text will select the corresponding radio button. </a:t>
            </a:r>
          </a:p>
          <a:p>
            <a:pPr marL="342900" indent="-342900">
              <a:spcBef>
                <a:spcPts val="1200"/>
              </a:spcBef>
            </a:pPr>
            <a:r>
              <a:rPr lang="en-US" sz="2200" dirty="0"/>
              <a:t>4. Place the text and radio button in TD tags similar to the check box example.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835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Buttons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/>
              <a:t>Buttons are used to perform some actions in an HTML page.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 There are four types of buttons in HTML,</a:t>
            </a:r>
          </a:p>
          <a:p>
            <a:pPr marL="803275" indent="-282575">
              <a:spcBef>
                <a:spcPts val="1200"/>
              </a:spcBef>
              <a:buFont typeface="+mj-lt"/>
              <a:buAutoNum type="arabicPeriod"/>
              <a:tabLst>
                <a:tab pos="520700" algn="l"/>
              </a:tabLst>
            </a:pPr>
            <a:r>
              <a:rPr lang="en-US" sz="2000" dirty="0"/>
              <a:t>Submit</a:t>
            </a:r>
          </a:p>
          <a:p>
            <a:pPr marL="803275" indent="-282575">
              <a:spcBef>
                <a:spcPts val="1200"/>
              </a:spcBef>
              <a:buFont typeface="+mj-lt"/>
              <a:buAutoNum type="arabicPeriod"/>
              <a:tabLst>
                <a:tab pos="520700" algn="l"/>
              </a:tabLst>
            </a:pPr>
            <a:r>
              <a:rPr lang="en-US" sz="2000" dirty="0"/>
              <a:t>Reset</a:t>
            </a:r>
          </a:p>
          <a:p>
            <a:pPr marL="803275" indent="-282575">
              <a:spcBef>
                <a:spcPts val="1200"/>
              </a:spcBef>
              <a:buFont typeface="+mj-lt"/>
              <a:buAutoNum type="arabicPeriod"/>
              <a:tabLst>
                <a:tab pos="520700" algn="l"/>
              </a:tabLst>
            </a:pPr>
            <a:r>
              <a:rPr lang="en-US" sz="2000" dirty="0"/>
              <a:t>Button</a:t>
            </a:r>
          </a:p>
          <a:p>
            <a:pPr marL="803275" indent="-282575">
              <a:spcBef>
                <a:spcPts val="1200"/>
              </a:spcBef>
              <a:buFont typeface="+mj-lt"/>
              <a:buAutoNum type="arabicPeriod"/>
              <a:tabLst>
                <a:tab pos="520700" algn="l"/>
              </a:tabLst>
            </a:pPr>
            <a:r>
              <a:rPr lang="en-US" sz="2000" dirty="0"/>
              <a:t>Image button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9677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Submit Button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1200"/>
              </a:spcBef>
            </a:pPr>
            <a:r>
              <a:rPr lang="en-US" dirty="0"/>
              <a:t>A submit button is used  to submit a form to the server. </a:t>
            </a:r>
          </a:p>
          <a:p>
            <a:pPr>
              <a:spcBef>
                <a:spcPts val="1200"/>
              </a:spcBef>
            </a:pPr>
            <a:r>
              <a:rPr lang="en-US" dirty="0"/>
              <a:t>When a visitor clicks a submit button, the form data is sent to the address specified in the action setting of the &lt;form&gt; tag.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Syntax :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00B050"/>
                </a:solidFill>
              </a:rPr>
              <a:t>&lt;input </a:t>
            </a:r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submit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value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name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name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id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id</a:t>
            </a:r>
            <a:r>
              <a:rPr lang="en-US" dirty="0"/>
              <a:t>” </a:t>
            </a:r>
            <a:r>
              <a:rPr lang="en-US" dirty="0">
                <a:solidFill>
                  <a:srgbClr val="00B050"/>
                </a:solidFill>
              </a:rPr>
              <a:t>/&gt;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Where, 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/>
              <a:t> defines what is written on the button, </a:t>
            </a:r>
            <a:r>
              <a:rPr lang="en-US" dirty="0">
                <a:solidFill>
                  <a:srgbClr val="C00000"/>
                </a:solidFill>
              </a:rPr>
              <a:t>Name</a:t>
            </a:r>
            <a:r>
              <a:rPr lang="en-US" dirty="0"/>
              <a:t> &amp; </a:t>
            </a:r>
            <a:r>
              <a:rPr lang="en-US" dirty="0">
                <a:solidFill>
                  <a:srgbClr val="C00000"/>
                </a:solidFill>
              </a:rPr>
              <a:t>Id</a:t>
            </a:r>
            <a:r>
              <a:rPr lang="en-US" dirty="0"/>
              <a:t>  for identifying the button among other form components.</a:t>
            </a:r>
            <a:endParaRPr lang="en-US" dirty="0">
              <a:solidFill>
                <a:schemeClr val="tx2"/>
              </a:solidFill>
            </a:endParaRPr>
          </a:p>
          <a:p>
            <a:pPr>
              <a:spcBef>
                <a:spcPts val="1200"/>
              </a:spcBef>
            </a:pPr>
            <a:endParaRPr lang="en-US" dirty="0">
              <a:solidFill>
                <a:srgbClr val="002060"/>
              </a:solidFill>
            </a:endParaRP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002060"/>
                </a:solidFill>
              </a:rPr>
              <a:t>Example :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rgbClr val="00B050"/>
                </a:solidFill>
              </a:rPr>
              <a:t>&lt;input </a:t>
            </a:r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submit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Register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name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register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id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register</a:t>
            </a:r>
            <a:r>
              <a:rPr lang="en-US" dirty="0"/>
              <a:t>” </a:t>
            </a:r>
            <a:r>
              <a:rPr lang="en-US" dirty="0">
                <a:solidFill>
                  <a:srgbClr val="00B050"/>
                </a:solidFill>
              </a:rPr>
              <a:t>/&gt;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0022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Reset Button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US" sz="2200" dirty="0"/>
              <a:t>Used to reset the values entered in the form by the user.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A reset button resets the form control to the default values of  the form components.</a:t>
            </a:r>
          </a:p>
          <a:p>
            <a:pPr>
              <a:spcBef>
                <a:spcPts val="1200"/>
              </a:spcBef>
            </a:pPr>
            <a:endParaRPr lang="en-US" sz="2200" dirty="0"/>
          </a:p>
          <a:p>
            <a:pPr>
              <a:spcBef>
                <a:spcPts val="1200"/>
              </a:spcBef>
            </a:pPr>
            <a:r>
              <a:rPr lang="en-US" sz="2200" dirty="0"/>
              <a:t>Syntax :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&lt;input </a:t>
            </a:r>
            <a:r>
              <a:rPr lang="en-US" sz="2200" dirty="0">
                <a:solidFill>
                  <a:srgbClr val="C00000"/>
                </a:solidFill>
              </a:rPr>
              <a:t>type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reset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value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value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name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id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00B050"/>
                </a:solidFill>
              </a:rPr>
              <a:t>/&gt;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solidFill>
                  <a:schemeClr val="tx2"/>
                </a:solidFill>
              </a:rPr>
              <a:t>Where, 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C00000"/>
                </a:solidFill>
              </a:rPr>
              <a:t>Value</a:t>
            </a:r>
            <a:r>
              <a:rPr lang="en-US" sz="2200" dirty="0"/>
              <a:t> defines what is written on the button,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 &amp;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  for identifying the button among other form components.</a:t>
            </a:r>
            <a:endParaRPr lang="en-US" sz="2200" dirty="0">
              <a:solidFill>
                <a:schemeClr val="tx2"/>
              </a:solidFill>
            </a:endParaRPr>
          </a:p>
          <a:p>
            <a:pPr>
              <a:spcBef>
                <a:spcPts val="1200"/>
              </a:spcBef>
            </a:pPr>
            <a:endParaRPr lang="en-US" sz="2200" dirty="0">
              <a:solidFill>
                <a:srgbClr val="00B05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200" dirty="0">
                <a:solidFill>
                  <a:schemeClr val="bg1"/>
                </a:solidFill>
              </a:rPr>
              <a:t>Example :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&lt;input </a:t>
            </a:r>
            <a:r>
              <a:rPr lang="en-US" sz="2200" dirty="0">
                <a:solidFill>
                  <a:srgbClr val="C00000"/>
                </a:solidFill>
              </a:rPr>
              <a:t>type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reset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value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Clear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name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Clear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C00000"/>
                </a:solidFill>
              </a:rPr>
              <a:t>id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Clear</a:t>
            </a:r>
            <a:r>
              <a:rPr lang="en-US" sz="2200" dirty="0"/>
              <a:t>” </a:t>
            </a:r>
            <a:r>
              <a:rPr lang="en-US" sz="2200" dirty="0">
                <a:solidFill>
                  <a:srgbClr val="00B050"/>
                </a:solidFill>
              </a:rPr>
              <a:t>/&gt;</a:t>
            </a:r>
          </a:p>
          <a:p>
            <a:pPr>
              <a:spcBef>
                <a:spcPts val="1200"/>
              </a:spcBef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586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Button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pPr marL="457200" indent="-457200">
              <a:spcBef>
                <a:spcPts val="1200"/>
              </a:spcBef>
            </a:pPr>
            <a:r>
              <a:rPr lang="en-US" sz="2000" dirty="0"/>
              <a:t>They are used for adding normal buttons.</a:t>
            </a:r>
          </a:p>
          <a:p>
            <a:pPr marL="457200" indent="-457200">
              <a:spcBef>
                <a:spcPts val="1200"/>
              </a:spcBef>
            </a:pPr>
            <a:r>
              <a:rPr lang="en-US" sz="2000" dirty="0"/>
              <a:t>Used to perform action with help of client side scripts.</a:t>
            </a:r>
          </a:p>
          <a:p>
            <a:pPr>
              <a:spcBef>
                <a:spcPts val="1200"/>
              </a:spcBef>
            </a:pPr>
            <a:r>
              <a:rPr lang="en-US" sz="2000" dirty="0" smtClean="0"/>
              <a:t>Syntax </a:t>
            </a:r>
            <a:r>
              <a:rPr lang="en-US" sz="2000" dirty="0"/>
              <a:t>: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button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value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name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id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</a:p>
          <a:p>
            <a:pPr>
              <a:spcBef>
                <a:spcPts val="1200"/>
              </a:spcBef>
            </a:pPr>
            <a:r>
              <a:rPr lang="en-US" sz="2000" dirty="0" smtClean="0">
                <a:solidFill>
                  <a:schemeClr val="tx2"/>
                </a:solidFill>
              </a:rPr>
              <a:t>Where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/>
              <a:t> defines what is written on the button,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 &amp;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  for identifying the button among other form components.</a:t>
            </a:r>
            <a:endParaRPr lang="en-US" sz="2000" dirty="0">
              <a:solidFill>
                <a:schemeClr val="tx2"/>
              </a:solidFill>
            </a:endParaRPr>
          </a:p>
          <a:p>
            <a:pPr>
              <a:spcBef>
                <a:spcPts val="1200"/>
              </a:spcBef>
            </a:pPr>
            <a:endParaRPr lang="en-US" sz="2000" dirty="0">
              <a:solidFill>
                <a:srgbClr val="00B05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</a:rPr>
              <a:t>Example :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button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value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Home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Clear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id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Clear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1602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– Submit &amp; Reset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Add a submit button with value “Register” to register.html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>
                <a:solidFill>
                  <a:srgbClr val="00B050"/>
                </a:solidFill>
              </a:rPr>
              <a:t>&lt;input </a:t>
            </a:r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submit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Register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name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register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id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register</a:t>
            </a:r>
            <a:r>
              <a:rPr lang="en-US" dirty="0"/>
              <a:t>” </a:t>
            </a:r>
            <a:r>
              <a:rPr lang="en-US" dirty="0">
                <a:solidFill>
                  <a:srgbClr val="00B050"/>
                </a:solidFill>
              </a:rPr>
              <a:t>/&gt;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/>
              <a:t>2. Add a reset button with value “Clear” to register.html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>
                <a:solidFill>
                  <a:srgbClr val="00B050"/>
                </a:solidFill>
              </a:rPr>
              <a:t>&lt;input </a:t>
            </a:r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reset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Clear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name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clear</a:t>
            </a:r>
            <a:r>
              <a:rPr lang="en-US" dirty="0"/>
              <a:t>” </a:t>
            </a:r>
            <a:r>
              <a:rPr lang="en-US" dirty="0">
                <a:solidFill>
                  <a:srgbClr val="C00000"/>
                </a:solidFill>
              </a:rPr>
              <a:t>id</a:t>
            </a:r>
            <a:r>
              <a:rPr lang="en-US" dirty="0"/>
              <a:t>=“</a:t>
            </a:r>
            <a:r>
              <a:rPr lang="en-US" dirty="0">
                <a:solidFill>
                  <a:srgbClr val="00B0F0"/>
                </a:solidFill>
              </a:rPr>
              <a:t>id</a:t>
            </a:r>
            <a:r>
              <a:rPr lang="en-US" dirty="0"/>
              <a:t>” </a:t>
            </a:r>
            <a:r>
              <a:rPr lang="en-US" dirty="0">
                <a:solidFill>
                  <a:srgbClr val="00B050"/>
                </a:solidFill>
              </a:rPr>
              <a:t>/&gt;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>
                <a:solidFill>
                  <a:schemeClr val="bg1"/>
                </a:solidFill>
              </a:rPr>
              <a:t>3. Fill the form and check whether clicking the reset button clears the fields to the default value.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>
                <a:solidFill>
                  <a:schemeClr val="bg1"/>
                </a:solidFill>
              </a:rPr>
              <a:t>4. Fill the form and check whether the data and click submit . Check whether the fields entered by you has been appended in the URL as query string.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>
                <a:solidFill>
                  <a:schemeClr val="bg1"/>
                </a:solidFill>
              </a:rPr>
              <a:t>5. Use table tags as mentioned below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>
                <a:solidFill>
                  <a:srgbClr val="00B050"/>
                </a:solidFill>
              </a:rPr>
              <a:t>&lt;</a:t>
            </a:r>
            <a:r>
              <a:rPr lang="en-US" dirty="0" err="1">
                <a:solidFill>
                  <a:srgbClr val="00B050"/>
                </a:solidFill>
              </a:rPr>
              <a:t>tr</a:t>
            </a:r>
            <a:r>
              <a:rPr lang="en-US" dirty="0">
                <a:solidFill>
                  <a:srgbClr val="00B050"/>
                </a:solidFill>
              </a:rPr>
              <a:t>&gt;&lt;td&gt; </a:t>
            </a:r>
            <a:r>
              <a:rPr lang="en-US" dirty="0">
                <a:solidFill>
                  <a:schemeClr val="bg1"/>
                </a:solidFill>
              </a:rPr>
              <a:t>Submit button code mentioned in point # 1 goes in here</a:t>
            </a:r>
            <a:r>
              <a:rPr lang="en-US" dirty="0">
                <a:solidFill>
                  <a:srgbClr val="00B050"/>
                </a:solidFill>
              </a:rPr>
              <a:t>&lt;/td&gt;</a:t>
            </a:r>
          </a:p>
          <a:p>
            <a:pPr marL="342900" indent="-342900">
              <a:spcBef>
                <a:spcPts val="1200"/>
              </a:spcBef>
            </a:pPr>
            <a:r>
              <a:rPr lang="en-US" dirty="0">
                <a:solidFill>
                  <a:srgbClr val="00B050"/>
                </a:solidFill>
              </a:rPr>
              <a:t>&lt;td&gt; </a:t>
            </a:r>
            <a:r>
              <a:rPr lang="en-US" dirty="0">
                <a:solidFill>
                  <a:schemeClr val="bg1"/>
                </a:solidFill>
              </a:rPr>
              <a:t>reset button code mentioned in point # 2 goes in here</a:t>
            </a:r>
            <a:r>
              <a:rPr lang="en-US" dirty="0">
                <a:solidFill>
                  <a:srgbClr val="00B050"/>
                </a:solidFill>
              </a:rPr>
              <a:t>&lt;/td&gt;&lt;/</a:t>
            </a:r>
            <a:r>
              <a:rPr lang="en-US" dirty="0" err="1">
                <a:solidFill>
                  <a:srgbClr val="00B050"/>
                </a:solidFill>
              </a:rPr>
              <a:t>tr</a:t>
            </a:r>
            <a:r>
              <a:rPr lang="en-US" dirty="0">
                <a:solidFill>
                  <a:srgbClr val="00B050"/>
                </a:solidFill>
              </a:rPr>
              <a:t>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4410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Image Button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800" y="1447800"/>
            <a:ext cx="8610600" cy="1905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2365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Image button are like the submit button are used to submit a form to the server.</a:t>
            </a:r>
          </a:p>
          <a:p>
            <a:pPr indent="2365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The difference is image button is shown as an image on the screen</a:t>
            </a:r>
          </a:p>
          <a:p>
            <a:pPr indent="236538">
              <a:spcBef>
                <a:spcPts val="1200"/>
              </a:spcBef>
            </a:pPr>
            <a:r>
              <a:rPr lang="en-US" sz="2000" b="0" dirty="0" smtClean="0">
                <a:solidFill>
                  <a:schemeClr val="bg1"/>
                </a:solidFill>
              </a:rPr>
              <a:t>  whereas submit button is shown as a normal  button</a:t>
            </a:r>
            <a:r>
              <a:rPr lang="en-US" sz="2000" b="0" dirty="0" smtClean="0"/>
              <a:t>.</a:t>
            </a:r>
            <a:endParaRPr lang="en-US" sz="2000" b="0" dirty="0"/>
          </a:p>
        </p:txBody>
      </p:sp>
      <p:pic>
        <p:nvPicPr>
          <p:cNvPr id="8" name="Picture 2" descr="http://www.dopsoo.com/staging/images/SubmitNowButto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581400"/>
            <a:ext cx="1771650" cy="561975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533400" y="4416623"/>
            <a:ext cx="266700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Submit Image </a:t>
            </a:r>
          </a:p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displayed as buttons.</a:t>
            </a: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2020" y="3600450"/>
            <a:ext cx="212598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648200" y="4419600"/>
            <a:ext cx="2667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</a:rPr>
              <a:t>Submit button</a:t>
            </a:r>
            <a:endParaRPr lang="en-US" sz="1600" dirty="0">
              <a:solidFill>
                <a:schemeClr val="bg1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3962400" y="3352800"/>
            <a:ext cx="0" cy="190500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600112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to Create image button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/>
              <a:t>Syntax :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image</a:t>
            </a:r>
            <a:r>
              <a:rPr lang="en-US" sz="2000" dirty="0"/>
              <a:t>” </a:t>
            </a:r>
            <a:r>
              <a:rPr lang="en-US" sz="2000" dirty="0" err="1">
                <a:solidFill>
                  <a:srgbClr val="C00000"/>
                </a:solidFill>
              </a:rPr>
              <a:t>src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source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name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Where  “</a:t>
            </a:r>
            <a:r>
              <a:rPr lang="en-US" sz="2000" dirty="0" err="1">
                <a:solidFill>
                  <a:srgbClr val="C00000"/>
                </a:solidFill>
              </a:rPr>
              <a:t>src</a:t>
            </a:r>
            <a:r>
              <a:rPr lang="en-US" sz="2000" dirty="0"/>
              <a:t>” is the  path of the image GIF.</a:t>
            </a:r>
          </a:p>
          <a:p>
            <a:pPr>
              <a:spcBef>
                <a:spcPts val="1200"/>
              </a:spcBef>
            </a:pPr>
            <a:endParaRPr lang="en-US" sz="2000" dirty="0">
              <a:solidFill>
                <a:srgbClr val="00B05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bg1"/>
                </a:solidFill>
              </a:rPr>
              <a:t>Example :</a:t>
            </a:r>
          </a:p>
          <a:p>
            <a:pPr>
              <a:spcBef>
                <a:spcPts val="1200"/>
              </a:spcBef>
            </a:pPr>
            <a:endParaRPr lang="en-US" sz="2000" dirty="0">
              <a:solidFill>
                <a:srgbClr val="002060"/>
              </a:solidFill>
            </a:endParaRP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&lt;input </a:t>
            </a:r>
            <a:r>
              <a:rPr lang="en-US" sz="2000" dirty="0">
                <a:solidFill>
                  <a:srgbClr val="C00000"/>
                </a:solidFill>
              </a:rPr>
              <a:t>type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submit</a:t>
            </a:r>
            <a:r>
              <a:rPr lang="en-US" sz="2000" dirty="0"/>
              <a:t>” </a:t>
            </a:r>
            <a:r>
              <a:rPr lang="en-US" sz="2000" dirty="0" err="1">
                <a:solidFill>
                  <a:srgbClr val="C00000"/>
                </a:solidFill>
              </a:rPr>
              <a:t>src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submit.gif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C00000"/>
                </a:solidFill>
              </a:rPr>
              <a:t>name</a:t>
            </a:r>
            <a:r>
              <a:rPr lang="en-US" sz="2000" dirty="0"/>
              <a:t>=“</a:t>
            </a:r>
            <a:r>
              <a:rPr lang="en-US" sz="2000" dirty="0">
                <a:solidFill>
                  <a:srgbClr val="00B0F0"/>
                </a:solidFill>
              </a:rPr>
              <a:t>search</a:t>
            </a:r>
            <a:r>
              <a:rPr lang="en-US" sz="2000" dirty="0"/>
              <a:t>” </a:t>
            </a:r>
            <a:r>
              <a:rPr lang="en-US" sz="2000" dirty="0">
                <a:solidFill>
                  <a:srgbClr val="00B050"/>
                </a:solidFill>
              </a:rPr>
              <a:t>/&gt;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2344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Hands On Exercise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937520"/>
            <a:ext cx="8382000" cy="46228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1600" dirty="0"/>
              <a:t>Perform the following tasks,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Create a form as shown in the next slide alignment should be done proper using table tags.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Title should be “Apply for Credit Card”.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The labels should be properly bind to the controls.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The “First/Last name” text fields should display max of 12 characters and should not allow more than 10 characters.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Only one radio button option should be selected for sex.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Should be able to select multiple options in the “Language Known” drop drown.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The default value in dropdown should be “select”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The values in drop down are “English, Hindi, Tamil, Malayalam, Telugu”.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The address field should have 4 rows and 10 columns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The check box  group should have four hobbies Singing, Dancing, Sports and Others.</a:t>
            </a: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1600" dirty="0"/>
              <a:t>There should one submit button named “Apply Card” and one reset button named “Clear Fields”</a:t>
            </a:r>
          </a:p>
          <a:p>
            <a:endParaRPr lang="en-US" sz="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775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Required Screen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73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600200"/>
            <a:ext cx="4686953" cy="3943350"/>
          </a:xfrm>
          <a:prstGeom prst="rect">
            <a:avLst/>
          </a:prstGeom>
          <a:noFill/>
          <a:ln w="15875">
            <a:solidFill>
              <a:srgbClr val="C00000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577626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the options available in HTML5 form fields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https://www.w3schools.com/html/html_form_input_types.asp</a:t>
            </a:r>
            <a:br>
              <a:rPr lang="en-US" u="sng" dirty="0">
                <a:hlinkClick r:id="rId2"/>
              </a:rPr>
            </a:br>
            <a:r>
              <a:rPr lang="en-US" u="sng" dirty="0">
                <a:hlinkClick r:id="rId2"/>
              </a:rPr>
              <a:t>https://www.w3schools.com/html/html5_new_elements.asp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8370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1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is CSS?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/>
              <a:t>CSS Stands for </a:t>
            </a:r>
            <a:r>
              <a:rPr lang="en-US" sz="2000" dirty="0">
                <a:solidFill>
                  <a:srgbClr val="CC3300"/>
                </a:solidFill>
              </a:rPr>
              <a:t>C</a:t>
            </a:r>
            <a:r>
              <a:rPr lang="en-US" sz="2000" dirty="0"/>
              <a:t>ascading </a:t>
            </a:r>
            <a:r>
              <a:rPr lang="en-US" sz="2000" dirty="0">
                <a:solidFill>
                  <a:srgbClr val="CC3300"/>
                </a:solidFill>
              </a:rPr>
              <a:t>S</a:t>
            </a:r>
            <a:r>
              <a:rPr lang="en-US" sz="2000" dirty="0"/>
              <a:t>tyle </a:t>
            </a:r>
            <a:r>
              <a:rPr lang="en-US" sz="2000" dirty="0">
                <a:solidFill>
                  <a:srgbClr val="CC3300"/>
                </a:solidFill>
              </a:rPr>
              <a:t>S</a:t>
            </a:r>
            <a:r>
              <a:rPr lang="en-US" sz="2000" dirty="0"/>
              <a:t>heets.</a:t>
            </a:r>
          </a:p>
          <a:p>
            <a:pPr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  It is used for applying styles to HTML elements</a:t>
            </a:r>
          </a:p>
          <a:p>
            <a:pPr lvl="1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 Example:  Font bold, Italics, Page back ground color.</a:t>
            </a:r>
          </a:p>
          <a:p>
            <a:pPr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  It also isolates the page content from the style, thus helps the developers</a:t>
            </a:r>
          </a:p>
          <a:p>
            <a:pPr marL="393700" lvl="1" indent="-234950">
              <a:spcBef>
                <a:spcPts val="1200"/>
              </a:spcBef>
            </a:pPr>
            <a:endParaRPr lang="en-US" sz="2000" dirty="0"/>
          </a:p>
          <a:p>
            <a:pPr marL="393700" lvl="1" indent="-234950">
              <a:spcBef>
                <a:spcPts val="1200"/>
              </a:spcBef>
            </a:pPr>
            <a:r>
              <a:rPr lang="en-US" sz="2000" dirty="0"/>
              <a:t>Advantages:</a:t>
            </a:r>
          </a:p>
          <a:p>
            <a:pPr marL="803275" lvl="1" indent="-23495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To easily maintain the HTML pages. </a:t>
            </a:r>
          </a:p>
          <a:p>
            <a:pPr marL="803275" lvl="1" indent="-234950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 To reuse the same style in multiple pages thus reduces the      development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/>
          <a:p>
            <a:fld id="{47ED8886-DB3B-44F4-9A80-E6A224679F20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0707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need and benefits of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https://www.w3schools.com/css/css_intro.asp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036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CSS is applied 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73339" y="1023531"/>
            <a:ext cx="8382000" cy="558285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en-US" sz="2000" dirty="0"/>
              <a:t>Syntax:</a:t>
            </a: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00B050"/>
                </a:solidFill>
              </a:rPr>
              <a:t>	selector</a:t>
            </a:r>
            <a:r>
              <a:rPr lang="en-US" sz="2000" dirty="0"/>
              <a:t> { </a:t>
            </a:r>
            <a:r>
              <a:rPr lang="en-US" sz="2000" dirty="0">
                <a:solidFill>
                  <a:srgbClr val="C00000"/>
                </a:solidFill>
              </a:rPr>
              <a:t>property</a:t>
            </a:r>
            <a:r>
              <a:rPr lang="en-US" sz="2000" dirty="0">
                <a:solidFill>
                  <a:srgbClr val="EA3800"/>
                </a:solidFill>
              </a:rPr>
              <a:t> </a:t>
            </a:r>
            <a:r>
              <a:rPr lang="en-US" sz="2000" dirty="0"/>
              <a:t>:</a:t>
            </a:r>
            <a:r>
              <a:rPr lang="en-US" sz="2000" dirty="0">
                <a:solidFill>
                  <a:srgbClr val="00B0F0"/>
                </a:solidFill>
              </a:rPr>
              <a:t>value</a:t>
            </a:r>
            <a:r>
              <a:rPr lang="en-US" sz="2000" dirty="0"/>
              <a:t> ;</a:t>
            </a:r>
            <a:r>
              <a:rPr lang="en-US" sz="2000" dirty="0">
                <a:solidFill>
                  <a:srgbClr val="C00000"/>
                </a:solidFill>
              </a:rPr>
              <a:t> property</a:t>
            </a:r>
            <a:r>
              <a:rPr lang="en-US" sz="2000" dirty="0">
                <a:solidFill>
                  <a:srgbClr val="EA3800"/>
                </a:solidFill>
              </a:rPr>
              <a:t> </a:t>
            </a:r>
            <a:r>
              <a:rPr lang="en-US" sz="2000" dirty="0"/>
              <a:t>:</a:t>
            </a:r>
            <a:r>
              <a:rPr lang="en-US" sz="2000" dirty="0">
                <a:solidFill>
                  <a:srgbClr val="00B0F0"/>
                </a:solidFill>
              </a:rPr>
              <a:t>value</a:t>
            </a:r>
            <a:r>
              <a:rPr lang="en-US" sz="2000" dirty="0"/>
              <a:t>; }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 Where Selector can be a,</a:t>
            </a:r>
          </a:p>
          <a:p>
            <a:pPr marL="393700" lvl="1" indent="2365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 Tag : Applies the style to all the tags of the specific type.</a:t>
            </a:r>
          </a:p>
          <a:p>
            <a:pPr marL="393700" indent="236538">
              <a:spcBef>
                <a:spcPts val="1200"/>
              </a:spcBef>
            </a:pPr>
            <a:r>
              <a:rPr lang="en-US" sz="2000" dirty="0"/>
              <a:t>	    </a:t>
            </a:r>
            <a:r>
              <a:rPr lang="en-US" sz="2000" dirty="0">
                <a:solidFill>
                  <a:srgbClr val="00B050"/>
                </a:solidFill>
              </a:rPr>
              <a:t>h1</a:t>
            </a:r>
            <a:r>
              <a:rPr lang="en-US" sz="2000" dirty="0"/>
              <a:t>{</a:t>
            </a:r>
            <a:r>
              <a:rPr lang="en-US" sz="2000" dirty="0" err="1">
                <a:solidFill>
                  <a:srgbClr val="C00000"/>
                </a:solidFill>
              </a:rPr>
              <a:t>color</a:t>
            </a:r>
            <a:r>
              <a:rPr lang="en-US" sz="2000" dirty="0" err="1"/>
              <a:t>:</a:t>
            </a:r>
            <a:r>
              <a:rPr lang="en-US" sz="2000" dirty="0" err="1">
                <a:solidFill>
                  <a:srgbClr val="00B0F0"/>
                </a:solidFill>
              </a:rPr>
              <a:t>red</a:t>
            </a:r>
            <a:r>
              <a:rPr lang="en-US" sz="2000" dirty="0">
                <a:solidFill>
                  <a:srgbClr val="00B0F0"/>
                </a:solidFill>
              </a:rPr>
              <a:t>;</a:t>
            </a:r>
            <a:r>
              <a:rPr lang="en-US" sz="2000" dirty="0"/>
              <a:t>}  -- makes all Level 1 headings red</a:t>
            </a:r>
          </a:p>
          <a:p>
            <a:pPr marL="393700" lvl="1" indent="2365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 Tag id : For applying to a single/unique element. Starts with ‘</a:t>
            </a:r>
            <a:r>
              <a:rPr lang="en-US" sz="2000" dirty="0">
                <a:solidFill>
                  <a:srgbClr val="00B050"/>
                </a:solidFill>
              </a:rPr>
              <a:t>#</a:t>
            </a:r>
            <a:r>
              <a:rPr lang="en-US" sz="2000" dirty="0"/>
              <a:t>’.</a:t>
            </a:r>
          </a:p>
          <a:p>
            <a:pPr marL="393700" lvl="2" indent="236538">
              <a:spcBef>
                <a:spcPts val="1200"/>
              </a:spcBef>
            </a:pPr>
            <a:r>
              <a:rPr lang="en-US" dirty="0">
                <a:solidFill>
                  <a:srgbClr val="00B050"/>
                </a:solidFill>
              </a:rPr>
              <a:t>           #m1 </a:t>
            </a:r>
            <a:r>
              <a:rPr lang="en-US" dirty="0"/>
              <a:t>{</a:t>
            </a:r>
            <a:r>
              <a:rPr lang="en-US" dirty="0" err="1">
                <a:solidFill>
                  <a:srgbClr val="C00000"/>
                </a:solidFill>
              </a:rPr>
              <a:t>color</a:t>
            </a:r>
            <a:r>
              <a:rPr lang="en-US" dirty="0" err="1"/>
              <a:t>:</a:t>
            </a:r>
            <a:r>
              <a:rPr lang="en-US" dirty="0" err="1">
                <a:solidFill>
                  <a:srgbClr val="00B0F0"/>
                </a:solidFill>
              </a:rPr>
              <a:t>red</a:t>
            </a:r>
            <a:r>
              <a:rPr lang="en-US" dirty="0">
                <a:solidFill>
                  <a:srgbClr val="00B0F0"/>
                </a:solidFill>
              </a:rPr>
              <a:t>;</a:t>
            </a:r>
            <a:r>
              <a:rPr lang="en-US" dirty="0"/>
              <a:t>} -- makes color of element with id “</a:t>
            </a:r>
            <a:r>
              <a:rPr lang="en-US" dirty="0">
                <a:solidFill>
                  <a:srgbClr val="00B0F0"/>
                </a:solidFill>
              </a:rPr>
              <a:t>m1</a:t>
            </a:r>
            <a:r>
              <a:rPr lang="en-US" dirty="0"/>
              <a:t>” as red.</a:t>
            </a:r>
          </a:p>
          <a:p>
            <a:pPr marL="1892300" lvl="2">
              <a:spcBef>
                <a:spcPts val="1200"/>
              </a:spcBef>
            </a:pPr>
            <a:r>
              <a:rPr lang="en-US" dirty="0"/>
              <a:t>&lt;h1 id=“</a:t>
            </a:r>
            <a:r>
              <a:rPr lang="en-US" dirty="0">
                <a:solidFill>
                  <a:srgbClr val="00B050"/>
                </a:solidFill>
              </a:rPr>
              <a:t>m1</a:t>
            </a:r>
            <a:r>
              <a:rPr lang="en-US" dirty="0"/>
              <a:t>"&gt;Center-aligned heading&lt;/h1&gt;</a:t>
            </a:r>
          </a:p>
          <a:p>
            <a:pPr marL="393700" lvl="1" indent="2365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Tag class : For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applying styles to more than one element</a:t>
            </a:r>
            <a:r>
              <a:rPr lang="en-US" sz="2000" dirty="0">
                <a:solidFill>
                  <a:srgbClr val="002060"/>
                </a:solidFill>
              </a:rPr>
              <a:t>. </a:t>
            </a:r>
            <a:r>
              <a:rPr lang="en-US" sz="2000" dirty="0"/>
              <a:t>Starts with ‘</a:t>
            </a:r>
            <a:r>
              <a:rPr lang="en-US" sz="2000" dirty="0">
                <a:solidFill>
                  <a:srgbClr val="00B050"/>
                </a:solidFill>
              </a:rPr>
              <a:t>.</a:t>
            </a:r>
            <a:r>
              <a:rPr lang="en-US" sz="2000" dirty="0"/>
              <a:t>’   	   Element should be declared with the class attribute.</a:t>
            </a:r>
            <a:r>
              <a:rPr lang="en-US" sz="2000" dirty="0">
                <a:solidFill>
                  <a:srgbClr val="002060"/>
                </a:solidFill>
              </a:rPr>
              <a:t>      </a:t>
            </a:r>
          </a:p>
          <a:p>
            <a:pPr marL="393700" indent="236538">
              <a:spcBef>
                <a:spcPts val="1200"/>
              </a:spcBef>
            </a:pPr>
            <a:r>
              <a:rPr lang="en-US" sz="2000" dirty="0">
                <a:solidFill>
                  <a:srgbClr val="002060"/>
                </a:solidFill>
              </a:rPr>
              <a:t>      </a:t>
            </a:r>
            <a:r>
              <a:rPr lang="en-US" sz="2000" dirty="0">
                <a:solidFill>
                  <a:srgbClr val="00B050"/>
                </a:solidFill>
              </a:rPr>
              <a:t>.headings</a:t>
            </a:r>
            <a:r>
              <a:rPr lang="en-US" sz="2000" dirty="0"/>
              <a:t>{</a:t>
            </a:r>
            <a:r>
              <a:rPr lang="en-US" sz="2000" dirty="0" err="1">
                <a:solidFill>
                  <a:srgbClr val="C00000"/>
                </a:solidFill>
              </a:rPr>
              <a:t>color:</a:t>
            </a:r>
            <a:r>
              <a:rPr lang="en-US" sz="2000" dirty="0" err="1">
                <a:solidFill>
                  <a:srgbClr val="00B0F0"/>
                </a:solidFill>
              </a:rPr>
              <a:t>red</a:t>
            </a:r>
            <a:r>
              <a:rPr lang="en-US" sz="2000" dirty="0">
                <a:solidFill>
                  <a:srgbClr val="00B0F0"/>
                </a:solidFill>
              </a:rPr>
              <a:t>;}  --</a:t>
            </a:r>
            <a:r>
              <a:rPr lang="en-US" sz="2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makes the color of elements with class name </a:t>
            </a:r>
            <a:r>
              <a:rPr lang="en-US" sz="2000" dirty="0">
                <a:solidFill>
                  <a:srgbClr val="002060"/>
                </a:solidFill>
              </a:rPr>
              <a:t>“</a:t>
            </a:r>
            <a:r>
              <a:rPr lang="en-US" sz="2000" dirty="0">
                <a:solidFill>
                  <a:srgbClr val="00B050"/>
                </a:solidFill>
              </a:rPr>
              <a:t>headings</a:t>
            </a:r>
            <a:r>
              <a:rPr lang="en-US" sz="2000" dirty="0">
                <a:solidFill>
                  <a:srgbClr val="002060"/>
                </a:solidFill>
              </a:rPr>
              <a:t>” </a:t>
            </a:r>
            <a:r>
              <a:rPr lang="en-US" sz="21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as  red.</a:t>
            </a:r>
          </a:p>
          <a:p>
            <a:pPr marL="1892300">
              <a:spcBef>
                <a:spcPts val="1200"/>
              </a:spcBef>
            </a:pPr>
            <a:r>
              <a:rPr lang="en-US" sz="2000" dirty="0"/>
              <a:t>&lt;h1 class=“</a:t>
            </a:r>
            <a:r>
              <a:rPr lang="en-US" sz="2000" dirty="0">
                <a:solidFill>
                  <a:srgbClr val="00B050"/>
                </a:solidFill>
              </a:rPr>
              <a:t>headings</a:t>
            </a:r>
            <a:r>
              <a:rPr lang="en-US" sz="2000" dirty="0"/>
              <a:t>"&gt;Center-aligned heading&lt;/h1&gt;</a:t>
            </a:r>
          </a:p>
          <a:p>
            <a:pPr marL="1892300">
              <a:spcBef>
                <a:spcPts val="1200"/>
              </a:spcBef>
            </a:pPr>
            <a:r>
              <a:rPr lang="en-US" sz="2000" dirty="0"/>
              <a:t>&lt;p class="</a:t>
            </a:r>
            <a:r>
              <a:rPr lang="en-US" sz="2000" dirty="0">
                <a:solidFill>
                  <a:srgbClr val="00B050"/>
                </a:solidFill>
              </a:rPr>
              <a:t>headings</a:t>
            </a:r>
            <a:r>
              <a:rPr lang="en-US" sz="2000" dirty="0"/>
              <a:t>"&gt;Center-aligned paragraph.&lt;/p&gt;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0900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Three Ways to apply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pPr>
              <a:spcBef>
                <a:spcPts val="1200"/>
              </a:spcBef>
            </a:pPr>
            <a:r>
              <a:rPr lang="en-US" sz="2200" dirty="0"/>
              <a:t>Three ways to apply CSS</a:t>
            </a:r>
          </a:p>
          <a:p>
            <a:pPr marL="520700" indent="47625">
              <a:spcBef>
                <a:spcPts val="1200"/>
              </a:spcBef>
              <a:buFont typeface="Courier New" pitchFamily="49" charset="0"/>
              <a:buChar char="o"/>
            </a:pPr>
            <a:r>
              <a:rPr lang="en-US" sz="2200" dirty="0"/>
              <a:t> Inline Style</a:t>
            </a:r>
          </a:p>
          <a:p>
            <a:pPr marL="520700" indent="47625">
              <a:spcBef>
                <a:spcPts val="1200"/>
              </a:spcBef>
              <a:buFont typeface="Courier New" pitchFamily="49" charset="0"/>
              <a:buChar char="o"/>
            </a:pPr>
            <a:r>
              <a:rPr lang="en-US" sz="2200" dirty="0"/>
              <a:t> Internal Style</a:t>
            </a:r>
          </a:p>
          <a:p>
            <a:pPr marL="520700" indent="47625">
              <a:spcBef>
                <a:spcPts val="1200"/>
              </a:spcBef>
              <a:buFont typeface="Courier New" pitchFamily="49" charset="0"/>
              <a:buChar char="o"/>
            </a:pPr>
            <a:r>
              <a:rPr lang="en-US" sz="2200" dirty="0"/>
              <a:t> External Style</a:t>
            </a:r>
          </a:p>
          <a:p>
            <a:pPr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200" dirty="0"/>
              <a:t> Inline Style: The Style is declared inline in the html tag.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        Example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            </a:t>
            </a:r>
            <a:r>
              <a:rPr lang="en-US" sz="2200" dirty="0">
                <a:solidFill>
                  <a:srgbClr val="00B050"/>
                </a:solidFill>
              </a:rPr>
              <a:t>&lt;h1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C00000"/>
                </a:solidFill>
              </a:rPr>
              <a:t>style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color: red;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  <a:r>
              <a:rPr lang="en-US" sz="2200" dirty="0">
                <a:solidFill>
                  <a:srgbClr val="00B0F0"/>
                </a:solidFill>
              </a:rPr>
              <a:t>Red Heading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B050"/>
                </a:solidFill>
              </a:rPr>
              <a:t>&lt;/h1&gt;</a:t>
            </a:r>
          </a:p>
          <a:p>
            <a:pPr>
              <a:spcBef>
                <a:spcPts val="1200"/>
              </a:spcBef>
            </a:pPr>
            <a:r>
              <a:rPr lang="en-US" sz="2200" dirty="0">
                <a:solidFill>
                  <a:srgbClr val="00B050"/>
                </a:solidFill>
              </a:rPr>
              <a:t>            &lt;body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C00000"/>
                </a:solidFill>
              </a:rPr>
              <a:t>style</a:t>
            </a:r>
            <a:r>
              <a:rPr lang="en-US" sz="2200" dirty="0"/>
              <a:t>=“</a:t>
            </a:r>
            <a:r>
              <a:rPr lang="en-US" sz="2200" dirty="0">
                <a:solidFill>
                  <a:srgbClr val="00B0F0"/>
                </a:solidFill>
              </a:rPr>
              <a:t>background-color: red;</a:t>
            </a:r>
            <a:r>
              <a:rPr lang="en-US" sz="2200" dirty="0"/>
              <a:t>”</a:t>
            </a:r>
            <a:r>
              <a:rPr lang="en-US" sz="2200" dirty="0">
                <a:solidFill>
                  <a:srgbClr val="00B050"/>
                </a:solidFill>
              </a:rPr>
              <a:t>&gt;</a:t>
            </a:r>
            <a:r>
              <a:rPr lang="en-US" sz="2200" dirty="0">
                <a:solidFill>
                  <a:srgbClr val="00B0F0"/>
                </a:solidFill>
              </a:rPr>
              <a:t>Red Heading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00B050"/>
                </a:solidFill>
              </a:rPr>
              <a:t>&lt;/body&gt;          </a:t>
            </a:r>
            <a:r>
              <a:rPr lang="en-US" sz="2200" dirty="0"/>
              <a:t>     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Disadvantages: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	This mixes the content with the style , should be avoided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79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6890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Internal Style Sheet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The styles are written inside the head tag.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80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95400" y="1600201"/>
            <a:ext cx="670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</a:rPr>
              <a:t>&lt;html&gt;</a:t>
            </a:r>
          </a:p>
          <a:p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&lt;head&gt;</a:t>
            </a:r>
          </a:p>
          <a:p>
            <a:r>
              <a:rPr lang="en-US" sz="1600" dirty="0" smtClean="0"/>
              <a:t>                 	</a:t>
            </a:r>
            <a:r>
              <a:rPr lang="en-US" sz="1600" dirty="0" smtClean="0">
                <a:solidFill>
                  <a:srgbClr val="00B050"/>
                </a:solidFill>
              </a:rPr>
              <a:t>&lt;style</a:t>
            </a:r>
            <a:r>
              <a:rPr lang="en-US" sz="1600" dirty="0" smtClean="0">
                <a:solidFill>
                  <a:srgbClr val="00B0F0"/>
                </a:solidFill>
              </a:rPr>
              <a:t> </a:t>
            </a:r>
            <a:r>
              <a:rPr lang="en-US" sz="1600" dirty="0" smtClean="0">
                <a:solidFill>
                  <a:srgbClr val="C00000"/>
                </a:solidFill>
              </a:rPr>
              <a:t>type</a:t>
            </a:r>
            <a:r>
              <a:rPr lang="en-US" sz="1600" dirty="0" smtClean="0">
                <a:solidFill>
                  <a:srgbClr val="00B0F0"/>
                </a:solidFill>
              </a:rPr>
              <a:t>="text/</a:t>
            </a:r>
            <a:r>
              <a:rPr lang="en-US" sz="1600" dirty="0" err="1" smtClean="0">
                <a:solidFill>
                  <a:srgbClr val="00B0F0"/>
                </a:solidFill>
              </a:rPr>
              <a:t>css</a:t>
            </a:r>
            <a:r>
              <a:rPr lang="en-US" sz="1600" dirty="0" smtClean="0">
                <a:solidFill>
                  <a:srgbClr val="00B0F0"/>
                </a:solidFill>
              </a:rPr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sz="1600" dirty="0" smtClean="0"/>
              <a:t>                   		</a:t>
            </a:r>
            <a:r>
              <a:rPr lang="en-US" sz="1600" dirty="0" smtClean="0">
                <a:solidFill>
                  <a:srgbClr val="0070C0"/>
                </a:solidFill>
              </a:rPr>
              <a:t>    body{</a:t>
            </a:r>
          </a:p>
          <a:p>
            <a:r>
              <a:rPr lang="en-US" sz="1600" dirty="0" smtClean="0">
                <a:solidFill>
                  <a:srgbClr val="0070C0"/>
                </a:solidFill>
              </a:rPr>
              <a:t>                                                     background-</a:t>
            </a:r>
            <a:r>
              <a:rPr lang="en-US" sz="1600" dirty="0" err="1" smtClean="0">
                <a:solidFill>
                  <a:srgbClr val="0070C0"/>
                </a:solidFill>
              </a:rPr>
              <a:t>color:Gray</a:t>
            </a:r>
            <a:r>
              <a:rPr lang="en-US" sz="1600" dirty="0" smtClean="0">
                <a:solidFill>
                  <a:srgbClr val="0070C0"/>
                </a:solidFill>
              </a:rPr>
              <a:t>;</a:t>
            </a:r>
          </a:p>
          <a:p>
            <a:r>
              <a:rPr lang="en-US" sz="1600" dirty="0" smtClean="0">
                <a:solidFill>
                  <a:srgbClr val="0070C0"/>
                </a:solidFill>
              </a:rPr>
              <a:t>                                                     }</a:t>
            </a:r>
          </a:p>
          <a:p>
            <a:r>
              <a:rPr lang="en-US" sz="1600" dirty="0" smtClean="0"/>
              <a:t>                                                </a:t>
            </a:r>
            <a:r>
              <a:rPr lang="en-US" sz="1600" dirty="0" smtClean="0">
                <a:solidFill>
                  <a:srgbClr val="7030A0"/>
                </a:solidFill>
              </a:rPr>
              <a:t>    #main{</a:t>
            </a:r>
          </a:p>
          <a:p>
            <a:r>
              <a:rPr lang="en-US" sz="1600" dirty="0" smtClean="0">
                <a:solidFill>
                  <a:srgbClr val="7030A0"/>
                </a:solidFill>
              </a:rPr>
              <a:t>                                                     </a:t>
            </a:r>
            <a:r>
              <a:rPr lang="en-US" sz="1600" dirty="0" err="1" smtClean="0">
                <a:solidFill>
                  <a:srgbClr val="7030A0"/>
                </a:solidFill>
              </a:rPr>
              <a:t>color:green</a:t>
            </a:r>
            <a:r>
              <a:rPr lang="en-US" sz="1600" dirty="0" smtClean="0">
                <a:solidFill>
                  <a:srgbClr val="7030A0"/>
                </a:solidFill>
              </a:rPr>
              <a:t>;                             </a:t>
            </a:r>
          </a:p>
          <a:p>
            <a:r>
              <a:rPr lang="en-US" sz="1600" dirty="0" smtClean="0">
                <a:solidFill>
                  <a:srgbClr val="7030A0"/>
                </a:solidFill>
              </a:rPr>
              <a:t>                                                    }</a:t>
            </a:r>
          </a:p>
          <a:p>
            <a:r>
              <a:rPr lang="en-US" sz="1600" dirty="0" smtClean="0"/>
              <a:t>                                                  </a:t>
            </a:r>
            <a:r>
              <a:rPr lang="en-US" sz="1600" dirty="0" smtClean="0">
                <a:solidFill>
                  <a:srgbClr val="0070C0"/>
                </a:solidFill>
              </a:rPr>
              <a:t> </a:t>
            </a:r>
            <a:r>
              <a:rPr lang="en-US" sz="1600" dirty="0" smtClean="0">
                <a:solidFill>
                  <a:srgbClr val="800000"/>
                </a:solidFill>
              </a:rPr>
              <a:t>.subheadings{</a:t>
            </a:r>
          </a:p>
          <a:p>
            <a:r>
              <a:rPr lang="en-US" sz="1600" dirty="0" smtClean="0">
                <a:solidFill>
                  <a:srgbClr val="800000"/>
                </a:solidFill>
              </a:rPr>
              <a:t>                                                    </a:t>
            </a:r>
            <a:r>
              <a:rPr lang="en-US" sz="1600" dirty="0" err="1" smtClean="0">
                <a:solidFill>
                  <a:srgbClr val="800000"/>
                </a:solidFill>
              </a:rPr>
              <a:t>color:brown</a:t>
            </a:r>
            <a:r>
              <a:rPr lang="en-US" sz="1600" dirty="0" smtClean="0">
                <a:solidFill>
                  <a:srgbClr val="800000"/>
                </a:solidFill>
              </a:rPr>
              <a:t>;                            </a:t>
            </a:r>
          </a:p>
          <a:p>
            <a:r>
              <a:rPr lang="en-US" sz="1600" dirty="0" smtClean="0">
                <a:solidFill>
                  <a:srgbClr val="800000"/>
                </a:solidFill>
              </a:rPr>
              <a:t>                                                    }</a:t>
            </a:r>
          </a:p>
          <a:p>
            <a:r>
              <a:rPr lang="en-US" sz="1600" dirty="0" smtClean="0">
                <a:solidFill>
                  <a:srgbClr val="00B050"/>
                </a:solidFill>
              </a:rPr>
              <a:t>                                 &lt;/style&gt;</a:t>
            </a:r>
          </a:p>
          <a:p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&lt;/head&gt;</a:t>
            </a:r>
          </a:p>
          <a:p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&lt;body&gt;</a:t>
            </a:r>
          </a:p>
          <a:p>
            <a:r>
              <a:rPr lang="en-US" sz="1600" dirty="0" smtClean="0"/>
              <a:t>                              </a:t>
            </a:r>
            <a:r>
              <a:rPr lang="en-US" sz="1600" dirty="0" smtClean="0">
                <a:solidFill>
                  <a:srgbClr val="00B050"/>
                </a:solidFill>
              </a:rPr>
              <a:t>&lt;h1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smtClean="0">
                <a:solidFill>
                  <a:srgbClr val="C00000"/>
                </a:solidFill>
              </a:rPr>
              <a:t>id</a:t>
            </a:r>
            <a:r>
              <a:rPr lang="en-US" sz="1600" dirty="0" smtClean="0"/>
              <a:t>="</a:t>
            </a:r>
            <a:r>
              <a:rPr lang="en-US" sz="1600" dirty="0" smtClean="0">
                <a:solidFill>
                  <a:srgbClr val="00B0F0"/>
                </a:solidFill>
              </a:rPr>
              <a:t>main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  <a:r>
              <a:rPr lang="en-US" sz="1600" dirty="0" smtClean="0"/>
              <a:t>Main Heading</a:t>
            </a:r>
            <a:r>
              <a:rPr lang="en-US" sz="1600" dirty="0" smtClean="0">
                <a:solidFill>
                  <a:srgbClr val="00B050"/>
                </a:solidFill>
              </a:rPr>
              <a:t>&lt;/h1&gt;</a:t>
            </a:r>
          </a:p>
          <a:p>
            <a:r>
              <a:rPr lang="en-US" sz="1600" dirty="0" smtClean="0"/>
              <a:t>                             </a:t>
            </a:r>
            <a:r>
              <a:rPr lang="en-US" sz="1600" dirty="0" smtClean="0">
                <a:solidFill>
                  <a:srgbClr val="00B050"/>
                </a:solidFill>
              </a:rPr>
              <a:t> &lt;h2</a:t>
            </a:r>
            <a:r>
              <a:rPr lang="en-US" sz="1600" dirty="0" smtClean="0">
                <a:solidFill>
                  <a:srgbClr val="C00000"/>
                </a:solidFill>
              </a:rPr>
              <a:t> class</a:t>
            </a:r>
            <a:r>
              <a:rPr lang="en-US" sz="1600" dirty="0" smtClean="0"/>
              <a:t>="</a:t>
            </a:r>
            <a:r>
              <a:rPr lang="en-US" sz="1600" dirty="0" smtClean="0">
                <a:solidFill>
                  <a:srgbClr val="00B0F0"/>
                </a:solidFill>
              </a:rPr>
              <a:t>subheadings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  <a:r>
              <a:rPr lang="en-US" sz="1600" dirty="0" err="1" smtClean="0"/>
              <a:t>SubHeading</a:t>
            </a:r>
            <a:r>
              <a:rPr lang="en-US" sz="1600" dirty="0" smtClean="0"/>
              <a:t> 1</a:t>
            </a:r>
            <a:r>
              <a:rPr lang="en-US" sz="1600" dirty="0" smtClean="0">
                <a:solidFill>
                  <a:srgbClr val="00B050"/>
                </a:solidFill>
              </a:rPr>
              <a:t>&lt;/h2&gt;</a:t>
            </a:r>
          </a:p>
          <a:p>
            <a:r>
              <a:rPr lang="en-US" sz="1600" dirty="0" smtClean="0"/>
              <a:t>	             </a:t>
            </a:r>
            <a:r>
              <a:rPr lang="en-US" sz="1600" dirty="0" smtClean="0">
                <a:solidFill>
                  <a:srgbClr val="00B050"/>
                </a:solidFill>
              </a:rPr>
              <a:t> &lt;h3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C00000"/>
                </a:solidFill>
              </a:rPr>
              <a:t>class</a:t>
            </a:r>
            <a:r>
              <a:rPr lang="en-US" sz="1600" dirty="0" smtClean="0"/>
              <a:t>="</a:t>
            </a:r>
            <a:r>
              <a:rPr lang="en-US" sz="1600" dirty="0" smtClean="0">
                <a:solidFill>
                  <a:srgbClr val="00B0F0"/>
                </a:solidFill>
              </a:rPr>
              <a:t> subheadings 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  <a:r>
              <a:rPr lang="en-US" sz="1600" dirty="0" err="1" smtClean="0"/>
              <a:t>SubHeading</a:t>
            </a:r>
            <a:r>
              <a:rPr lang="en-US" sz="1600" dirty="0" smtClean="0"/>
              <a:t> 2</a:t>
            </a:r>
            <a:r>
              <a:rPr lang="en-US" sz="1600" dirty="0" smtClean="0">
                <a:solidFill>
                  <a:srgbClr val="00B050"/>
                </a:solidFill>
              </a:rPr>
              <a:t>&lt;/h3&gt;</a:t>
            </a:r>
          </a:p>
          <a:p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&lt;/body&gt;</a:t>
            </a:r>
          </a:p>
          <a:p>
            <a:r>
              <a:rPr lang="en-US" sz="1600" dirty="0" smtClean="0">
                <a:solidFill>
                  <a:srgbClr val="00B050"/>
                </a:solidFill>
              </a:rPr>
              <a:t>&lt;/html&gt;</a:t>
            </a:r>
          </a:p>
          <a:p>
            <a:endParaRPr lang="en-US" sz="1600" dirty="0" smtClean="0"/>
          </a:p>
        </p:txBody>
      </p:sp>
      <p:sp>
        <p:nvSpPr>
          <p:cNvPr id="9" name="Left Brace 8"/>
          <p:cNvSpPr/>
          <p:nvPr/>
        </p:nvSpPr>
        <p:spPr bwMode="auto">
          <a:xfrm>
            <a:off x="3886200" y="2667000"/>
            <a:ext cx="457200" cy="609600"/>
          </a:xfrm>
          <a:prstGeom prst="leftBrac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2667000"/>
            <a:ext cx="1981200" cy="584775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US" sz="1600" b="0" dirty="0" smtClean="0"/>
              <a:t>Page Back ground changed to gray</a:t>
            </a:r>
            <a:endParaRPr lang="en-US" sz="1600" b="0" dirty="0"/>
          </a:p>
        </p:txBody>
      </p:sp>
      <p:sp>
        <p:nvSpPr>
          <p:cNvPr id="11" name="Left Brace 10"/>
          <p:cNvSpPr/>
          <p:nvPr/>
        </p:nvSpPr>
        <p:spPr bwMode="auto">
          <a:xfrm>
            <a:off x="3886200" y="3352800"/>
            <a:ext cx="457200" cy="1295400"/>
          </a:xfrm>
          <a:prstGeom prst="leftBrac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8600" y="3505200"/>
            <a:ext cx="3657600" cy="1077218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US" sz="1600" b="0" dirty="0" smtClean="0"/>
              <a:t>Main Heading color changed to green</a:t>
            </a:r>
          </a:p>
          <a:p>
            <a:endParaRPr lang="en-US" sz="1600" b="0" dirty="0" smtClean="0"/>
          </a:p>
          <a:p>
            <a:r>
              <a:rPr lang="en-US" sz="1600" b="0" dirty="0" smtClean="0"/>
              <a:t>All sub headings color changed to brown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48098262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– Internal Style Sheet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73339" y="937520"/>
            <a:ext cx="8382000" cy="4622800"/>
          </a:xfrm>
        </p:spPr>
        <p:txBody>
          <a:bodyPr/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Create an HTML file named CSSDemo.html and add the following code and run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81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702859" y="1442047"/>
            <a:ext cx="6553200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B050"/>
                </a:solidFill>
              </a:rPr>
              <a:t>&lt;html&gt;</a:t>
            </a:r>
          </a:p>
          <a:p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&lt;head&gt;</a:t>
            </a:r>
          </a:p>
          <a:p>
            <a:r>
              <a:rPr lang="en-US" sz="1600" dirty="0" smtClean="0"/>
              <a:t>                 	</a:t>
            </a:r>
            <a:r>
              <a:rPr lang="en-US" sz="1600" dirty="0" smtClean="0">
                <a:solidFill>
                  <a:srgbClr val="00B050"/>
                </a:solidFill>
              </a:rPr>
              <a:t>&lt;style</a:t>
            </a:r>
            <a:r>
              <a:rPr lang="en-US" sz="1600" dirty="0" smtClean="0">
                <a:solidFill>
                  <a:srgbClr val="00B0F0"/>
                </a:solidFill>
              </a:rPr>
              <a:t> </a:t>
            </a:r>
            <a:r>
              <a:rPr lang="en-US" sz="1600" dirty="0" smtClean="0">
                <a:solidFill>
                  <a:srgbClr val="C00000"/>
                </a:solidFill>
              </a:rPr>
              <a:t>type</a:t>
            </a:r>
            <a:r>
              <a:rPr lang="en-US" sz="1600" dirty="0" smtClean="0">
                <a:solidFill>
                  <a:srgbClr val="00B0F0"/>
                </a:solidFill>
              </a:rPr>
              <a:t>="text/</a:t>
            </a:r>
            <a:r>
              <a:rPr lang="en-US" sz="1600" dirty="0" err="1" smtClean="0">
                <a:solidFill>
                  <a:srgbClr val="00B0F0"/>
                </a:solidFill>
              </a:rPr>
              <a:t>css</a:t>
            </a:r>
            <a:r>
              <a:rPr lang="en-US" sz="1600" dirty="0" smtClean="0">
                <a:solidFill>
                  <a:srgbClr val="00B0F0"/>
                </a:solidFill>
              </a:rPr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</a:p>
          <a:p>
            <a:r>
              <a:rPr lang="en-US" sz="1600" dirty="0" smtClean="0"/>
              <a:t>                   		</a:t>
            </a:r>
            <a:r>
              <a:rPr lang="en-US" sz="1600" dirty="0" smtClean="0">
                <a:solidFill>
                  <a:srgbClr val="0070C0"/>
                </a:solidFill>
              </a:rPr>
              <a:t>    body{</a:t>
            </a:r>
          </a:p>
          <a:p>
            <a:r>
              <a:rPr lang="en-US" sz="1600" dirty="0" smtClean="0">
                <a:solidFill>
                  <a:srgbClr val="0070C0"/>
                </a:solidFill>
              </a:rPr>
              <a:t>                                                     background-</a:t>
            </a:r>
            <a:r>
              <a:rPr lang="en-US" sz="1600" dirty="0" err="1" smtClean="0">
                <a:solidFill>
                  <a:srgbClr val="0070C0"/>
                </a:solidFill>
              </a:rPr>
              <a:t>color:Gray</a:t>
            </a:r>
            <a:r>
              <a:rPr lang="en-US" sz="1600" dirty="0" smtClean="0">
                <a:solidFill>
                  <a:srgbClr val="0070C0"/>
                </a:solidFill>
              </a:rPr>
              <a:t>;</a:t>
            </a:r>
          </a:p>
          <a:p>
            <a:r>
              <a:rPr lang="en-US" sz="1600" dirty="0" smtClean="0">
                <a:solidFill>
                  <a:srgbClr val="0070C0"/>
                </a:solidFill>
              </a:rPr>
              <a:t>                                                     }</a:t>
            </a:r>
          </a:p>
          <a:p>
            <a:r>
              <a:rPr lang="en-US" sz="1600" dirty="0" smtClean="0"/>
              <a:t>                                                </a:t>
            </a:r>
            <a:r>
              <a:rPr lang="en-US" sz="1600" dirty="0" smtClean="0">
                <a:solidFill>
                  <a:srgbClr val="7030A0"/>
                </a:solidFill>
              </a:rPr>
              <a:t>    #main{</a:t>
            </a:r>
          </a:p>
          <a:p>
            <a:r>
              <a:rPr lang="en-US" sz="1600" dirty="0" smtClean="0">
                <a:solidFill>
                  <a:srgbClr val="7030A0"/>
                </a:solidFill>
              </a:rPr>
              <a:t>                                                     </a:t>
            </a:r>
            <a:r>
              <a:rPr lang="en-US" sz="1600" dirty="0" err="1" smtClean="0">
                <a:solidFill>
                  <a:srgbClr val="7030A0"/>
                </a:solidFill>
              </a:rPr>
              <a:t>color:green</a:t>
            </a:r>
            <a:r>
              <a:rPr lang="en-US" sz="1600" dirty="0" smtClean="0">
                <a:solidFill>
                  <a:srgbClr val="7030A0"/>
                </a:solidFill>
              </a:rPr>
              <a:t>;                             </a:t>
            </a:r>
          </a:p>
          <a:p>
            <a:r>
              <a:rPr lang="en-US" sz="1600" dirty="0" smtClean="0">
                <a:solidFill>
                  <a:srgbClr val="7030A0"/>
                </a:solidFill>
              </a:rPr>
              <a:t>                                                    }</a:t>
            </a:r>
          </a:p>
          <a:p>
            <a:r>
              <a:rPr lang="en-US" sz="1600" dirty="0" smtClean="0"/>
              <a:t>                                                  </a:t>
            </a:r>
            <a:r>
              <a:rPr lang="en-US" sz="1600" dirty="0" smtClean="0">
                <a:solidFill>
                  <a:srgbClr val="0070C0"/>
                </a:solidFill>
              </a:rPr>
              <a:t> </a:t>
            </a:r>
            <a:r>
              <a:rPr lang="en-US" sz="1600" dirty="0" smtClean="0">
                <a:solidFill>
                  <a:srgbClr val="800000"/>
                </a:solidFill>
              </a:rPr>
              <a:t>.subheadings{</a:t>
            </a:r>
          </a:p>
          <a:p>
            <a:r>
              <a:rPr lang="en-US" sz="1600" dirty="0" smtClean="0">
                <a:solidFill>
                  <a:srgbClr val="800000"/>
                </a:solidFill>
              </a:rPr>
              <a:t>                                                    </a:t>
            </a:r>
            <a:r>
              <a:rPr lang="en-US" sz="1600" dirty="0" err="1" smtClean="0">
                <a:solidFill>
                  <a:srgbClr val="800000"/>
                </a:solidFill>
              </a:rPr>
              <a:t>color:brown</a:t>
            </a:r>
            <a:r>
              <a:rPr lang="en-US" sz="1600" dirty="0" smtClean="0">
                <a:solidFill>
                  <a:srgbClr val="800000"/>
                </a:solidFill>
              </a:rPr>
              <a:t>;                            </a:t>
            </a:r>
          </a:p>
          <a:p>
            <a:r>
              <a:rPr lang="en-US" sz="1600" dirty="0" smtClean="0">
                <a:solidFill>
                  <a:srgbClr val="800000"/>
                </a:solidFill>
              </a:rPr>
              <a:t>                                                    }</a:t>
            </a:r>
          </a:p>
          <a:p>
            <a:r>
              <a:rPr lang="en-US" sz="1600" dirty="0" smtClean="0">
                <a:solidFill>
                  <a:srgbClr val="00B050"/>
                </a:solidFill>
              </a:rPr>
              <a:t>                                 &lt;/style&gt;</a:t>
            </a:r>
          </a:p>
          <a:p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&lt;/head&gt;</a:t>
            </a:r>
          </a:p>
          <a:p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&lt;body&gt;</a:t>
            </a:r>
          </a:p>
          <a:p>
            <a:r>
              <a:rPr lang="en-US" sz="1600" dirty="0" smtClean="0"/>
              <a:t>                              </a:t>
            </a:r>
            <a:r>
              <a:rPr lang="en-US" sz="1600" dirty="0" smtClean="0">
                <a:solidFill>
                  <a:srgbClr val="00B050"/>
                </a:solidFill>
              </a:rPr>
              <a:t>&lt;h1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smtClean="0">
                <a:solidFill>
                  <a:srgbClr val="C00000"/>
                </a:solidFill>
              </a:rPr>
              <a:t>id</a:t>
            </a:r>
            <a:r>
              <a:rPr lang="en-US" sz="1600" dirty="0" smtClean="0"/>
              <a:t>="</a:t>
            </a:r>
            <a:r>
              <a:rPr lang="en-US" sz="1600" dirty="0" smtClean="0">
                <a:solidFill>
                  <a:srgbClr val="00B0F0"/>
                </a:solidFill>
              </a:rPr>
              <a:t>main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  <a:r>
              <a:rPr lang="en-US" sz="1600" dirty="0" smtClean="0"/>
              <a:t>Main Heading</a:t>
            </a:r>
            <a:r>
              <a:rPr lang="en-US" sz="1600" dirty="0" smtClean="0">
                <a:solidFill>
                  <a:srgbClr val="00B050"/>
                </a:solidFill>
              </a:rPr>
              <a:t>&lt;/h1&gt;</a:t>
            </a:r>
          </a:p>
          <a:p>
            <a:r>
              <a:rPr lang="en-US" sz="1600" dirty="0" smtClean="0"/>
              <a:t>                             </a:t>
            </a:r>
            <a:r>
              <a:rPr lang="en-US" sz="1600" dirty="0" smtClean="0">
                <a:solidFill>
                  <a:srgbClr val="00B050"/>
                </a:solidFill>
              </a:rPr>
              <a:t> &lt;h2</a:t>
            </a:r>
            <a:r>
              <a:rPr lang="en-US" sz="1600" dirty="0" smtClean="0">
                <a:solidFill>
                  <a:srgbClr val="C00000"/>
                </a:solidFill>
              </a:rPr>
              <a:t> class</a:t>
            </a:r>
            <a:r>
              <a:rPr lang="en-US" sz="1600" dirty="0" smtClean="0"/>
              <a:t>="</a:t>
            </a:r>
            <a:r>
              <a:rPr lang="en-US" sz="1600" dirty="0" smtClean="0">
                <a:solidFill>
                  <a:srgbClr val="00B0F0"/>
                </a:solidFill>
              </a:rPr>
              <a:t>subheadings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  <a:r>
              <a:rPr lang="en-US" sz="1600" dirty="0" err="1" smtClean="0"/>
              <a:t>SubHeading</a:t>
            </a:r>
            <a:r>
              <a:rPr lang="en-US" sz="1600" dirty="0" smtClean="0"/>
              <a:t> 1</a:t>
            </a:r>
            <a:r>
              <a:rPr lang="en-US" sz="1600" dirty="0" smtClean="0">
                <a:solidFill>
                  <a:srgbClr val="00B050"/>
                </a:solidFill>
              </a:rPr>
              <a:t>&lt;/h2&gt;</a:t>
            </a:r>
          </a:p>
          <a:p>
            <a:r>
              <a:rPr lang="en-US" sz="1600" dirty="0" smtClean="0"/>
              <a:t>	             </a:t>
            </a:r>
            <a:r>
              <a:rPr lang="en-US" sz="1600" dirty="0" smtClean="0">
                <a:solidFill>
                  <a:srgbClr val="00B050"/>
                </a:solidFill>
              </a:rPr>
              <a:t> &lt;h3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C00000"/>
                </a:solidFill>
              </a:rPr>
              <a:t>class</a:t>
            </a:r>
            <a:r>
              <a:rPr lang="en-US" sz="1600" dirty="0" smtClean="0"/>
              <a:t>="</a:t>
            </a:r>
            <a:r>
              <a:rPr lang="en-US" sz="1600" dirty="0" smtClean="0">
                <a:solidFill>
                  <a:srgbClr val="00B0F0"/>
                </a:solidFill>
              </a:rPr>
              <a:t> subheadings 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  <a:r>
              <a:rPr lang="en-US" sz="1600" dirty="0" err="1" smtClean="0"/>
              <a:t>SubHeading</a:t>
            </a:r>
            <a:r>
              <a:rPr lang="en-US" sz="1600" dirty="0" smtClean="0"/>
              <a:t> 2</a:t>
            </a:r>
            <a:r>
              <a:rPr lang="en-US" sz="1600" dirty="0" smtClean="0">
                <a:solidFill>
                  <a:srgbClr val="00B050"/>
                </a:solidFill>
              </a:rPr>
              <a:t>&lt;/h3&gt;</a:t>
            </a:r>
          </a:p>
          <a:p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&lt;/body&gt;</a:t>
            </a:r>
          </a:p>
          <a:p>
            <a:r>
              <a:rPr lang="en-US" sz="1600" dirty="0" smtClean="0">
                <a:solidFill>
                  <a:srgbClr val="00B050"/>
                </a:solidFill>
              </a:rPr>
              <a:t>&lt;/html&gt;</a:t>
            </a:r>
          </a:p>
          <a:p>
            <a:endParaRPr lang="en-US" sz="1500" dirty="0" smtClean="0"/>
          </a:p>
        </p:txBody>
      </p:sp>
    </p:spTree>
    <p:extLst>
      <p:ext uri="{BB962C8B-B14F-4D97-AF65-F5344CB8AC3E}">
        <p14:creationId xmlns:p14="http://schemas.microsoft.com/office/powerpoint/2010/main" val="184484113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External  Style Sheet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The styles will be written in a separate .</a:t>
            </a:r>
            <a:r>
              <a:rPr lang="en-US" sz="2000" dirty="0" err="1"/>
              <a:t>css</a:t>
            </a:r>
            <a:r>
              <a:rPr lang="en-US" sz="2000" dirty="0"/>
              <a:t> file and included in the HTML file.  This is the ideal way as the same style can be reused in multiple pages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43000" y="1905000"/>
            <a:ext cx="7620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600" dirty="0" smtClean="0">
                <a:solidFill>
                  <a:srgbClr val="00B050"/>
                </a:solidFill>
              </a:rPr>
              <a:t>&lt;html&gt;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&lt;head&gt;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                  </a:t>
            </a:r>
            <a:r>
              <a:rPr lang="en-US" sz="1600" dirty="0" smtClean="0">
                <a:solidFill>
                  <a:srgbClr val="00B050"/>
                </a:solidFill>
              </a:rPr>
              <a:t>&lt;link </a:t>
            </a:r>
            <a:r>
              <a:rPr lang="en-US" sz="1600" dirty="0" err="1" smtClean="0">
                <a:solidFill>
                  <a:srgbClr val="C00000"/>
                </a:solidFill>
              </a:rPr>
              <a:t>rel</a:t>
            </a:r>
            <a:r>
              <a:rPr lang="en-US" sz="1600" dirty="0" smtClean="0"/>
              <a:t>="</a:t>
            </a:r>
            <a:r>
              <a:rPr lang="en-US" sz="1600" dirty="0" err="1" smtClean="0">
                <a:solidFill>
                  <a:srgbClr val="00B0F0"/>
                </a:solidFill>
              </a:rPr>
              <a:t>stylesheet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C00000"/>
                </a:solidFill>
              </a:rPr>
              <a:t> type</a:t>
            </a:r>
            <a:r>
              <a:rPr lang="en-US" sz="1600" dirty="0" smtClean="0"/>
              <a:t>="</a:t>
            </a:r>
            <a:r>
              <a:rPr lang="en-US" sz="1600" dirty="0" smtClean="0">
                <a:solidFill>
                  <a:srgbClr val="00B0F0"/>
                </a:solidFill>
              </a:rPr>
              <a:t>text/</a:t>
            </a:r>
            <a:r>
              <a:rPr lang="en-US" sz="1600" dirty="0" err="1" smtClean="0">
                <a:solidFill>
                  <a:srgbClr val="00B0F0"/>
                </a:solidFill>
              </a:rPr>
              <a:t>css</a:t>
            </a:r>
            <a:r>
              <a:rPr lang="en-US" sz="1600" dirty="0" smtClean="0"/>
              <a:t>" </a:t>
            </a:r>
            <a:r>
              <a:rPr lang="en-US" sz="1600" dirty="0" err="1" smtClean="0">
                <a:solidFill>
                  <a:srgbClr val="C00000"/>
                </a:solidFill>
              </a:rPr>
              <a:t>href</a:t>
            </a:r>
            <a:r>
              <a:rPr lang="en-US" sz="1600" dirty="0" smtClean="0"/>
              <a:t>=“</a:t>
            </a:r>
            <a:r>
              <a:rPr lang="en-US" sz="1600" dirty="0" smtClean="0">
                <a:solidFill>
                  <a:srgbClr val="00B0F0"/>
                </a:solidFill>
              </a:rPr>
              <a:t>styles.css</a:t>
            </a:r>
            <a:r>
              <a:rPr lang="en-US" sz="1600" dirty="0" smtClean="0"/>
              <a:t>" </a:t>
            </a:r>
            <a:r>
              <a:rPr lang="en-US" sz="1600" dirty="0" smtClean="0">
                <a:solidFill>
                  <a:srgbClr val="00B050"/>
                </a:solidFill>
              </a:rPr>
              <a:t>/&gt;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&lt;/head&gt;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&lt;body&gt;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                              </a:t>
            </a:r>
            <a:r>
              <a:rPr lang="en-US" sz="1600" dirty="0" smtClean="0">
                <a:solidFill>
                  <a:srgbClr val="00B050"/>
                </a:solidFill>
              </a:rPr>
              <a:t>&lt;h1</a:t>
            </a:r>
            <a:r>
              <a:rPr lang="en-US" sz="1600" dirty="0" smtClean="0">
                <a:solidFill>
                  <a:srgbClr val="FF0000"/>
                </a:solidFill>
              </a:rPr>
              <a:t> </a:t>
            </a:r>
            <a:r>
              <a:rPr lang="en-US" sz="1600" dirty="0" smtClean="0">
                <a:solidFill>
                  <a:srgbClr val="C00000"/>
                </a:solidFill>
              </a:rPr>
              <a:t>id</a:t>
            </a:r>
            <a:r>
              <a:rPr lang="en-US" sz="1600" dirty="0" smtClean="0"/>
              <a:t>="</a:t>
            </a:r>
            <a:r>
              <a:rPr lang="en-US" sz="1600" dirty="0" smtClean="0">
                <a:solidFill>
                  <a:srgbClr val="00B0F0"/>
                </a:solidFill>
              </a:rPr>
              <a:t>main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  <a:r>
              <a:rPr lang="en-US" sz="1600" dirty="0" smtClean="0"/>
              <a:t>Main Heading</a:t>
            </a:r>
            <a:r>
              <a:rPr lang="en-US" sz="1600" dirty="0" smtClean="0">
                <a:solidFill>
                  <a:srgbClr val="00B050"/>
                </a:solidFill>
              </a:rPr>
              <a:t>&lt;/h1&gt;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                             </a:t>
            </a:r>
            <a:r>
              <a:rPr lang="en-US" sz="1600" dirty="0" smtClean="0">
                <a:solidFill>
                  <a:srgbClr val="00B050"/>
                </a:solidFill>
              </a:rPr>
              <a:t> &lt;h3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C00000"/>
                </a:solidFill>
              </a:rPr>
              <a:t>class</a:t>
            </a:r>
            <a:r>
              <a:rPr lang="en-US" sz="1600" dirty="0" smtClean="0"/>
              <a:t>="</a:t>
            </a:r>
            <a:r>
              <a:rPr lang="en-US" sz="1600" dirty="0" smtClean="0">
                <a:solidFill>
                  <a:srgbClr val="00B0F0"/>
                </a:solidFill>
              </a:rPr>
              <a:t>subheadings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  <a:r>
              <a:rPr lang="en-US" sz="1600" dirty="0" err="1" smtClean="0"/>
              <a:t>SubHeading</a:t>
            </a:r>
            <a:r>
              <a:rPr lang="en-US" sz="1600" dirty="0" smtClean="0"/>
              <a:t> 1</a:t>
            </a:r>
            <a:r>
              <a:rPr lang="en-US" sz="1600" dirty="0" smtClean="0">
                <a:solidFill>
                  <a:srgbClr val="00B050"/>
                </a:solidFill>
              </a:rPr>
              <a:t>&lt;/h3&gt;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	             </a:t>
            </a:r>
            <a:r>
              <a:rPr lang="en-US" sz="1600" dirty="0" smtClean="0">
                <a:solidFill>
                  <a:srgbClr val="00B050"/>
                </a:solidFill>
              </a:rPr>
              <a:t> &lt;h3</a:t>
            </a:r>
            <a:r>
              <a:rPr lang="en-US" sz="1600" dirty="0" smtClean="0"/>
              <a:t> </a:t>
            </a:r>
            <a:r>
              <a:rPr lang="en-US" sz="1600" dirty="0" smtClean="0">
                <a:solidFill>
                  <a:srgbClr val="C00000"/>
                </a:solidFill>
              </a:rPr>
              <a:t>class</a:t>
            </a:r>
            <a:r>
              <a:rPr lang="en-US" sz="1600" dirty="0" smtClean="0"/>
              <a:t>="</a:t>
            </a:r>
            <a:r>
              <a:rPr lang="en-US" sz="1600" dirty="0" smtClean="0">
                <a:solidFill>
                  <a:srgbClr val="00B0F0"/>
                </a:solidFill>
              </a:rPr>
              <a:t> subheadings </a:t>
            </a:r>
            <a:r>
              <a:rPr lang="en-US" sz="1600" dirty="0" smtClean="0"/>
              <a:t>"</a:t>
            </a:r>
            <a:r>
              <a:rPr lang="en-US" sz="1600" dirty="0" smtClean="0">
                <a:solidFill>
                  <a:srgbClr val="00B050"/>
                </a:solidFill>
              </a:rPr>
              <a:t>&gt;</a:t>
            </a:r>
            <a:r>
              <a:rPr lang="en-US" sz="1600" dirty="0" err="1" smtClean="0"/>
              <a:t>SubHeading</a:t>
            </a:r>
            <a:r>
              <a:rPr lang="en-US" sz="1600" dirty="0" smtClean="0"/>
              <a:t> 2</a:t>
            </a:r>
            <a:r>
              <a:rPr lang="en-US" sz="1600" dirty="0" smtClean="0">
                <a:solidFill>
                  <a:srgbClr val="00B050"/>
                </a:solidFill>
              </a:rPr>
              <a:t>&lt;/h3&gt;</a:t>
            </a:r>
          </a:p>
          <a:p>
            <a:pPr>
              <a:spcBef>
                <a:spcPts val="1200"/>
              </a:spcBef>
            </a:pPr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&lt;/body&gt;</a:t>
            </a:r>
          </a:p>
          <a:p>
            <a:pPr>
              <a:spcBef>
                <a:spcPts val="1200"/>
              </a:spcBef>
            </a:pPr>
            <a:r>
              <a:rPr lang="en-US" sz="1600" dirty="0" smtClean="0">
                <a:solidFill>
                  <a:srgbClr val="00B050"/>
                </a:solidFill>
              </a:rPr>
              <a:t>&lt;/html&gt;</a:t>
            </a:r>
          </a:p>
          <a:p>
            <a:pPr>
              <a:spcBef>
                <a:spcPts val="1200"/>
              </a:spcBef>
            </a:pPr>
            <a:endParaRPr lang="en-US" sz="1600" dirty="0" smtClean="0"/>
          </a:p>
        </p:txBody>
      </p:sp>
      <p:sp>
        <p:nvSpPr>
          <p:cNvPr id="6" name="Right Brace 5"/>
          <p:cNvSpPr/>
          <p:nvPr/>
        </p:nvSpPr>
        <p:spPr bwMode="auto">
          <a:xfrm>
            <a:off x="7315200" y="2667000"/>
            <a:ext cx="152400" cy="533400"/>
          </a:xfrm>
          <a:prstGeom prst="rightBrac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mtClean="0"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16989" y="2650542"/>
            <a:ext cx="1600200" cy="830997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r>
              <a:rPr lang="en-US" sz="1600" b="0" dirty="0" smtClean="0"/>
              <a:t>CSS File included in the HTML page.</a:t>
            </a: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37876835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Lend a Hand – External Style 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1104775"/>
            <a:ext cx="7162800" cy="7848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dirty="0" smtClean="0">
                <a:latin typeface="Arial" pitchFamily="34" charset="0"/>
                <a:cs typeface="Arial" pitchFamily="34" charset="0"/>
              </a:rPr>
              <a:t>Steps :</a:t>
            </a:r>
          </a:p>
          <a:p>
            <a:r>
              <a:rPr lang="en-US" sz="1500" dirty="0" smtClean="0">
                <a:latin typeface="Arial" pitchFamily="34" charset="0"/>
                <a:cs typeface="Arial" pitchFamily="34" charset="0"/>
              </a:rPr>
              <a:t>Step 1:</a:t>
            </a:r>
            <a:r>
              <a:rPr lang="en-US" sz="1500" b="0" dirty="0" smtClean="0">
                <a:latin typeface="Arial" pitchFamily="34" charset="0"/>
                <a:cs typeface="Arial" pitchFamily="34" charset="0"/>
              </a:rPr>
              <a:t>Move the inline style from CSSDemo.html to styles.css</a:t>
            </a:r>
          </a:p>
          <a:p>
            <a:r>
              <a:rPr lang="en-US" sz="1500" dirty="0" smtClean="0">
                <a:latin typeface="Arial" pitchFamily="34" charset="0"/>
                <a:cs typeface="Arial" pitchFamily="34" charset="0"/>
              </a:rPr>
              <a:t>Step 2:</a:t>
            </a:r>
            <a:r>
              <a:rPr lang="en-US" sz="1500" b="0" dirty="0" smtClean="0">
                <a:latin typeface="Arial" pitchFamily="34" charset="0"/>
                <a:cs typeface="Arial" pitchFamily="34" charset="0"/>
              </a:rPr>
              <a:t>Import  styles.css into CSSDemo.html</a:t>
            </a:r>
            <a:endParaRPr lang="en-US" sz="1500" b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2895600"/>
            <a:ext cx="3352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</a:rPr>
              <a:t> body{</a:t>
            </a:r>
          </a:p>
          <a:p>
            <a:r>
              <a:rPr lang="en-US" sz="1400" dirty="0" smtClean="0">
                <a:solidFill>
                  <a:srgbClr val="0070C0"/>
                </a:solidFill>
              </a:rPr>
              <a:t>                                                     background-</a:t>
            </a:r>
            <a:r>
              <a:rPr lang="en-US" sz="1400" dirty="0" err="1" smtClean="0">
                <a:solidFill>
                  <a:srgbClr val="0070C0"/>
                </a:solidFill>
              </a:rPr>
              <a:t>color:Gray</a:t>
            </a:r>
            <a:r>
              <a:rPr lang="en-US" sz="1400" dirty="0" smtClean="0">
                <a:solidFill>
                  <a:srgbClr val="0070C0"/>
                </a:solidFill>
              </a:rPr>
              <a:t>;                                                     }</a:t>
            </a:r>
          </a:p>
          <a:p>
            <a:endParaRPr lang="en-US" sz="1400" dirty="0" smtClean="0">
              <a:solidFill>
                <a:srgbClr val="0070C0"/>
              </a:solidFill>
            </a:endParaRPr>
          </a:p>
          <a:p>
            <a:r>
              <a:rPr lang="en-US" sz="1400" dirty="0" smtClean="0">
                <a:solidFill>
                  <a:srgbClr val="7030A0"/>
                </a:solidFill>
              </a:rPr>
              <a:t> #main{                                                     </a:t>
            </a:r>
            <a:r>
              <a:rPr lang="en-US" sz="1400" dirty="0" err="1" smtClean="0">
                <a:solidFill>
                  <a:srgbClr val="7030A0"/>
                </a:solidFill>
              </a:rPr>
              <a:t>color:green</a:t>
            </a:r>
            <a:r>
              <a:rPr lang="en-US" sz="1400" dirty="0" smtClean="0">
                <a:solidFill>
                  <a:srgbClr val="7030A0"/>
                </a:solidFill>
              </a:rPr>
              <a:t>;                             </a:t>
            </a:r>
          </a:p>
          <a:p>
            <a:r>
              <a:rPr lang="en-US" sz="1400" dirty="0" smtClean="0">
                <a:solidFill>
                  <a:srgbClr val="7030A0"/>
                </a:solidFill>
              </a:rPr>
              <a:t> }</a:t>
            </a:r>
          </a:p>
          <a:p>
            <a:r>
              <a:rPr lang="en-US" sz="1400" dirty="0" smtClean="0"/>
              <a:t>                                                  </a:t>
            </a:r>
            <a:r>
              <a:rPr lang="en-US" sz="1400" dirty="0" smtClean="0">
                <a:solidFill>
                  <a:srgbClr val="0070C0"/>
                </a:solidFill>
              </a:rPr>
              <a:t> </a:t>
            </a:r>
            <a:r>
              <a:rPr lang="en-US" sz="1400" dirty="0" smtClean="0">
                <a:solidFill>
                  <a:srgbClr val="800000"/>
                </a:solidFill>
              </a:rPr>
              <a:t>.subheadings{                                                    </a:t>
            </a:r>
            <a:r>
              <a:rPr lang="en-US" sz="1400" dirty="0" err="1" smtClean="0">
                <a:solidFill>
                  <a:srgbClr val="800000"/>
                </a:solidFill>
              </a:rPr>
              <a:t>color:brown</a:t>
            </a:r>
            <a:r>
              <a:rPr lang="en-US" sz="1400" dirty="0" smtClean="0">
                <a:solidFill>
                  <a:srgbClr val="800000"/>
                </a:solidFill>
              </a:rPr>
              <a:t>;                            </a:t>
            </a:r>
          </a:p>
          <a:p>
            <a:r>
              <a:rPr lang="en-US" sz="1400" dirty="0" smtClean="0">
                <a:solidFill>
                  <a:srgbClr val="800000"/>
                </a:solidFill>
              </a:rPr>
              <a:t> }</a:t>
            </a:r>
            <a:endParaRPr 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200400" y="2780705"/>
            <a:ext cx="594360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400" dirty="0" smtClean="0">
                <a:solidFill>
                  <a:srgbClr val="00B050"/>
                </a:solidFill>
              </a:rPr>
              <a:t>&lt;html&gt;</a:t>
            </a:r>
          </a:p>
          <a:p>
            <a:pPr>
              <a:spcBef>
                <a:spcPts val="1200"/>
              </a:spcBef>
            </a:pPr>
            <a:r>
              <a:rPr lang="en-US" sz="1400" dirty="0" smtClean="0"/>
              <a:t>	</a:t>
            </a:r>
            <a:r>
              <a:rPr lang="en-US" sz="1400" dirty="0" smtClean="0">
                <a:solidFill>
                  <a:srgbClr val="00B050"/>
                </a:solidFill>
              </a:rPr>
              <a:t>&lt;head&gt;</a:t>
            </a:r>
          </a:p>
          <a:p>
            <a:pPr>
              <a:spcBef>
                <a:spcPts val="1200"/>
              </a:spcBef>
            </a:pPr>
            <a:r>
              <a:rPr lang="en-US" sz="1400" dirty="0" smtClean="0"/>
              <a:t>                  </a:t>
            </a:r>
            <a:r>
              <a:rPr lang="en-US" sz="1400" dirty="0" smtClean="0">
                <a:solidFill>
                  <a:srgbClr val="00B050"/>
                </a:solidFill>
              </a:rPr>
              <a:t>&lt;link </a:t>
            </a:r>
            <a:r>
              <a:rPr lang="en-US" sz="1400" dirty="0" err="1" smtClean="0">
                <a:solidFill>
                  <a:srgbClr val="C00000"/>
                </a:solidFill>
              </a:rPr>
              <a:t>rel</a:t>
            </a:r>
            <a:r>
              <a:rPr lang="en-US" sz="1400" dirty="0" smtClean="0"/>
              <a:t>="</a:t>
            </a:r>
            <a:r>
              <a:rPr lang="en-US" sz="1400" dirty="0" err="1" smtClean="0">
                <a:solidFill>
                  <a:srgbClr val="00B0F0"/>
                </a:solidFill>
              </a:rPr>
              <a:t>stylesheet</a:t>
            </a:r>
            <a:r>
              <a:rPr lang="en-US" sz="1400" dirty="0" smtClean="0"/>
              <a:t>"</a:t>
            </a:r>
            <a:r>
              <a:rPr lang="en-US" sz="1400" dirty="0" smtClean="0">
                <a:solidFill>
                  <a:srgbClr val="C00000"/>
                </a:solidFill>
              </a:rPr>
              <a:t> type</a:t>
            </a:r>
            <a:r>
              <a:rPr lang="en-US" sz="1400" dirty="0" smtClean="0"/>
              <a:t>="</a:t>
            </a:r>
            <a:r>
              <a:rPr lang="en-US" sz="1400" dirty="0" smtClean="0">
                <a:solidFill>
                  <a:srgbClr val="00B0F0"/>
                </a:solidFill>
              </a:rPr>
              <a:t>text/</a:t>
            </a:r>
            <a:r>
              <a:rPr lang="en-US" sz="1400" dirty="0" err="1" smtClean="0">
                <a:solidFill>
                  <a:srgbClr val="00B0F0"/>
                </a:solidFill>
              </a:rPr>
              <a:t>css</a:t>
            </a:r>
            <a:r>
              <a:rPr lang="en-US" sz="1400" dirty="0" smtClean="0"/>
              <a:t>" </a:t>
            </a:r>
            <a:r>
              <a:rPr lang="en-US" sz="1400" dirty="0" err="1" smtClean="0">
                <a:solidFill>
                  <a:srgbClr val="C00000"/>
                </a:solidFill>
              </a:rPr>
              <a:t>href</a:t>
            </a:r>
            <a:r>
              <a:rPr lang="en-US" sz="1400" dirty="0" smtClean="0"/>
              <a:t>=“</a:t>
            </a:r>
            <a:r>
              <a:rPr lang="en-US" sz="1400" dirty="0" smtClean="0">
                <a:solidFill>
                  <a:srgbClr val="00B0F0"/>
                </a:solidFill>
              </a:rPr>
              <a:t>styles.css</a:t>
            </a:r>
            <a:r>
              <a:rPr lang="en-US" sz="1400" dirty="0" smtClean="0"/>
              <a:t>" </a:t>
            </a:r>
            <a:r>
              <a:rPr lang="en-US" sz="1400" dirty="0" smtClean="0">
                <a:solidFill>
                  <a:srgbClr val="00B050"/>
                </a:solidFill>
              </a:rPr>
              <a:t>/&gt;</a:t>
            </a:r>
          </a:p>
          <a:p>
            <a:pPr>
              <a:spcBef>
                <a:spcPts val="1200"/>
              </a:spcBef>
            </a:pPr>
            <a:r>
              <a:rPr lang="en-US" sz="1400" dirty="0" smtClean="0"/>
              <a:t>	</a:t>
            </a:r>
            <a:r>
              <a:rPr lang="en-US" sz="1400" dirty="0" smtClean="0">
                <a:solidFill>
                  <a:srgbClr val="00B050"/>
                </a:solidFill>
              </a:rPr>
              <a:t>&lt;/head&gt;</a:t>
            </a:r>
          </a:p>
          <a:p>
            <a:pPr>
              <a:spcBef>
                <a:spcPts val="1200"/>
              </a:spcBef>
            </a:pPr>
            <a:r>
              <a:rPr lang="en-US" sz="1400" dirty="0" smtClean="0"/>
              <a:t>	</a:t>
            </a:r>
            <a:r>
              <a:rPr lang="en-US" sz="1400" dirty="0" smtClean="0">
                <a:solidFill>
                  <a:srgbClr val="00B050"/>
                </a:solidFill>
              </a:rPr>
              <a:t>&lt;body&gt;</a:t>
            </a:r>
          </a:p>
          <a:p>
            <a:pPr>
              <a:spcBef>
                <a:spcPts val="1200"/>
              </a:spcBef>
            </a:pPr>
            <a:r>
              <a:rPr lang="en-US" sz="1400" dirty="0" smtClean="0"/>
              <a:t>                              </a:t>
            </a:r>
            <a:r>
              <a:rPr lang="en-US" sz="1400" dirty="0" smtClean="0">
                <a:solidFill>
                  <a:srgbClr val="00B050"/>
                </a:solidFill>
              </a:rPr>
              <a:t>&lt;h1</a:t>
            </a:r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 smtClean="0">
                <a:solidFill>
                  <a:srgbClr val="C00000"/>
                </a:solidFill>
              </a:rPr>
              <a:t>id</a:t>
            </a:r>
            <a:r>
              <a:rPr lang="en-US" sz="1400" dirty="0" smtClean="0"/>
              <a:t>="</a:t>
            </a:r>
            <a:r>
              <a:rPr lang="en-US" sz="1400" dirty="0" smtClean="0">
                <a:solidFill>
                  <a:srgbClr val="00B0F0"/>
                </a:solidFill>
              </a:rPr>
              <a:t>main</a:t>
            </a:r>
            <a:r>
              <a:rPr lang="en-US" sz="1400" dirty="0" smtClean="0"/>
              <a:t>"</a:t>
            </a:r>
            <a:r>
              <a:rPr lang="en-US" sz="1400" dirty="0" smtClean="0">
                <a:solidFill>
                  <a:srgbClr val="00B050"/>
                </a:solidFill>
              </a:rPr>
              <a:t>&gt;</a:t>
            </a:r>
            <a:r>
              <a:rPr lang="en-US" sz="1400" dirty="0" smtClean="0"/>
              <a:t>Main Heading</a:t>
            </a:r>
            <a:r>
              <a:rPr lang="en-US" sz="1400" dirty="0" smtClean="0">
                <a:solidFill>
                  <a:srgbClr val="00B050"/>
                </a:solidFill>
              </a:rPr>
              <a:t>&lt;/h1&gt;</a:t>
            </a:r>
          </a:p>
          <a:p>
            <a:pPr>
              <a:spcBef>
                <a:spcPts val="1200"/>
              </a:spcBef>
            </a:pPr>
            <a:r>
              <a:rPr lang="en-US" sz="1400" dirty="0" smtClean="0"/>
              <a:t>                             </a:t>
            </a:r>
            <a:r>
              <a:rPr lang="en-US" sz="1400" dirty="0" smtClean="0">
                <a:solidFill>
                  <a:srgbClr val="00B050"/>
                </a:solidFill>
              </a:rPr>
              <a:t> &lt;h3</a:t>
            </a:r>
            <a:r>
              <a:rPr lang="en-US" sz="1400" dirty="0" smtClean="0"/>
              <a:t> </a:t>
            </a:r>
            <a:r>
              <a:rPr lang="en-US" sz="1400" dirty="0" smtClean="0">
                <a:solidFill>
                  <a:srgbClr val="C00000"/>
                </a:solidFill>
              </a:rPr>
              <a:t>class</a:t>
            </a:r>
            <a:r>
              <a:rPr lang="en-US" sz="1400" dirty="0" smtClean="0"/>
              <a:t>="</a:t>
            </a:r>
            <a:r>
              <a:rPr lang="en-US" sz="1400" dirty="0" smtClean="0">
                <a:solidFill>
                  <a:srgbClr val="00B0F0"/>
                </a:solidFill>
              </a:rPr>
              <a:t>subheadings</a:t>
            </a:r>
            <a:r>
              <a:rPr lang="en-US" sz="1400" dirty="0" smtClean="0"/>
              <a:t>"</a:t>
            </a:r>
            <a:r>
              <a:rPr lang="en-US" sz="1400" dirty="0" smtClean="0">
                <a:solidFill>
                  <a:srgbClr val="00B050"/>
                </a:solidFill>
              </a:rPr>
              <a:t>&gt;</a:t>
            </a:r>
            <a:r>
              <a:rPr lang="en-US" sz="1400" dirty="0" err="1" smtClean="0"/>
              <a:t>SubHeading</a:t>
            </a:r>
            <a:r>
              <a:rPr lang="en-US" sz="1400" dirty="0" smtClean="0"/>
              <a:t> 1</a:t>
            </a:r>
            <a:r>
              <a:rPr lang="en-US" sz="1400" dirty="0" smtClean="0">
                <a:solidFill>
                  <a:srgbClr val="00B050"/>
                </a:solidFill>
              </a:rPr>
              <a:t>&lt;/h3&gt;</a:t>
            </a:r>
          </a:p>
          <a:p>
            <a:pPr>
              <a:spcBef>
                <a:spcPts val="1200"/>
              </a:spcBef>
            </a:pPr>
            <a:r>
              <a:rPr lang="en-US" sz="1400" dirty="0" smtClean="0"/>
              <a:t>	          </a:t>
            </a:r>
            <a:r>
              <a:rPr lang="en-US" sz="1400" dirty="0" smtClean="0">
                <a:solidFill>
                  <a:srgbClr val="00B050"/>
                </a:solidFill>
              </a:rPr>
              <a:t> &lt;h3</a:t>
            </a:r>
            <a:r>
              <a:rPr lang="en-US" sz="1400" dirty="0" smtClean="0"/>
              <a:t> </a:t>
            </a:r>
            <a:r>
              <a:rPr lang="en-US" sz="1400" dirty="0" smtClean="0">
                <a:solidFill>
                  <a:srgbClr val="C00000"/>
                </a:solidFill>
              </a:rPr>
              <a:t>class</a:t>
            </a:r>
            <a:r>
              <a:rPr lang="en-US" sz="1400" dirty="0" smtClean="0"/>
              <a:t>="</a:t>
            </a:r>
            <a:r>
              <a:rPr lang="en-US" sz="1400" dirty="0" smtClean="0">
                <a:solidFill>
                  <a:srgbClr val="00B0F0"/>
                </a:solidFill>
              </a:rPr>
              <a:t> subheadings </a:t>
            </a:r>
            <a:r>
              <a:rPr lang="en-US" sz="1400" dirty="0" smtClean="0"/>
              <a:t>"</a:t>
            </a:r>
            <a:r>
              <a:rPr lang="en-US" sz="1400" dirty="0" smtClean="0">
                <a:solidFill>
                  <a:srgbClr val="00B050"/>
                </a:solidFill>
              </a:rPr>
              <a:t>&gt;</a:t>
            </a:r>
            <a:r>
              <a:rPr lang="en-US" sz="1400" dirty="0" err="1" smtClean="0"/>
              <a:t>SubHeading</a:t>
            </a:r>
            <a:r>
              <a:rPr lang="en-US" sz="1400" dirty="0" smtClean="0"/>
              <a:t> 2</a:t>
            </a:r>
            <a:r>
              <a:rPr lang="en-US" sz="1400" dirty="0" smtClean="0">
                <a:solidFill>
                  <a:srgbClr val="00B050"/>
                </a:solidFill>
              </a:rPr>
              <a:t>&lt;/h3&gt;</a:t>
            </a:r>
          </a:p>
          <a:p>
            <a:pPr>
              <a:spcBef>
                <a:spcPts val="1200"/>
              </a:spcBef>
            </a:pPr>
            <a:r>
              <a:rPr lang="en-US" sz="1400" dirty="0" smtClean="0"/>
              <a:t>	</a:t>
            </a:r>
            <a:r>
              <a:rPr lang="en-US" sz="1400" dirty="0" smtClean="0">
                <a:solidFill>
                  <a:srgbClr val="00B050"/>
                </a:solidFill>
              </a:rPr>
              <a:t>&lt;/body&gt;</a:t>
            </a:r>
          </a:p>
          <a:p>
            <a:pPr>
              <a:spcBef>
                <a:spcPts val="1200"/>
              </a:spcBef>
            </a:pPr>
            <a:r>
              <a:rPr lang="en-US" sz="1400" dirty="0" smtClean="0">
                <a:solidFill>
                  <a:srgbClr val="00B050"/>
                </a:solidFill>
              </a:rPr>
              <a:t>&lt;/html&gt;</a:t>
            </a:r>
          </a:p>
          <a:p>
            <a:pPr>
              <a:spcBef>
                <a:spcPts val="1200"/>
              </a:spcBef>
            </a:pPr>
            <a:endParaRPr lang="en-US" sz="14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304800" y="2362200"/>
            <a:ext cx="1600200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0" dirty="0" smtClean="0">
                <a:latin typeface="Arial" pitchFamily="34" charset="0"/>
                <a:cs typeface="Arial" pitchFamily="34" charset="0"/>
              </a:rPr>
              <a:t>Style.css</a:t>
            </a:r>
            <a:endParaRPr lang="en-US" sz="1400" b="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48200" y="2359223"/>
            <a:ext cx="1905000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0" dirty="0" smtClean="0">
                <a:latin typeface="Arial" pitchFamily="34" charset="0"/>
                <a:cs typeface="Arial" pitchFamily="34" charset="0"/>
              </a:rPr>
              <a:t>CSSDemo.html</a:t>
            </a:r>
            <a:endParaRPr lang="en-US" sz="1400" b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83154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happens if multiple styles are applied?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n-US" sz="2000" dirty="0"/>
              <a:t>When multiple styles are applied in a single HTML the priority in which the styles will be applied as follows.</a:t>
            </a:r>
          </a:p>
          <a:p>
            <a:pPr marL="457200">
              <a:spcBef>
                <a:spcPts val="1200"/>
              </a:spcBef>
            </a:pPr>
            <a:r>
              <a:rPr lang="en-US" sz="2000" dirty="0"/>
              <a:t>Priority 1: Inline Style  </a:t>
            </a:r>
          </a:p>
          <a:p>
            <a:pPr marL="457200">
              <a:spcBef>
                <a:spcPts val="1200"/>
              </a:spcBef>
            </a:pPr>
            <a:r>
              <a:rPr lang="en-US" sz="2000" dirty="0"/>
              <a:t>Priority 2: Internal Style  </a:t>
            </a:r>
          </a:p>
          <a:p>
            <a:pPr marL="457200">
              <a:spcBef>
                <a:spcPts val="1200"/>
              </a:spcBef>
            </a:pPr>
            <a:r>
              <a:rPr lang="en-US" sz="2000" dirty="0"/>
              <a:t>Priority 3: External Style  </a:t>
            </a:r>
          </a:p>
          <a:p>
            <a:pPr marL="457200">
              <a:spcBef>
                <a:spcPts val="1200"/>
              </a:spcBef>
            </a:pPr>
            <a:r>
              <a:rPr lang="en-US" sz="2000" dirty="0"/>
              <a:t>Priority 4: Browser default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845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Try it 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5" name="Rounded Rectangle 4"/>
          <p:cNvSpPr/>
          <p:nvPr/>
        </p:nvSpPr>
        <p:spPr bwMode="auto">
          <a:xfrm>
            <a:off x="1447800" y="1066800"/>
            <a:ext cx="7086600" cy="838200"/>
          </a:xfrm>
          <a:prstGeom prst="roundRect">
            <a:avLst/>
          </a:prstGeom>
          <a:solidFill>
            <a:srgbClr val="FFCC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Arial" charset="0"/>
              </a:rPr>
              <a:t>Refer this URL for the styles to be applied,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  <a:latin typeface="Arial" charset="0"/>
              </a:rPr>
              <a:t>http://www.w3schools.com/css/css_background.asp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24771" y="2209800"/>
            <a:ext cx="8686800" cy="4943475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None/>
            </a:pPr>
            <a:r>
              <a:rPr lang="en-US" sz="2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Create a HTML and apply the styles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Create a page “home.html” with gray back ground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Create a Main Heading “My First HTML” with Blue Color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Place an image in the page. The image size should be 200x200.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Create links home, profile, logout.</a:t>
            </a:r>
          </a:p>
          <a:p>
            <a:pPr marL="457200" indent="-457200">
              <a:spcBef>
                <a:spcPts val="600"/>
              </a:spcBef>
              <a:buFont typeface="Arial"/>
              <a:buNone/>
            </a:pPr>
            <a:r>
              <a:rPr lang="en-US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The non visited links should be in brown color.</a:t>
            </a:r>
          </a:p>
          <a:p>
            <a:pPr marL="457200" indent="-457200">
              <a:spcBef>
                <a:spcPts val="600"/>
              </a:spcBef>
              <a:buFont typeface="Arial"/>
              <a:buNone/>
            </a:pPr>
            <a:r>
              <a:rPr lang="en-US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The visited links should be green color.</a:t>
            </a:r>
          </a:p>
          <a:p>
            <a:pPr marL="457200" indent="-457200">
              <a:spcBef>
                <a:spcPts val="600"/>
              </a:spcBef>
              <a:buFont typeface="Arial"/>
              <a:buNone/>
            </a:pPr>
            <a:r>
              <a:rPr lang="en-US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              When the mouse moves over the link color should be orange .</a:t>
            </a:r>
          </a:p>
          <a:p>
            <a:pPr marL="457200" indent="-457200">
              <a:spcBef>
                <a:spcPts val="600"/>
              </a:spcBef>
              <a:buFont typeface="Arial"/>
              <a:buAutoNum type="arabicPeriod" startAt="5"/>
            </a:pPr>
            <a:r>
              <a:rPr lang="en-US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Create two paragraphs with brown color and font-style italic. The second paragraph should have the text underlined.</a:t>
            </a:r>
          </a:p>
          <a:p>
            <a:pPr marL="457200" indent="-457200">
              <a:spcBef>
                <a:spcPts val="600"/>
              </a:spcBef>
              <a:buFont typeface="Arial"/>
              <a:buAutoNum type="arabicPeriod" startAt="5"/>
            </a:pPr>
            <a:r>
              <a:rPr lang="en-US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Use external CSS for link, image and paragraph styles.</a:t>
            </a:r>
          </a:p>
          <a:p>
            <a:pPr marL="457200" indent="-457200">
              <a:spcBef>
                <a:spcPts val="600"/>
              </a:spcBef>
              <a:buFont typeface="Arial"/>
              <a:buNone/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ts val="600"/>
              </a:spcBef>
              <a:buFont typeface="Arial"/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        </a:t>
            </a:r>
          </a:p>
          <a:p>
            <a:pPr marL="457200" indent="-457200">
              <a:spcBef>
                <a:spcPts val="600"/>
              </a:spcBef>
              <a:buFont typeface="Arial"/>
              <a:buNone/>
            </a:pP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18740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Demonstrate usage of various selectors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https://www.w3schools.com/css/css_syntax.asp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87366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Explain Box Model in CSS</a:t>
            </a:r>
            <a:r>
              <a:rPr lang="en-US" dirty="0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https://www.w3schools.com/css/css_boxmodel.asp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8978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Demonstrate formatting text alignment, fonts and colors</a:t>
            </a:r>
            <a:r>
              <a:rPr lang="en-US" dirty="0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https://www.w3schools.com/css/css_text.asp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88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32565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JAVASCRIPT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450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6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7543800" cy="1143000"/>
          </a:xfrm>
        </p:spPr>
        <p:txBody>
          <a:bodyPr/>
          <a:lstStyle/>
          <a:p>
            <a:r>
              <a:rPr lang="en-US" sz="2800" dirty="0" smtClean="0"/>
              <a:t>The need of client side scripting?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762000"/>
            <a:ext cx="9067800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393700">
              <a:lnSpc>
                <a:spcPct val="150000"/>
              </a:lnSpc>
            </a:pPr>
            <a:endParaRPr lang="en-US" dirty="0" smtClean="0"/>
          </a:p>
          <a:p>
            <a:pPr marL="457200" indent="-393700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A client side script is a small program which is executed by the browsers.</a:t>
            </a:r>
          </a:p>
          <a:p>
            <a:pPr marL="457200" indent="-393700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 Examples : </a:t>
            </a:r>
            <a:r>
              <a:rPr lang="en-US" sz="2000" dirty="0" err="1">
                <a:solidFill>
                  <a:schemeClr val="bg1"/>
                </a:solidFill>
              </a:rPr>
              <a:t>Javascript</a:t>
            </a:r>
            <a:r>
              <a:rPr lang="en-US" sz="2000" dirty="0">
                <a:solidFill>
                  <a:schemeClr val="bg1"/>
                </a:solidFill>
              </a:rPr>
              <a:t> , </a:t>
            </a:r>
            <a:r>
              <a:rPr lang="en-US" sz="2000" dirty="0" err="1">
                <a:solidFill>
                  <a:schemeClr val="bg1"/>
                </a:solidFill>
              </a:rPr>
              <a:t>VBscript</a:t>
            </a:r>
            <a:endParaRPr lang="en-US" sz="2000" dirty="0">
              <a:solidFill>
                <a:schemeClr val="bg1"/>
              </a:solidFill>
            </a:endParaRPr>
          </a:p>
          <a:p>
            <a:pPr marL="457200" indent="-393700">
              <a:lnSpc>
                <a:spcPct val="15000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393700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Need of client side script?</a:t>
            </a:r>
          </a:p>
          <a:p>
            <a:pPr marL="4064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For validating the user data  before it reaches the server.</a:t>
            </a:r>
          </a:p>
          <a:p>
            <a:pPr marL="63500"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	Example: Login name and password fields are mandatory in a login </a:t>
            </a:r>
            <a:r>
              <a:rPr lang="en-US" sz="2000" dirty="0" smtClean="0">
                <a:solidFill>
                  <a:schemeClr val="bg1"/>
                </a:solidFill>
              </a:rPr>
              <a:t>	page</a:t>
            </a:r>
            <a:r>
              <a:rPr lang="en-US" sz="2000" dirty="0">
                <a:solidFill>
                  <a:schemeClr val="bg1"/>
                </a:solidFill>
              </a:rPr>
              <a:t>. </a:t>
            </a:r>
            <a:r>
              <a:rPr lang="en-US" sz="2000" dirty="0">
                <a:solidFill>
                  <a:schemeClr val="bg1"/>
                </a:solidFill>
              </a:rPr>
              <a:t>Validation can be done by java script.</a:t>
            </a:r>
          </a:p>
          <a:p>
            <a:pPr marL="4064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Perform some dynamic functionality based on user navigations.</a:t>
            </a:r>
          </a:p>
          <a:p>
            <a:pPr marL="63500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	Example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</a:p>
          <a:p>
            <a:pPr marL="108426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User hovers above a image, dynamically changes the image. </a:t>
            </a:r>
          </a:p>
          <a:p>
            <a:pPr marL="108426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Disable the salary text field if user selects unemployed radio button. </a:t>
            </a:r>
          </a:p>
        </p:txBody>
      </p:sp>
    </p:spTree>
    <p:extLst>
      <p:ext uri="{BB962C8B-B14F-4D97-AF65-F5344CB8AC3E}">
        <p14:creationId xmlns:p14="http://schemas.microsoft.com/office/powerpoint/2010/main" val="23360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How client side script works?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92081"/>
            <a:ext cx="736600" cy="228600"/>
          </a:xfrm>
          <a:prstGeom prst="rect">
            <a:avLst/>
          </a:prstGeom>
        </p:spPr>
        <p:txBody>
          <a:bodyPr/>
          <a:lstStyle/>
          <a:p>
            <a:fld id="{47ED8886-DB3B-44F4-9A80-E6A224679F20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91</a:t>
            </a:fld>
            <a:endParaRPr lang="en-US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9335" y="2606974"/>
            <a:ext cx="1160206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28989" y="1037375"/>
            <a:ext cx="8600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dirty="0" smtClean="0">
                <a:solidFill>
                  <a:schemeClr val="bg1"/>
                </a:solidFill>
              </a:rPr>
              <a:t>A user from India is trying to login a mail application residing in US. </a:t>
            </a:r>
          </a:p>
          <a:p>
            <a:r>
              <a:rPr lang="en-US" sz="2000" b="0" dirty="0" smtClean="0">
                <a:solidFill>
                  <a:schemeClr val="bg1"/>
                </a:solidFill>
              </a:rPr>
              <a:t>Assume that the user forgets to enter the login name and clicks submit. </a:t>
            </a:r>
            <a:endParaRPr lang="en-US" sz="2000" b="0" dirty="0">
              <a:solidFill>
                <a:schemeClr val="bg1"/>
              </a:solidFill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77000" y="1917993"/>
            <a:ext cx="1114425" cy="1722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Arrow Connector 10"/>
          <p:cNvCxnSpPr/>
          <p:nvPr/>
        </p:nvCxnSpPr>
        <p:spPr bwMode="auto">
          <a:xfrm>
            <a:off x="2779115" y="2606973"/>
            <a:ext cx="3200400" cy="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2969615" y="2144616"/>
            <a:ext cx="2819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 submits the login page</a:t>
            </a:r>
            <a:r>
              <a:rPr lang="en-US" sz="1400" dirty="0" smtClean="0">
                <a:solidFill>
                  <a:schemeClr val="bg1"/>
                </a:solidFill>
              </a:rPr>
              <a:t>.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3" name="Curved Connector 12"/>
          <p:cNvCxnSpPr>
            <a:stCxn id="10" idx="3"/>
            <a:endCxn id="10" idx="2"/>
          </p:cNvCxnSpPr>
          <p:nvPr/>
        </p:nvCxnSpPr>
        <p:spPr bwMode="auto">
          <a:xfrm flipH="1">
            <a:off x="7034213" y="2779140"/>
            <a:ext cx="557212" cy="861146"/>
          </a:xfrm>
          <a:prstGeom prst="curvedConnector4">
            <a:avLst>
              <a:gd name="adj1" fmla="val -41026"/>
              <a:gd name="adj2" fmla="val 126546"/>
            </a:avLst>
          </a:prstGeom>
          <a:solidFill>
            <a:schemeClr val="accent1"/>
          </a:solidFill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3161208" y="3092111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Server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/>
              <a:t>throws an error </a:t>
            </a:r>
          </a:p>
          <a:p>
            <a:r>
              <a:rPr lang="en-US" sz="1200" dirty="0"/>
              <a:t>“login name Mandatory”</a:t>
            </a:r>
          </a:p>
        </p:txBody>
      </p:sp>
      <p:cxnSp>
        <p:nvCxnSpPr>
          <p:cNvPr id="15" name="Straight Arrow Connector 14"/>
          <p:cNvCxnSpPr/>
          <p:nvPr/>
        </p:nvCxnSpPr>
        <p:spPr bwMode="auto">
          <a:xfrm flipH="1">
            <a:off x="2705100" y="2925885"/>
            <a:ext cx="3124200" cy="0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361289" y="3886189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Server validates the login page</a:t>
            </a:r>
            <a:endParaRPr 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139700" y="4301926"/>
            <a:ext cx="8991600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No Client side scripting : </a:t>
            </a:r>
            <a:r>
              <a:rPr lang="en-US" sz="2000" b="0" dirty="0" smtClean="0">
                <a:solidFill>
                  <a:schemeClr val="bg1"/>
                </a:solidFill>
              </a:rPr>
              <a:t>If each transaction (arrow depicted) takes 3 seconds the total transaction takes 9 seconds.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Client side script implemented:</a:t>
            </a:r>
            <a:r>
              <a:rPr lang="en-US" sz="2000" b="0" dirty="0" smtClean="0">
                <a:solidFill>
                  <a:schemeClr val="bg1"/>
                </a:solidFill>
              </a:rPr>
              <a:t> server calls will not happen if the user data is wrong. Assuming script validation takes 1 second for the validating the login name the transaction could be completed in 1 second (reducing the response time by 90%).</a:t>
            </a:r>
          </a:p>
          <a:p>
            <a:endParaRPr lang="en-US" sz="1700" b="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1122312" y="333900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User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(India)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24600" y="3180139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Server</a:t>
            </a:r>
          </a:p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(UK)</a:t>
            </a:r>
            <a:endParaRPr lang="en-US" sz="1400" dirty="0">
              <a:solidFill>
                <a:srgbClr val="C00000"/>
              </a:solidFill>
            </a:endParaRPr>
          </a:p>
        </p:txBody>
      </p:sp>
      <p:cxnSp>
        <p:nvCxnSpPr>
          <p:cNvPr id="20" name="Curved Connector 13"/>
          <p:cNvCxnSpPr>
            <a:stCxn id="8" idx="0"/>
            <a:endCxn id="8" idx="1"/>
          </p:cNvCxnSpPr>
          <p:nvPr/>
        </p:nvCxnSpPr>
        <p:spPr bwMode="auto">
          <a:xfrm rot="16200000" flipH="1" flipV="1">
            <a:off x="1196987" y="2469322"/>
            <a:ext cx="304800" cy="580103"/>
          </a:xfrm>
          <a:prstGeom prst="curvedConnector4">
            <a:avLst>
              <a:gd name="adj1" fmla="val -75000"/>
              <a:gd name="adj2" fmla="val 139407"/>
            </a:avLst>
          </a:prstGeom>
          <a:solidFill>
            <a:schemeClr val="accent1"/>
          </a:solidFill>
          <a:ln w="508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407206" y="1776019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Java Script in Browser validates the data.</a:t>
            </a:r>
          </a:p>
        </p:txBody>
      </p:sp>
    </p:spTree>
    <p:extLst>
      <p:ext uri="{BB962C8B-B14F-4D97-AF65-F5344CB8AC3E}">
        <p14:creationId xmlns:p14="http://schemas.microsoft.com/office/powerpoint/2010/main" val="318241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8" grpId="0"/>
      <p:bldP spid="19" grpId="0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What is Java Script?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i="1" dirty="0"/>
              <a:t>JavaScript</a:t>
            </a:r>
            <a:r>
              <a:rPr lang="en-US" sz="2000" dirty="0"/>
              <a:t> is a client side scripting language which can be used to perform client side operations. Java scripts are executed by the browser engine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Example: </a:t>
            </a:r>
          </a:p>
          <a:p>
            <a:pPr marL="681038" lvl="1" indent="-223838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000" dirty="0"/>
              <a:t>Validations in fields</a:t>
            </a:r>
          </a:p>
          <a:p>
            <a:pPr marL="681038" lvl="1" indent="-223838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000" dirty="0"/>
              <a:t>Show tool tips</a:t>
            </a:r>
          </a:p>
          <a:p>
            <a:pPr marL="681038" lvl="1" indent="-223838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000" dirty="0"/>
              <a:t>Perform some operations on mouse click.</a:t>
            </a:r>
          </a:p>
          <a:p>
            <a:pPr marL="681038" lvl="1" indent="-223838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000" dirty="0"/>
              <a:t>Change a font color on mouse over.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4986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93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1859101"/>
            <a:ext cx="89916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Java Script is used for performing the basic sanity checks on the user request before it is submitted to the server, thus improving the transactions response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This also reduces the load on the server as some logic is executed by the client browser.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This also reduces the network traffic by ensuring that no  invalid user requests are transmitted over the network.</a:t>
            </a:r>
          </a:p>
          <a:p>
            <a:pPr indent="173038">
              <a:buFont typeface="Arial" pitchFamily="34" charset="0"/>
              <a:buChar char="•"/>
            </a:pPr>
            <a:endParaRPr lang="en-US" sz="2000" b="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6858000" cy="533400"/>
          </a:xfrm>
        </p:spPr>
        <p:txBody>
          <a:bodyPr/>
          <a:lstStyle/>
          <a:p>
            <a:r>
              <a:rPr lang="en-US" dirty="0" smtClean="0"/>
              <a:t>Advantages of Java Script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3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Uses Of Java Script?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681038" lvl="1" indent="-223838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2000" dirty="0"/>
              <a:t>Client side validation</a:t>
            </a:r>
          </a:p>
          <a:p>
            <a:pPr marL="681038" lvl="2" indent="-223838">
              <a:spcBef>
                <a:spcPts val="1800"/>
              </a:spcBef>
              <a:spcAft>
                <a:spcPts val="0"/>
              </a:spcAft>
            </a:pPr>
            <a:r>
              <a:rPr lang="en-US" dirty="0"/>
              <a:t>   Examples: Check for mandatory fields, numeric validation in salary field.</a:t>
            </a:r>
          </a:p>
          <a:p>
            <a:pPr marL="681038" lvl="1" indent="-223838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2000" dirty="0"/>
              <a:t>Dynamic application of styles</a:t>
            </a:r>
          </a:p>
          <a:p>
            <a:pPr marL="681038" lvl="1" indent="-223838">
              <a:spcBef>
                <a:spcPts val="1800"/>
              </a:spcBef>
              <a:spcAft>
                <a:spcPts val="0"/>
              </a:spcAft>
            </a:pPr>
            <a:r>
              <a:rPr lang="en-US" sz="2000" dirty="0"/>
              <a:t>   Examples:  Change the font color of a text dynamically.</a:t>
            </a:r>
          </a:p>
          <a:p>
            <a:pPr marL="681038" lvl="1" indent="-223838">
              <a:spcBef>
                <a:spcPts val="1800"/>
              </a:spcBef>
              <a:spcAft>
                <a:spcPts val="0"/>
              </a:spcAft>
              <a:buFont typeface="Wingdings" pitchFamily="2" charset="2"/>
              <a:buChar char="§"/>
            </a:pPr>
            <a:r>
              <a:rPr lang="en-US" sz="2000" dirty="0"/>
              <a:t>JavaScript can react to events like </a:t>
            </a:r>
            <a:r>
              <a:rPr lang="en-US" sz="2000" i="1" dirty="0" err="1"/>
              <a:t>onclick</a:t>
            </a:r>
            <a:r>
              <a:rPr lang="en-US" sz="2000" i="1" dirty="0"/>
              <a:t> , </a:t>
            </a:r>
            <a:r>
              <a:rPr lang="en-US" sz="2000" i="1" dirty="0" err="1"/>
              <a:t>onblur</a:t>
            </a:r>
            <a:r>
              <a:rPr lang="en-US" sz="2000" i="1" dirty="0"/>
              <a:t>, </a:t>
            </a:r>
            <a:r>
              <a:rPr lang="en-US" sz="2000" i="1" dirty="0" err="1"/>
              <a:t>onfocus</a:t>
            </a:r>
            <a:r>
              <a:rPr lang="en-US" sz="2000" dirty="0"/>
              <a:t> </a:t>
            </a:r>
            <a:r>
              <a:rPr lang="en-US" sz="2000" dirty="0" err="1"/>
              <a:t>etc</a:t>
            </a:r>
            <a:endParaRPr lang="en-US" sz="2000" dirty="0"/>
          </a:p>
          <a:p>
            <a:pPr marL="681038" lvl="1" indent="-223838">
              <a:spcBef>
                <a:spcPts val="1800"/>
              </a:spcBef>
              <a:spcAft>
                <a:spcPts val="0"/>
              </a:spcAft>
            </a:pPr>
            <a:r>
              <a:rPr lang="en-US" sz="2000" dirty="0"/>
              <a:t>    Examples:  Perform a validation on Click. On focus of a text box clear the values.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5897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Demonstrate handling events for validations</a:t>
            </a:r>
            <a:r>
              <a:rPr lang="en-US" dirty="0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https://www.w3schools.com/jsref/event_onclick.asp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3366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/>
              <a:t>How to develop a java script function ?</a:t>
            </a:r>
            <a:r>
              <a:rPr lang="en-US" b="0" dirty="0"/>
              <a:t/>
            </a:r>
            <a:br>
              <a:rPr lang="en-US" b="0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 dirty="0"/>
              <a:t>Java Script are developed using the </a:t>
            </a:r>
            <a:r>
              <a:rPr lang="en-US" sz="2000" dirty="0">
                <a:solidFill>
                  <a:srgbClr val="00B050"/>
                </a:solidFill>
              </a:rPr>
              <a:t>&lt;Script&gt; &lt;/Script&gt; </a:t>
            </a:r>
            <a:r>
              <a:rPr lang="en-US" sz="2000" dirty="0"/>
              <a:t> tag. </a:t>
            </a:r>
            <a:r>
              <a:rPr lang="en-US" sz="2000" i="1" dirty="0"/>
              <a:t>Functions </a:t>
            </a:r>
            <a:r>
              <a:rPr lang="en-US" sz="2000" dirty="0"/>
              <a:t>are like java methods which executes a specific logic.</a:t>
            </a:r>
          </a:p>
          <a:p>
            <a:r>
              <a:rPr lang="fr-FR" sz="2000" dirty="0"/>
              <a:t>A simple </a:t>
            </a:r>
            <a:r>
              <a:rPr lang="fr-FR" sz="2000" dirty="0" err="1"/>
              <a:t>function</a:t>
            </a:r>
            <a:r>
              <a:rPr lang="fr-FR" sz="2000" dirty="0"/>
              <a:t> to </a:t>
            </a:r>
            <a:r>
              <a:rPr lang="fr-FR" sz="2000" dirty="0" err="1"/>
              <a:t>print</a:t>
            </a:r>
            <a:r>
              <a:rPr lang="fr-FR" sz="2000" dirty="0"/>
              <a:t> the date:</a:t>
            </a:r>
          </a:p>
          <a:p>
            <a:pPr lvl="1"/>
            <a:r>
              <a:rPr lang="fr-FR" sz="2000" dirty="0"/>
              <a:t/>
            </a:r>
            <a:br>
              <a:rPr lang="fr-FR" sz="2000" dirty="0"/>
            </a:br>
            <a:r>
              <a:rPr lang="fr-FR" sz="2000" dirty="0">
                <a:solidFill>
                  <a:srgbClr val="00B050"/>
                </a:solidFill>
              </a:rPr>
              <a:t>&lt;script type="</a:t>
            </a:r>
            <a:r>
              <a:rPr lang="fr-FR" sz="2000" dirty="0" err="1">
                <a:solidFill>
                  <a:srgbClr val="00B0F0"/>
                </a:solidFill>
              </a:rPr>
              <a:t>text</a:t>
            </a:r>
            <a:r>
              <a:rPr lang="fr-FR" sz="2000" dirty="0">
                <a:solidFill>
                  <a:srgbClr val="00B0F0"/>
                </a:solidFill>
              </a:rPr>
              <a:t>/</a:t>
            </a:r>
            <a:r>
              <a:rPr lang="fr-FR" sz="2000" dirty="0" err="1">
                <a:solidFill>
                  <a:srgbClr val="00B0F0"/>
                </a:solidFill>
              </a:rPr>
              <a:t>javascript</a:t>
            </a:r>
            <a:r>
              <a:rPr lang="fr-FR" sz="2000" dirty="0">
                <a:solidFill>
                  <a:srgbClr val="00B050"/>
                </a:solidFill>
              </a:rPr>
              <a:t>"&gt;</a:t>
            </a:r>
          </a:p>
          <a:p>
            <a:pPr lvl="1"/>
            <a:endParaRPr lang="fr-FR" sz="2000" dirty="0">
              <a:solidFill>
                <a:srgbClr val="00B050"/>
              </a:solidFill>
            </a:endParaRPr>
          </a:p>
          <a:p>
            <a:pPr lvl="2"/>
            <a:r>
              <a:rPr lang="fr-FR" dirty="0" err="1">
                <a:solidFill>
                  <a:srgbClr val="0070C0"/>
                </a:solidFill>
              </a:rPr>
              <a:t>function</a:t>
            </a:r>
            <a:r>
              <a:rPr lang="fr-FR" dirty="0">
                <a:solidFill>
                  <a:srgbClr val="0070C0"/>
                </a:solidFill>
              </a:rPr>
              <a:t> </a:t>
            </a:r>
            <a:r>
              <a:rPr lang="fr-FR" dirty="0" err="1">
                <a:solidFill>
                  <a:srgbClr val="0070C0"/>
                </a:solidFill>
              </a:rPr>
              <a:t>printDate</a:t>
            </a:r>
            <a:r>
              <a:rPr lang="fr-FR" dirty="0">
                <a:solidFill>
                  <a:srgbClr val="0070C0"/>
                </a:solidFill>
              </a:rPr>
              <a:t>(){</a:t>
            </a:r>
            <a:br>
              <a:rPr lang="fr-FR" dirty="0">
                <a:solidFill>
                  <a:srgbClr val="0070C0"/>
                </a:solidFill>
              </a:rPr>
            </a:br>
            <a:r>
              <a:rPr lang="fr-FR" dirty="0" err="1">
                <a:solidFill>
                  <a:srgbClr val="0070C0"/>
                </a:solidFill>
              </a:rPr>
              <a:t>document.write</a:t>
            </a:r>
            <a:r>
              <a:rPr lang="fr-FR" dirty="0">
                <a:solidFill>
                  <a:srgbClr val="0070C0"/>
                </a:solidFill>
              </a:rPr>
              <a:t>("&lt;p&gt;" + Date() + "&lt;/p&gt;");</a:t>
            </a:r>
          </a:p>
          <a:p>
            <a:pPr lvl="2"/>
            <a:endParaRPr lang="fr-FR" dirty="0">
              <a:solidFill>
                <a:srgbClr val="0070C0"/>
              </a:solidFill>
            </a:endParaRPr>
          </a:p>
          <a:p>
            <a:pPr lvl="2"/>
            <a:r>
              <a:rPr lang="fr-FR" dirty="0">
                <a:solidFill>
                  <a:srgbClr val="0070C0"/>
                </a:solidFill>
              </a:rPr>
              <a:t>}</a:t>
            </a:r>
          </a:p>
          <a:p>
            <a:pPr lvl="1"/>
            <a:r>
              <a:rPr lang="fr-FR" sz="2000" dirty="0">
                <a:solidFill>
                  <a:srgbClr val="00B050"/>
                </a:solidFill>
              </a:rPr>
              <a:t>&lt;/script&gt;</a:t>
            </a:r>
            <a:endParaRPr lang="en-US" sz="2000" dirty="0">
              <a:solidFill>
                <a:srgbClr val="00B05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3299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functions to handle form validations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https://www.w3schools.com/js/js_functions.asp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8845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Values &amp; Variables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900" dirty="0"/>
              <a:t>Java Script  variables does not have explicit data types.</a:t>
            </a:r>
            <a:br>
              <a:rPr lang="en-US" sz="2900" dirty="0"/>
            </a:br>
            <a:r>
              <a:rPr lang="en-US" sz="2900" dirty="0"/>
              <a:t>Example: Variables need not be declared as integer, a string or a real.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900" dirty="0"/>
              <a:t>All JavaScript variables are declared using the keyword </a:t>
            </a:r>
            <a:r>
              <a:rPr lang="en-US" sz="2900" i="1" dirty="0"/>
              <a:t>var</a:t>
            </a:r>
            <a:r>
              <a:rPr lang="en-US" sz="2900" dirty="0"/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</a:pPr>
            <a:r>
              <a:rPr lang="en-US" sz="2900" dirty="0"/>
              <a:t>       Example: </a:t>
            </a:r>
            <a:r>
              <a:rPr lang="en-US" sz="2900" dirty="0" err="1"/>
              <a:t>var</a:t>
            </a:r>
            <a:r>
              <a:rPr lang="en-US" sz="2900" dirty="0"/>
              <a:t> x=7 </a:t>
            </a:r>
            <a:r>
              <a:rPr lang="en-US" sz="2900" i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// defines a variable x with value 7.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900" dirty="0"/>
              <a:t>JavaScript recognizes the data type based on the </a:t>
            </a:r>
            <a:r>
              <a:rPr lang="en-US" sz="29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value</a:t>
            </a:r>
          </a:p>
          <a:p>
            <a:pPr marL="454025" indent="349250">
              <a:lnSpc>
                <a:spcPct val="150000"/>
              </a:lnSpc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900" i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var</a:t>
            </a:r>
            <a:r>
              <a:rPr lang="en-US" sz="29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pi = 3.14 </a:t>
            </a:r>
            <a:r>
              <a:rPr lang="en-US" sz="2900" dirty="0"/>
              <a:t>– pi is considered a  number by the java script engine.</a:t>
            </a: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900" i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var</a:t>
            </a:r>
            <a:r>
              <a:rPr lang="en-US" sz="29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flag = true – </a:t>
            </a:r>
            <a:r>
              <a:rPr lang="en-US" sz="2900" dirty="0"/>
              <a:t>flag is considered a </a:t>
            </a:r>
            <a:r>
              <a:rPr lang="en-US" sz="2900" dirty="0" err="1"/>
              <a:t>boolean</a:t>
            </a:r>
            <a:r>
              <a:rPr lang="en-US" sz="2900" dirty="0"/>
              <a:t> variable.</a:t>
            </a: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buFont typeface="Courier New" pitchFamily="49" charset="0"/>
              <a:buChar char="o"/>
            </a:pPr>
            <a:r>
              <a:rPr lang="en-US" sz="2900" i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var</a:t>
            </a:r>
            <a:r>
              <a:rPr lang="en-US" sz="2900" i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countryName</a:t>
            </a:r>
            <a:r>
              <a:rPr lang="en-US" sz="29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= “India” </a:t>
            </a:r>
            <a:r>
              <a:rPr lang="en-US" sz="2900" dirty="0"/>
              <a:t>– This will be considered as a string.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23151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Values &amp; Variables (</a:t>
            </a:r>
            <a:r>
              <a:rPr lang="en-US" sz="2800" dirty="0" err="1"/>
              <a:t>Cont</a:t>
            </a:r>
            <a:r>
              <a:rPr lang="en-US" sz="2800" dirty="0"/>
              <a:t>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93700" indent="-2825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A JavaScript identifier or name must start with a letter or underscore ("_“) subsequent characters can also be digits (0-9) </a:t>
            </a:r>
          </a:p>
          <a:p>
            <a:pPr marL="393700" indent="-2825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Variables Scope:</a:t>
            </a:r>
          </a:p>
          <a:p>
            <a:pPr marL="393700" indent="347663">
              <a:lnSpc>
                <a:spcPct val="150000"/>
              </a:lnSpc>
              <a:spcBef>
                <a:spcPts val="1200"/>
              </a:spcBef>
              <a:buFont typeface="Courier New" pitchFamily="49" charset="0"/>
              <a:buChar char="o"/>
            </a:pPr>
            <a:r>
              <a:rPr lang="en-US" sz="2000" dirty="0"/>
              <a:t> Local variable are declared  inside a function</a:t>
            </a:r>
          </a:p>
          <a:p>
            <a:pPr marL="393700" indent="347663">
              <a:lnSpc>
                <a:spcPct val="150000"/>
              </a:lnSpc>
              <a:spcBef>
                <a:spcPts val="1200"/>
              </a:spcBef>
              <a:buFont typeface="Courier New" pitchFamily="49" charset="0"/>
              <a:buChar char="o"/>
            </a:pPr>
            <a:r>
              <a:rPr lang="en-US" sz="2000" dirty="0"/>
              <a:t> Global variable are declared outside a function</a:t>
            </a:r>
          </a:p>
          <a:p>
            <a:pPr marL="393700" lvl="1" indent="-282575">
              <a:lnSpc>
                <a:spcPct val="150000"/>
              </a:lnSpc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dirty="0"/>
              <a:t>Applying </a:t>
            </a:r>
            <a:r>
              <a:rPr lang="en-US" sz="2000" i="1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var</a:t>
            </a:r>
            <a:r>
              <a:rPr lang="en-US" sz="2000" dirty="0"/>
              <a:t> to declare a global variable is optional but </a:t>
            </a:r>
            <a:r>
              <a:rPr lang="en-US" sz="2000" i="1" dirty="0" err="1">
                <a:solidFill>
                  <a:srgbClr val="002060"/>
                </a:solidFill>
              </a:rPr>
              <a:t>var</a:t>
            </a:r>
            <a:r>
              <a:rPr lang="en-US" sz="2000" i="1" dirty="0">
                <a:solidFill>
                  <a:srgbClr val="002060"/>
                </a:solidFill>
              </a:rPr>
              <a:t> </a:t>
            </a:r>
            <a:r>
              <a:rPr lang="en-US" sz="2000" dirty="0"/>
              <a:t>is mandatory for local variables.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3965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JavaScript DOM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284163" indent="-2206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/>
              <a:t>JavaScript is designed on a simple object-based paradigm.</a:t>
            </a:r>
          </a:p>
          <a:p>
            <a:pPr marL="284163" indent="-2206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/>
              <a:t>An object is a construct with properties (variables),methods or other objects.</a:t>
            </a:r>
          </a:p>
          <a:p>
            <a:pPr marL="284163" indent="-2206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dirty="0"/>
              <a:t>JavaScript uses an object model known as </a:t>
            </a:r>
            <a:r>
              <a:rPr lang="en-US" sz="2000" dirty="0">
                <a:solidFill>
                  <a:srgbClr val="C00000"/>
                </a:solidFill>
              </a:rPr>
              <a:t>D</a:t>
            </a:r>
            <a:r>
              <a:rPr lang="en-US" sz="2000" dirty="0"/>
              <a:t>ocument </a:t>
            </a:r>
            <a:r>
              <a:rPr lang="en-US" sz="2000" dirty="0">
                <a:solidFill>
                  <a:srgbClr val="C00000"/>
                </a:solidFill>
              </a:rPr>
              <a:t>O</a:t>
            </a:r>
            <a:r>
              <a:rPr lang="en-US" sz="2000" dirty="0"/>
              <a:t>bject </a:t>
            </a:r>
            <a:r>
              <a:rPr lang="en-US" sz="2000" dirty="0">
                <a:solidFill>
                  <a:srgbClr val="C00000"/>
                </a:solidFill>
              </a:rPr>
              <a:t>M</a:t>
            </a:r>
            <a:r>
              <a:rPr lang="en-US" sz="2000" dirty="0"/>
              <a:t>odel (DOM) to navigate through the HTML document in an hierarchy.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36429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Document Object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937520"/>
            <a:ext cx="8382000" cy="5582850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  <a:tabLst>
                <a:tab pos="568325" algn="l"/>
              </a:tabLst>
            </a:pPr>
            <a:r>
              <a:rPr lang="en-US" sz="3200" dirty="0"/>
              <a:t>Each HTML document loaded into a browser window becomes a Document object.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/>
              <a:t>DOM represents HTML elements in a Tree structure.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/>
              <a:t>Every elements in a HTML document is represented as a node.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/>
              <a:t>DOM can be used to change, add, or delete HTML elements.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3200" dirty="0"/>
              <a:t>Java Script access elements of the HTML document using the document object.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  <a:tabLst>
                <a:tab pos="568325" algn="l"/>
              </a:tabLst>
            </a:pPr>
            <a:r>
              <a:rPr lang="en-US" sz="3200" dirty="0"/>
              <a:t>DOM nodes accessed through the following methods,</a:t>
            </a:r>
          </a:p>
          <a:p>
            <a:pPr marL="8636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/>
              <a:t>getElementById</a:t>
            </a:r>
            <a:r>
              <a:rPr lang="en-US" sz="3200" dirty="0"/>
              <a:t>() : Returns the element specified by the ID</a:t>
            </a:r>
          </a:p>
          <a:p>
            <a:pPr marL="8636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/>
              <a:t>getElementsByTagName</a:t>
            </a:r>
            <a:r>
              <a:rPr lang="en-US" sz="3200" dirty="0"/>
              <a:t>() : Returns the list of elements with the specified tag name.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8111" y="5960050"/>
            <a:ext cx="8458200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0" dirty="0" smtClean="0">
                <a:latin typeface="Arial" pitchFamily="34" charset="0"/>
                <a:cs typeface="Arial" pitchFamily="34" charset="0"/>
              </a:rPr>
              <a:t>For more Details on DOM visit</a:t>
            </a:r>
          </a:p>
          <a:p>
            <a:pPr algn="ctr"/>
            <a:r>
              <a:rPr lang="en-US" b="0" dirty="0" smtClean="0">
                <a:latin typeface="Arial" pitchFamily="34" charset="0"/>
                <a:cs typeface="Arial" pitchFamily="34" charset="0"/>
                <a:hlinkClick r:id="rId2"/>
              </a:rPr>
              <a:t>http://www.w3schools.com/htmldom/default.asp</a:t>
            </a:r>
            <a:endParaRPr lang="en-US" b="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10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HTML DOM Structure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102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224881"/>
            <a:ext cx="472440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3657600" y="896909"/>
            <a:ext cx="5334000" cy="521732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36538" indent="-2365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The nodes in the node tree are placed in a hierarchy.</a:t>
            </a:r>
          </a:p>
          <a:p>
            <a:pPr marL="236538" indent="-2365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The terms parent, child, and sibling are used to describe the relationships.</a:t>
            </a:r>
          </a:p>
          <a:p>
            <a:pPr marL="236538" indent="-2365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i="1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Parent </a:t>
            </a: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nodes have children.</a:t>
            </a:r>
          </a:p>
          <a:p>
            <a:pPr marL="236538" indent="-2365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Children on the same level are called </a:t>
            </a:r>
            <a:r>
              <a:rPr lang="en-US" sz="1600" i="1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siblings</a:t>
            </a: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, are nodes with the same parent.</a:t>
            </a:r>
          </a:p>
          <a:p>
            <a:pPr marL="236538" indent="-2365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In a node tree, the top node is called the </a:t>
            </a:r>
            <a:r>
              <a:rPr lang="en-US" sz="1600" i="1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root</a:t>
            </a: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236538" indent="-2365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Every node, except the root, has exactly one parent node.</a:t>
            </a:r>
          </a:p>
          <a:p>
            <a:pPr marL="236538" indent="-2365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A node can have any number of children .</a:t>
            </a:r>
          </a:p>
          <a:p>
            <a:pPr marL="236538" indent="-2365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A leaf is a node with no children.</a:t>
            </a:r>
          </a:p>
          <a:p>
            <a:pPr marL="236538" indent="-2365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Elements can be accessed by moving through the tree nodes. </a:t>
            </a:r>
            <a:r>
              <a:rPr lang="en-US" sz="160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Example: </a:t>
            </a:r>
            <a:r>
              <a:rPr lang="en-US" sz="1600" b="0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To access the text field element we use </a:t>
            </a:r>
            <a:r>
              <a:rPr lang="en-US" sz="1600" i="1" dirty="0" err="1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document.form.text</a:t>
            </a:r>
            <a:r>
              <a:rPr lang="en-US" sz="1600" i="1" dirty="0" smtClean="0">
                <a:solidFill>
                  <a:srgbClr val="320019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633889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Accessing Elements </a:t>
            </a:r>
            <a:r>
              <a:rPr lang="en-US" sz="2800" dirty="0" smtClean="0"/>
              <a:t>Using </a:t>
            </a:r>
            <a:r>
              <a:rPr lang="en-US" sz="2800" dirty="0" err="1" smtClean="0"/>
              <a:t>getElementsByTagName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137830"/>
            <a:ext cx="8382000" cy="52621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 err="1"/>
              <a:t>getElementsByTagName</a:t>
            </a:r>
            <a:r>
              <a:rPr lang="en-US" sz="1800" dirty="0"/>
              <a:t>()  retrieves all the elements with a </a:t>
            </a:r>
            <a:r>
              <a:rPr lang="en-US" sz="1800" i="1" dirty="0"/>
              <a:t>specified tag name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/>
              <a:t>Scenario: Assume that there is a HTML with many paragraph elements </a:t>
            </a:r>
            <a:r>
              <a:rPr lang="en-US" sz="1800" i="1" dirty="0"/>
              <a:t>&lt;P&gt;&lt;/P&gt;</a:t>
            </a:r>
            <a:r>
              <a:rPr lang="en-US" sz="1800" dirty="0"/>
              <a:t>. 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/>
              <a:t>How can one access the first paragraph tag in the document?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7030A0"/>
                </a:solidFill>
              </a:rPr>
              <a:t>	</a:t>
            </a:r>
            <a:r>
              <a:rPr lang="en-US" sz="1800" dirty="0" err="1">
                <a:solidFill>
                  <a:srgbClr val="7030A0"/>
                </a:solidFill>
              </a:rPr>
              <a:t>document.getElementsByTagName</a:t>
            </a:r>
            <a:r>
              <a:rPr lang="en-US" sz="1800" dirty="0">
                <a:solidFill>
                  <a:srgbClr val="7030A0"/>
                </a:solidFill>
              </a:rPr>
              <a:t>("</a:t>
            </a:r>
            <a:r>
              <a:rPr lang="en-US" sz="1800" dirty="0">
                <a:solidFill>
                  <a:srgbClr val="00B050"/>
                </a:solidFill>
              </a:rPr>
              <a:t>p</a:t>
            </a:r>
            <a:r>
              <a:rPr lang="en-US" sz="1800" dirty="0">
                <a:solidFill>
                  <a:srgbClr val="7030A0"/>
                </a:solidFill>
              </a:rPr>
              <a:t>")[</a:t>
            </a:r>
            <a:r>
              <a:rPr lang="en-US" sz="1800" dirty="0">
                <a:solidFill>
                  <a:srgbClr val="C00000"/>
                </a:solidFill>
              </a:rPr>
              <a:t>0</a:t>
            </a:r>
            <a:r>
              <a:rPr lang="en-US" sz="1800" dirty="0">
                <a:solidFill>
                  <a:srgbClr val="7030A0"/>
                </a:solidFill>
              </a:rPr>
              <a:t>];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/>
              <a:t>Where,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/>
              <a:t>	</a:t>
            </a:r>
            <a:r>
              <a:rPr lang="en-US" sz="1800" dirty="0" err="1">
                <a:solidFill>
                  <a:srgbClr val="7030A0"/>
                </a:solidFill>
              </a:rPr>
              <a:t>document.getElementByTagName</a:t>
            </a:r>
            <a:r>
              <a:rPr lang="en-US" sz="1800" dirty="0">
                <a:solidFill>
                  <a:srgbClr val="7030A0"/>
                </a:solidFill>
              </a:rPr>
              <a:t>(“</a:t>
            </a:r>
            <a:r>
              <a:rPr lang="en-US" sz="1800" dirty="0">
                <a:solidFill>
                  <a:srgbClr val="00B050"/>
                </a:solidFill>
              </a:rPr>
              <a:t>p</a:t>
            </a:r>
            <a:r>
              <a:rPr lang="en-US" sz="1800" dirty="0">
                <a:solidFill>
                  <a:srgbClr val="7030A0"/>
                </a:solidFill>
              </a:rPr>
              <a:t>”) </a:t>
            </a:r>
            <a:r>
              <a:rPr lang="en-US" sz="1800" dirty="0"/>
              <a:t>return a list of all the paragraph tags in the page and index [</a:t>
            </a:r>
            <a:r>
              <a:rPr lang="en-US" sz="1800" dirty="0">
                <a:solidFill>
                  <a:srgbClr val="C00000"/>
                </a:solidFill>
              </a:rPr>
              <a:t>0</a:t>
            </a:r>
            <a:r>
              <a:rPr lang="en-US" sz="1800" dirty="0"/>
              <a:t>] returns the first tag in the list. 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/>
              <a:t>How read the contents inside the first paragraph tag in the document?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800" dirty="0" err="1"/>
              <a:t>var</a:t>
            </a:r>
            <a:r>
              <a:rPr lang="en-US" sz="1800" dirty="0"/>
              <a:t> content=</a:t>
            </a:r>
            <a:r>
              <a:rPr lang="en-US" sz="1800" dirty="0" err="1">
                <a:solidFill>
                  <a:srgbClr val="7030A0"/>
                </a:solidFill>
              </a:rPr>
              <a:t>document.getElementsByTagName</a:t>
            </a:r>
            <a:r>
              <a:rPr lang="en-US" sz="1800" dirty="0">
                <a:solidFill>
                  <a:srgbClr val="7030A0"/>
                </a:solidFill>
              </a:rPr>
              <a:t>("</a:t>
            </a:r>
            <a:r>
              <a:rPr lang="en-US" sz="1800" dirty="0">
                <a:solidFill>
                  <a:srgbClr val="00B050"/>
                </a:solidFill>
              </a:rPr>
              <a:t>p</a:t>
            </a:r>
            <a:r>
              <a:rPr lang="en-US" sz="1800" dirty="0">
                <a:solidFill>
                  <a:srgbClr val="7030A0"/>
                </a:solidFill>
              </a:rPr>
              <a:t>")[</a:t>
            </a:r>
            <a:r>
              <a:rPr lang="en-US" sz="1800" dirty="0">
                <a:solidFill>
                  <a:srgbClr val="C00000"/>
                </a:solidFill>
              </a:rPr>
              <a:t>0</a:t>
            </a:r>
            <a:r>
              <a:rPr lang="en-US" sz="1800" dirty="0">
                <a:solidFill>
                  <a:srgbClr val="7030A0"/>
                </a:solidFill>
              </a:rPr>
              <a:t>].</a:t>
            </a:r>
            <a:r>
              <a:rPr lang="en-US" sz="1800" dirty="0" err="1">
                <a:solidFill>
                  <a:srgbClr val="7030A0"/>
                </a:solidFill>
              </a:rPr>
              <a:t>innerText</a:t>
            </a:r>
            <a:r>
              <a:rPr lang="en-US" sz="1800" dirty="0">
                <a:solidFill>
                  <a:srgbClr val="7030A0"/>
                </a:solidFill>
              </a:rPr>
              <a:t>;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447800" y="0"/>
            <a:ext cx="73914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55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Accessing Elements Using </a:t>
            </a:r>
            <a:br>
              <a:rPr lang="en-US" sz="2800" dirty="0"/>
            </a:br>
            <a:r>
              <a:rPr lang="en-US" sz="2800" dirty="0" err="1"/>
              <a:t>getElementsByName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600200" y="0"/>
            <a:ext cx="7543800" cy="114300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2000" b="1" kern="12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104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" y="1418292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4163" indent="-284163">
              <a:lnSpc>
                <a:spcPct val="150000"/>
              </a:lnSpc>
            </a:pPr>
            <a:r>
              <a:rPr lang="en-US" sz="1600" i="1" dirty="0" err="1" smtClean="0">
                <a:solidFill>
                  <a:schemeClr val="bg1"/>
                </a:solidFill>
              </a:rPr>
              <a:t>getElementsByName</a:t>
            </a:r>
            <a:r>
              <a:rPr lang="en-US" sz="1600" i="1" dirty="0" smtClean="0">
                <a:solidFill>
                  <a:schemeClr val="bg1"/>
                </a:solidFill>
              </a:rPr>
              <a:t>() </a:t>
            </a:r>
            <a:r>
              <a:rPr lang="en-US" sz="1600" b="0" dirty="0" smtClean="0">
                <a:solidFill>
                  <a:schemeClr val="bg1"/>
                </a:solidFill>
              </a:rPr>
              <a:t>method used for accessing a specific element using its </a:t>
            </a:r>
            <a:r>
              <a:rPr lang="en-US" sz="1600" i="1" dirty="0" smtClean="0">
                <a:solidFill>
                  <a:schemeClr val="bg1"/>
                </a:solidFill>
              </a:rPr>
              <a:t>name</a:t>
            </a:r>
            <a:r>
              <a:rPr lang="en-US" sz="1600" b="0" dirty="0" smtClean="0">
                <a:solidFill>
                  <a:schemeClr val="bg1"/>
                </a:solidFill>
              </a:rPr>
              <a:t>.</a:t>
            </a:r>
          </a:p>
          <a:p>
            <a:pPr marL="1025525">
              <a:lnSpc>
                <a:spcPct val="150000"/>
              </a:lnSpc>
            </a:pP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var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choice=</a:t>
            </a:r>
            <a:r>
              <a:rPr lang="en-US" sz="1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document.getElementsByName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6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“</a:t>
            </a:r>
            <a:r>
              <a:rPr lang="en-US" sz="1600" dirty="0" smtClean="0">
                <a:solidFill>
                  <a:srgbClr val="00B050"/>
                </a:solidFill>
              </a:rPr>
              <a:t>hobby</a:t>
            </a:r>
            <a:r>
              <a:rPr lang="en-US" sz="16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”)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;</a:t>
            </a:r>
            <a:r>
              <a:rPr lang="en-US" sz="1600" dirty="0" smtClean="0">
                <a:solidFill>
                  <a:srgbClr val="7030A0"/>
                </a:solidFill>
              </a:rPr>
              <a:t> </a:t>
            </a:r>
            <a:r>
              <a:rPr lang="en-US" sz="1600" b="0" dirty="0" smtClean="0">
                <a:solidFill>
                  <a:schemeClr val="bg1"/>
                </a:solidFill>
              </a:rPr>
              <a:t>Gets all the elements with the name </a:t>
            </a:r>
            <a:r>
              <a:rPr lang="en-US" sz="1600" b="0" dirty="0" smtClean="0"/>
              <a:t>“</a:t>
            </a:r>
            <a:r>
              <a:rPr lang="en-US" sz="1600" dirty="0" smtClean="0">
                <a:solidFill>
                  <a:srgbClr val="00B050"/>
                </a:solidFill>
              </a:rPr>
              <a:t>hobby</a:t>
            </a:r>
            <a:r>
              <a:rPr lang="en-US" sz="1600" b="0" dirty="0" smtClean="0"/>
              <a:t>”.</a:t>
            </a:r>
          </a:p>
          <a:p>
            <a:pPr marL="457200">
              <a:lnSpc>
                <a:spcPct val="150000"/>
              </a:lnSpc>
            </a:pPr>
            <a:r>
              <a:rPr lang="en-US" sz="1600" b="0" dirty="0" smtClean="0">
                <a:solidFill>
                  <a:schemeClr val="bg1"/>
                </a:solidFill>
              </a:rPr>
              <a:t>Individual elements can be accessed from the collection using the index.</a:t>
            </a:r>
          </a:p>
          <a:p>
            <a:pPr marL="236538" indent="109538">
              <a:lnSpc>
                <a:spcPct val="150000"/>
              </a:lnSpc>
            </a:pPr>
            <a:r>
              <a:rPr lang="en-US" sz="1600" dirty="0" smtClean="0">
                <a:solidFill>
                  <a:srgbClr val="00B050"/>
                </a:solidFill>
              </a:rPr>
              <a:t>hobby</a:t>
            </a:r>
            <a:r>
              <a:rPr lang="en-US" sz="16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[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</a:t>
            </a:r>
            <a:r>
              <a:rPr lang="en-US" sz="160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]</a:t>
            </a:r>
            <a:r>
              <a:rPr lang="en-US" sz="1600" dirty="0" smtClean="0">
                <a:solidFill>
                  <a:srgbClr val="7030A0"/>
                </a:solidFill>
              </a:rPr>
              <a:t> </a:t>
            </a:r>
            <a:r>
              <a:rPr lang="en-US" sz="1600" b="0" dirty="0" smtClean="0">
                <a:solidFill>
                  <a:schemeClr val="bg1"/>
                </a:solidFill>
              </a:rPr>
              <a:t>returns the first element in the collection</a:t>
            </a:r>
            <a:r>
              <a:rPr lang="en-US" sz="1600" b="0" dirty="0" smtClean="0"/>
              <a:t> </a:t>
            </a:r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choice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Length property gives the number of elements in the collection can be used to iterate through the entire list of elements.</a:t>
            </a:r>
          </a:p>
          <a:p>
            <a:pPr marL="236538" indent="-23653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Value of the individual elements can be retrieved using the value property.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Scenario : Assume</a:t>
            </a:r>
            <a:r>
              <a:rPr lang="en-US" sz="1600" b="0" dirty="0" smtClean="0"/>
              <a:t> “</a:t>
            </a:r>
            <a:r>
              <a:rPr lang="en-US" sz="1600" dirty="0" smtClean="0">
                <a:solidFill>
                  <a:srgbClr val="00B050"/>
                </a:solidFill>
              </a:rPr>
              <a:t>hobby</a:t>
            </a:r>
            <a:r>
              <a:rPr lang="en-US" sz="1600" b="0" dirty="0" smtClean="0"/>
              <a:t>” </a:t>
            </a:r>
            <a:r>
              <a:rPr lang="en-US" sz="1600" dirty="0">
                <a:solidFill>
                  <a:schemeClr val="bg1"/>
                </a:solidFill>
              </a:rPr>
              <a:t>is the name of a collection of check boxes with values “Singing, Dancing, Cricket” in a html page.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How to identify which hobbies are selected?</a:t>
            </a:r>
          </a:p>
          <a:p>
            <a:pPr marL="236538" indent="109538">
              <a:lnSpc>
                <a:spcPct val="150000"/>
              </a:lnSpc>
            </a:pPr>
            <a:r>
              <a:rPr lang="en-US" sz="1600" b="0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var</a:t>
            </a:r>
            <a:r>
              <a:rPr lang="en-US" sz="1600" b="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choice=</a:t>
            </a:r>
            <a:r>
              <a:rPr lang="en-US" sz="1600" b="0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document.getElementsByName</a:t>
            </a:r>
            <a:r>
              <a:rPr lang="en-US" sz="1600" b="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(“hobby”);  </a:t>
            </a:r>
          </a:p>
          <a:p>
            <a:pPr marL="236538" indent="109538">
              <a:lnSpc>
                <a:spcPct val="150000"/>
              </a:lnSpc>
            </a:pPr>
            <a:r>
              <a:rPr lang="en-US" sz="1600" b="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for(</a:t>
            </a:r>
            <a:r>
              <a:rPr lang="en-US" sz="1600" b="0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var</a:t>
            </a:r>
            <a:r>
              <a:rPr lang="en-US" sz="1600" b="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b="0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1600" b="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=0;i&lt;</a:t>
            </a:r>
            <a:r>
              <a:rPr lang="en-US" sz="1600" b="0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choice.length;i</a:t>
            </a:r>
            <a:r>
              <a:rPr lang="en-US" sz="1600" b="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++){</a:t>
            </a:r>
          </a:p>
          <a:p>
            <a:pPr marL="236538" indent="109538">
              <a:lnSpc>
                <a:spcPct val="150000"/>
              </a:lnSpc>
            </a:pPr>
            <a:r>
              <a:rPr lang="en-US" sz="1600" b="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 alert(choice[</a:t>
            </a:r>
            <a:r>
              <a:rPr lang="en-US" sz="1600" b="0" dirty="0" err="1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1600" b="0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].checked);}</a:t>
            </a:r>
          </a:p>
          <a:p>
            <a:pPr>
              <a:lnSpc>
                <a:spcPct val="150000"/>
              </a:lnSpc>
            </a:pPr>
            <a:endParaRPr lang="en-US" sz="1600" b="0" dirty="0"/>
          </a:p>
        </p:txBody>
      </p:sp>
      <p:sp>
        <p:nvSpPr>
          <p:cNvPr id="8" name="Right Brace 7"/>
          <p:cNvSpPr/>
          <p:nvPr/>
        </p:nvSpPr>
        <p:spPr>
          <a:xfrm>
            <a:off x="5257800" y="5638800"/>
            <a:ext cx="304800" cy="639128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38800" y="5181600"/>
            <a:ext cx="2971800" cy="10156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b="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This iterates through the </a:t>
            </a:r>
            <a:r>
              <a:rPr lang="en-US" sz="1500" i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hobbies </a:t>
            </a:r>
            <a:r>
              <a:rPr lang="en-US" sz="1500" b="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check boxes and using the </a:t>
            </a:r>
            <a:r>
              <a:rPr lang="en-US" sz="1500" i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checked  </a:t>
            </a:r>
            <a:r>
              <a:rPr lang="en-US" sz="1500" b="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attribute and alerts whether it is checked or not.</a:t>
            </a:r>
            <a:endParaRPr lang="en-US" sz="1500" i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90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>
                <a:latin typeface="Verdana" pitchFamily="34" charset="0"/>
              </a:rPr>
              <a:t>How To Access Fields using</a:t>
            </a:r>
            <a:br>
              <a:rPr lang="en-US" sz="2800" b="0" dirty="0">
                <a:latin typeface="Verdana" pitchFamily="34" charset="0"/>
              </a:rPr>
            </a:br>
            <a:r>
              <a:rPr lang="en-US" sz="2800" b="0" dirty="0">
                <a:latin typeface="Verdana" pitchFamily="34" charset="0"/>
              </a:rPr>
              <a:t> </a:t>
            </a:r>
            <a:r>
              <a:rPr lang="en-US" sz="2800" b="0" dirty="0" err="1">
                <a:latin typeface="Verdana" pitchFamily="34" charset="0"/>
              </a:rPr>
              <a:t>getElementById</a:t>
            </a:r>
            <a:r>
              <a:rPr lang="en-US" sz="2800" b="0" dirty="0">
                <a:latin typeface="Verdana" pitchFamily="34" charset="0"/>
              </a:rPr>
              <a:t>() method</a:t>
            </a:r>
            <a:r>
              <a:rPr lang="en-US" b="0" dirty="0">
                <a:latin typeface="Verdana" pitchFamily="34" charset="0"/>
              </a:rPr>
              <a:t/>
            </a:r>
            <a:br>
              <a:rPr lang="en-US" b="0" dirty="0">
                <a:latin typeface="Verdana" pitchFamily="34" charset="0"/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137830"/>
            <a:ext cx="8382000" cy="5262969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sz="2000" dirty="0"/>
              <a:t>To access the form fields we use the method </a:t>
            </a:r>
            <a:r>
              <a:rPr lang="en-US" sz="2000" i="1" dirty="0" err="1"/>
              <a:t>document.getElementById</a:t>
            </a:r>
            <a:r>
              <a:rPr lang="en-US" sz="2000" i="1" dirty="0"/>
              <a:t>().</a:t>
            </a:r>
          </a:p>
          <a:p>
            <a:endParaRPr lang="en-US" sz="2000" dirty="0"/>
          </a:p>
          <a:p>
            <a:r>
              <a:rPr lang="en-US" sz="2000" dirty="0"/>
              <a:t> Example of Fields: Text box, Radio button, Check box , text area etc.</a:t>
            </a:r>
          </a:p>
          <a:p>
            <a:endParaRPr lang="en-US" sz="2000" dirty="0">
              <a:solidFill>
                <a:srgbClr val="00B050"/>
              </a:solidFill>
            </a:endParaRPr>
          </a:p>
          <a:p>
            <a:endParaRPr lang="en-US" sz="2000" dirty="0">
              <a:solidFill>
                <a:srgbClr val="00B050"/>
              </a:solidFill>
            </a:endParaRPr>
          </a:p>
          <a:p>
            <a:r>
              <a:rPr lang="en-US" sz="2000" dirty="0"/>
              <a:t>Syntax :  </a:t>
            </a:r>
            <a:r>
              <a:rPr lang="en-US" sz="2000" dirty="0" err="1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document.getElementById</a:t>
            </a:r>
            <a:r>
              <a:rPr lang="en-US" sz="20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(</a:t>
            </a:r>
            <a:r>
              <a:rPr lang="en-US" sz="2000" dirty="0" err="1" smtClean="0">
                <a:solidFill>
                  <a:srgbClr val="00B050"/>
                </a:solidFill>
              </a:rPr>
              <a:t>elementID</a:t>
            </a:r>
            <a:r>
              <a:rPr lang="en-US" sz="20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) 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// This retrieves the element whose id matches the id passed as parameter. “Id” here refers to the ID </a:t>
            </a:r>
            <a:r>
              <a:rPr lang="en-US" sz="2000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attrbute</a:t>
            </a:r>
            <a:r>
              <a:rPr lang="en-US" sz="2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of the form element.</a:t>
            </a:r>
          </a:p>
          <a:p>
            <a:endParaRPr lang="en-US" sz="2000" dirty="0">
              <a:solidFill>
                <a:srgbClr val="00B050"/>
              </a:solidFill>
            </a:endParaRPr>
          </a:p>
          <a:p>
            <a:r>
              <a:rPr lang="en-US" sz="2000" dirty="0"/>
              <a:t>Example: How to access a text field “</a:t>
            </a:r>
            <a:r>
              <a:rPr lang="en-US" sz="2000" i="1" dirty="0"/>
              <a:t>user name</a:t>
            </a:r>
            <a:r>
              <a:rPr lang="en-US" sz="2000" dirty="0"/>
              <a:t>” whose id is “</a:t>
            </a:r>
            <a:r>
              <a:rPr lang="en-US" sz="2000" dirty="0">
                <a:solidFill>
                  <a:srgbClr val="C00000"/>
                </a:solidFill>
              </a:rPr>
              <a:t>username</a:t>
            </a:r>
            <a:r>
              <a:rPr lang="en-US" sz="2000" dirty="0"/>
              <a:t>”.</a:t>
            </a:r>
          </a:p>
          <a:p>
            <a:endParaRPr lang="en-US" sz="2000" dirty="0"/>
          </a:p>
          <a:p>
            <a:pPr marL="1150938" lvl="2"/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document.getElementById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</a:t>
            </a:r>
            <a:r>
              <a:rPr lang="en-US" dirty="0">
                <a:solidFill>
                  <a:srgbClr val="00B050"/>
                </a:solidFill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username</a:t>
            </a:r>
            <a:r>
              <a:rPr lang="en-US" dirty="0">
                <a:solidFill>
                  <a:srgbClr val="00B050"/>
                </a:solidFill>
              </a:rPr>
              <a:t>”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62160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>
                <a:latin typeface="Verdana" pitchFamily="34" charset="0"/>
              </a:rPr>
              <a:t>How to access and set values of form elements</a:t>
            </a: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8382000" cy="5638800"/>
          </a:xfrm>
        </p:spPr>
        <p:txBody>
          <a:bodyPr>
            <a:normAutofit/>
          </a:bodyPr>
          <a:lstStyle/>
          <a:p>
            <a:r>
              <a:rPr lang="en-US" sz="2000" dirty="0"/>
              <a:t>To retrieve the value of an element we use the attribute </a:t>
            </a:r>
            <a:r>
              <a:rPr lang="en-US" sz="2000" i="1" dirty="0">
                <a:solidFill>
                  <a:srgbClr val="C00000"/>
                </a:solidFill>
              </a:rPr>
              <a:t>“value”</a:t>
            </a:r>
            <a:r>
              <a:rPr lang="en-US" sz="2000" dirty="0"/>
              <a:t>.</a:t>
            </a:r>
          </a:p>
          <a:p>
            <a:r>
              <a:rPr lang="en-US" sz="2000" dirty="0" smtClean="0"/>
              <a:t>  Syntax</a:t>
            </a:r>
            <a:r>
              <a:rPr lang="en-US" sz="2000" dirty="0"/>
              <a:t>: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// </a:t>
            </a:r>
            <a:r>
              <a:rPr lang="en-US" dirty="0">
                <a:solidFill>
                  <a:srgbClr val="00B050"/>
                </a:solidFill>
              </a:rPr>
              <a:t>retrieves the value</a:t>
            </a:r>
          </a:p>
          <a:p>
            <a:pPr lvl="2"/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var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variableName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document.getElementById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elementId</a:t>
            </a:r>
            <a:r>
              <a:rPr lang="en-US" dirty="0">
                <a:solidFill>
                  <a:srgbClr val="00B050"/>
                </a:solidFill>
              </a:rPr>
              <a:t>).value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// Sets the value</a:t>
            </a:r>
          </a:p>
          <a:p>
            <a:pPr lvl="2"/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document.getElementById</a:t>
            </a:r>
            <a:r>
              <a:rPr lang="en-US" dirty="0">
                <a:solidFill>
                  <a:srgbClr val="00206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elementId</a:t>
            </a:r>
            <a:r>
              <a:rPr lang="en-US" dirty="0">
                <a:solidFill>
                  <a:srgbClr val="002060"/>
                </a:solidFill>
              </a:rPr>
              <a:t>)</a:t>
            </a:r>
            <a:r>
              <a:rPr lang="en-US" dirty="0">
                <a:solidFill>
                  <a:srgbClr val="00B050"/>
                </a:solidFill>
              </a:rPr>
              <a:t>.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>
                <a:solidFill>
                  <a:srgbClr val="00B050"/>
                </a:solidFill>
              </a:rPr>
              <a:t> = value To Be Set.</a:t>
            </a:r>
          </a:p>
          <a:p>
            <a:endParaRPr lang="en-US" sz="2000" dirty="0"/>
          </a:p>
          <a:p>
            <a:r>
              <a:rPr lang="en-US" sz="2000" dirty="0"/>
              <a:t>  </a:t>
            </a:r>
            <a:r>
              <a:rPr lang="en-US" sz="2000" dirty="0" smtClean="0"/>
              <a:t>Example</a:t>
            </a:r>
            <a:r>
              <a:rPr lang="en-US" sz="2000" dirty="0"/>
              <a:t>:</a:t>
            </a:r>
          </a:p>
          <a:p>
            <a:pPr lvl="2"/>
            <a:r>
              <a:rPr lang="en-US" dirty="0">
                <a:solidFill>
                  <a:srgbClr val="00B050"/>
                </a:solidFill>
              </a:rPr>
              <a:t>//This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retrieves</a:t>
            </a:r>
            <a:r>
              <a:rPr lang="en-US" dirty="0">
                <a:solidFill>
                  <a:srgbClr val="00B050"/>
                </a:solidFill>
              </a:rPr>
              <a:t> the value from the text field </a:t>
            </a:r>
            <a:r>
              <a:rPr lang="en-US" dirty="0">
                <a:solidFill>
                  <a:srgbClr val="002060"/>
                </a:solidFill>
              </a:rPr>
              <a:t>“</a:t>
            </a:r>
            <a:r>
              <a:rPr lang="en-US" dirty="0" err="1">
                <a:solidFill>
                  <a:srgbClr val="C00000"/>
                </a:solidFill>
              </a:rPr>
              <a:t>userName</a:t>
            </a:r>
            <a:r>
              <a:rPr lang="en-US" dirty="0">
                <a:solidFill>
                  <a:srgbClr val="002060"/>
                </a:solidFill>
              </a:rPr>
              <a:t>”</a:t>
            </a:r>
          </a:p>
          <a:p>
            <a:pPr lvl="2"/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var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userName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=</a:t>
            </a:r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document.getElementById</a:t>
            </a:r>
            <a:r>
              <a:rPr lang="en-US" dirty="0">
                <a:solidFill>
                  <a:srgbClr val="00B050"/>
                </a:solidFill>
              </a:rPr>
              <a:t>(“</a:t>
            </a:r>
            <a:r>
              <a:rPr lang="en-US" dirty="0">
                <a:solidFill>
                  <a:srgbClr val="C00000"/>
                </a:solidFill>
              </a:rPr>
              <a:t>username</a:t>
            </a:r>
            <a:r>
              <a:rPr lang="en-US" dirty="0">
                <a:solidFill>
                  <a:srgbClr val="00B050"/>
                </a:solidFill>
              </a:rPr>
              <a:t>”).</a:t>
            </a:r>
            <a:r>
              <a:rPr lang="en-US" dirty="0">
                <a:solidFill>
                  <a:srgbClr val="C00000"/>
                </a:solidFill>
              </a:rPr>
              <a:t>value</a:t>
            </a:r>
            <a:r>
              <a:rPr lang="en-US" dirty="0">
                <a:solidFill>
                  <a:srgbClr val="00B050"/>
                </a:solidFill>
              </a:rPr>
              <a:t>    </a:t>
            </a:r>
          </a:p>
          <a:p>
            <a:pPr lvl="2"/>
            <a:endParaRPr lang="en-US" dirty="0">
              <a:solidFill>
                <a:srgbClr val="00B050"/>
              </a:solidFill>
            </a:endParaRPr>
          </a:p>
          <a:p>
            <a:pPr lvl="2"/>
            <a:r>
              <a:rPr lang="en-US" dirty="0">
                <a:solidFill>
                  <a:srgbClr val="00B050"/>
                </a:solidFill>
              </a:rPr>
              <a:t>//This sets the value of username  as “Arun” in the text field </a:t>
            </a:r>
            <a:r>
              <a:rPr lang="en-US" dirty="0">
                <a:solidFill>
                  <a:srgbClr val="002060"/>
                </a:solidFill>
              </a:rPr>
              <a:t>“</a:t>
            </a:r>
            <a:r>
              <a:rPr lang="en-US" dirty="0" err="1">
                <a:solidFill>
                  <a:srgbClr val="C00000"/>
                </a:solidFill>
              </a:rPr>
              <a:t>userName</a:t>
            </a:r>
            <a:r>
              <a:rPr lang="en-US" dirty="0">
                <a:solidFill>
                  <a:srgbClr val="002060"/>
                </a:solidFill>
              </a:rPr>
              <a:t>”</a:t>
            </a:r>
            <a:endParaRPr lang="en-US" dirty="0">
              <a:solidFill>
                <a:srgbClr val="00B050"/>
              </a:solidFill>
            </a:endParaRPr>
          </a:p>
          <a:p>
            <a:pPr lvl="2"/>
            <a:r>
              <a:rPr lang="en-US" dirty="0" err="1">
                <a:solidFill>
                  <a:schemeClr val="accent6">
                    <a:lumMod val="40000"/>
                    <a:lumOff val="60000"/>
                  </a:schemeClr>
                </a:solidFill>
              </a:rPr>
              <a:t>document.getElementById</a:t>
            </a:r>
            <a:r>
              <a:rPr lang="en-US" dirty="0">
                <a:solidFill>
                  <a:srgbClr val="00B050"/>
                </a:solidFill>
              </a:rPr>
              <a:t>(“</a:t>
            </a:r>
            <a:r>
              <a:rPr lang="en-US" dirty="0">
                <a:solidFill>
                  <a:srgbClr val="C00000"/>
                </a:solidFill>
              </a:rPr>
              <a:t>username</a:t>
            </a:r>
            <a:r>
              <a:rPr lang="en-US" dirty="0">
                <a:solidFill>
                  <a:srgbClr val="00B050"/>
                </a:solidFill>
              </a:rPr>
              <a:t>”).value=“Arun”  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70432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String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107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2" y="1172406"/>
            <a:ext cx="91440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dirty="0" smtClean="0">
                <a:solidFill>
                  <a:schemeClr val="bg1"/>
                </a:solidFill>
              </a:rPr>
              <a:t>The String Object type provides a set of methods for manipulating strings.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Example: </a:t>
            </a:r>
            <a:r>
              <a:rPr lang="en-US" sz="2000" b="0" dirty="0" err="1" smtClean="0">
                <a:solidFill>
                  <a:schemeClr val="bg1"/>
                </a:solidFill>
              </a:rPr>
              <a:t>var</a:t>
            </a:r>
            <a:r>
              <a:rPr lang="en-US" sz="2000" b="0" dirty="0" smtClean="0">
                <a:solidFill>
                  <a:schemeClr val="bg1"/>
                </a:solidFill>
              </a:rPr>
              <a:t> string1=“Hello World” and </a:t>
            </a:r>
            <a:r>
              <a:rPr lang="en-US" sz="2000" b="0" dirty="0" err="1" smtClean="0">
                <a:solidFill>
                  <a:schemeClr val="bg1"/>
                </a:solidFill>
              </a:rPr>
              <a:t>var</a:t>
            </a:r>
            <a:r>
              <a:rPr lang="en-US" sz="2000" b="0" dirty="0" smtClean="0">
                <a:solidFill>
                  <a:schemeClr val="bg1"/>
                </a:solidFill>
              </a:rPr>
              <a:t> string2=“JavaScript”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11108"/>
              </p:ext>
            </p:extLst>
          </p:nvPr>
        </p:nvGraphicFramePr>
        <p:xfrm>
          <a:off x="76202" y="2286001"/>
          <a:ext cx="8915398" cy="411400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76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4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7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Method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Example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487">
                <a:tc>
                  <a:txBody>
                    <a:bodyPr/>
                    <a:lstStyle/>
                    <a:p>
                      <a:r>
                        <a:rPr lang="en-US" sz="13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charAt</a:t>
                      </a:r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(index)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Returns the character at the specified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string1.charAt(0) returns</a:t>
                      </a:r>
                      <a:r>
                        <a:rPr lang="en-US" sz="13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“H”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6038">
                <a:tc>
                  <a:txBody>
                    <a:bodyPr/>
                    <a:lstStyle/>
                    <a:p>
                      <a:r>
                        <a:rPr lang="en-US" sz="13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charCodeAt</a:t>
                      </a:r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(index)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Returns the Unicode of the character at the specified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string1.charAt(0) returns</a:t>
                      </a:r>
                      <a:r>
                        <a:rPr lang="en-US" sz="13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72 which is the Unicode value for  “”H</a:t>
                      </a:r>
                      <a:endParaRPr lang="en-US" sz="1300" dirty="0" smtClean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0449">
                <a:tc>
                  <a:txBody>
                    <a:bodyPr/>
                    <a:lstStyle/>
                    <a:p>
                      <a:r>
                        <a:rPr lang="en-US" sz="13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fromCharCode</a:t>
                      </a:r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(unicode1,unicode2)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Converts Unicode values to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kern="12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String.fromCharCode</a:t>
                      </a:r>
                      <a:r>
                        <a:rPr lang="en-US" sz="1300" kern="1200" dirty="0" smtClean="0">
                          <a:solidFill>
                            <a:schemeClr val="tx2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(72,69,76,76,79))</a:t>
                      </a:r>
                      <a:r>
                        <a:rPr lang="en-US" sz="1300" kern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returns “HELLO” where the numbers 72,69,76,79 are the Unicode's of the letters H,E,L and O respectively.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626">
                <a:tc>
                  <a:txBody>
                    <a:bodyPr/>
                    <a:lstStyle/>
                    <a:p>
                      <a:r>
                        <a:rPr lang="en-US" sz="13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indexOf</a:t>
                      </a:r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(string)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Returns the position of the first found occurrence of a specified value in a 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string1.indexOf(“World”) returns 6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626">
                <a:tc>
                  <a:txBody>
                    <a:bodyPr/>
                    <a:lstStyle/>
                    <a:p>
                      <a:r>
                        <a:rPr lang="en-US" sz="13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lastIndexOf</a:t>
                      </a:r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(string)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Returns the position of the last found occurrence of a specified value in a 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3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string1.lastIndexOf(“o”) returns</a:t>
                      </a:r>
                      <a:r>
                        <a:rPr lang="en-US" sz="13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7</a:t>
                      </a:r>
                      <a:endParaRPr lang="en-US" sz="13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11344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String Object Methods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108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91243"/>
              </p:ext>
            </p:extLst>
          </p:nvPr>
        </p:nvGraphicFramePr>
        <p:xfrm>
          <a:off x="2" y="973237"/>
          <a:ext cx="9091613" cy="542676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14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8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8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6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Method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Example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375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match(</a:t>
                      </a:r>
                      <a:r>
                        <a:rPr lang="en-US" sz="12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regEx</a:t>
                      </a: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Searches for a match between a regular expression and a string, and returns the matches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Visit the below link for details</a:t>
                      </a:r>
                      <a:r>
                        <a:rPr lang="en-US" sz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on using </a:t>
                      </a:r>
                      <a:r>
                        <a:rPr lang="en-US" sz="1200" baseline="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regEx</a:t>
                      </a:r>
                      <a:r>
                        <a:rPr lang="en-US" sz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lang="en-US" sz="1200" dirty="0" smtClean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  <a:hlinkClick r:id="rId2"/>
                      </a:endParaRPr>
                    </a:p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  <a:hlinkClick r:id="rId2"/>
                        </a:rPr>
                        <a:t>http://www.w3schools.com/js/js_obj_regexp.asp</a:t>
                      </a:r>
                      <a:endParaRPr lang="en-US" sz="1200" dirty="0" smtClean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375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replace(</a:t>
                      </a:r>
                      <a:r>
                        <a:rPr lang="en-US" sz="12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stringA,StringB</a:t>
                      </a: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Searches for a match between a substring (or regular expression) and a string, and replaces the matched substring with a new substring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string1.replace(“</a:t>
                      </a:r>
                      <a:r>
                        <a:rPr lang="en-US" sz="12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World”,”John</a:t>
                      </a: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”)  return</a:t>
                      </a:r>
                      <a:r>
                        <a:rPr lang="en-US" sz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 “Hello John”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375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search(</a:t>
                      </a:r>
                      <a:r>
                        <a:rPr lang="en-US" sz="12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regEx</a:t>
                      </a: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Searches for a match between a regular expression and a string, and returns the position of the 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Visit the below link for details</a:t>
                      </a:r>
                      <a:r>
                        <a:rPr lang="en-US" sz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on using </a:t>
                      </a:r>
                      <a:r>
                        <a:rPr lang="en-US" sz="1200" baseline="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regEx</a:t>
                      </a:r>
                      <a:r>
                        <a:rPr lang="en-US" sz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.</a:t>
                      </a:r>
                      <a:endParaRPr lang="en-US" sz="1200" dirty="0" smtClean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  <a:hlinkClick r:id="rId2"/>
                      </a:endParaRPr>
                    </a:p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  <a:hlinkClick r:id="rId2"/>
                        </a:rPr>
                        <a:t>http://www.w3schools.com/js/js_obj_regexp.asp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6874">
                <a:tc>
                  <a:txBody>
                    <a:bodyPr/>
                    <a:lstStyle/>
                    <a:p>
                      <a:r>
                        <a:rPr lang="en-US" sz="12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substr</a:t>
                      </a: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en-US" sz="12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start,length</a:t>
                      </a: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Extracts the characters from a string, beginning at a specified start position, and through the specified number of </a:t>
                      </a: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characters. length</a:t>
                      </a:r>
                      <a:r>
                        <a:rPr lang="en-US" sz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is optional in that case the rest of the string from the starting index is returned.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string1.substr(3,4) returns “lo</a:t>
                      </a:r>
                      <a:r>
                        <a:rPr lang="en-US" sz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w”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38124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substring(</a:t>
                      </a:r>
                      <a:r>
                        <a:rPr lang="en-US" sz="12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start,stop</a:t>
                      </a: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Extracts the characters from a string, between two specified </a:t>
                      </a: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indices excluding</a:t>
                      </a:r>
                      <a:r>
                        <a:rPr lang="en-US" sz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the stop index. stop index is optional in that case the rest of the String starting from the start index is returned.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tx2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Negative values become zero. </a:t>
                      </a:r>
                    </a:p>
                    <a:p>
                      <a:r>
                        <a:rPr lang="en-US" sz="1200" kern="1200" dirty="0" smtClean="0">
                          <a:solidFill>
                            <a:schemeClr val="tx2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if start &gt; end, the arguments are swapped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String1.substring(3,5) returns  “lo”</a:t>
                      </a:r>
                      <a:endParaRPr lang="en-US" sz="12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0999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String Object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109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665026"/>
              </p:ext>
            </p:extLst>
          </p:nvPr>
        </p:nvGraphicFramePr>
        <p:xfrm>
          <a:off x="-76201" y="1066799"/>
          <a:ext cx="9220201" cy="525780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98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5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2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15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Method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Description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Example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0519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slice()</a:t>
                      </a:r>
                      <a:endParaRPr lang="en-US" sz="14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kern="1200" dirty="0" smtClean="0">
                          <a:solidFill>
                            <a:schemeClr val="tx2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Returns a portion of the string from position start to, but not including position end. Normally</a:t>
                      </a:r>
                      <a:r>
                        <a:rPr lang="en-US" sz="1400" kern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</a:t>
                      </a:r>
                      <a:r>
                        <a:rPr lang="en-US" sz="1400" kern="1200" dirty="0" smtClean="0">
                          <a:solidFill>
                            <a:schemeClr val="tx2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Works</a:t>
                      </a:r>
                      <a:r>
                        <a:rPr lang="en-US" sz="1400" kern="12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 similar to substring() method but for negative arguments it means </a:t>
                      </a:r>
                      <a:r>
                        <a:rPr lang="en-US" sz="1400" kern="1200" dirty="0" smtClean="0">
                          <a:solidFill>
                            <a:schemeClr val="tx2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go backwards from the tail.</a:t>
                      </a:r>
                      <a:endParaRPr lang="en-US" sz="14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String.slice</a:t>
                      </a: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(4,-2)</a:t>
                      </a:r>
                      <a:r>
                        <a:rPr lang="en-US" sz="14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returns “o </a:t>
                      </a:r>
                      <a:r>
                        <a:rPr lang="en-US" sz="1400" baseline="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wor</a:t>
                      </a:r>
                      <a:r>
                        <a:rPr lang="en-US" sz="14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” that is  from 4</a:t>
                      </a:r>
                      <a:r>
                        <a:rPr lang="en-US" sz="1400" baseline="300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th </a:t>
                      </a:r>
                      <a:r>
                        <a:rPr lang="en-US" sz="14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index  to 2</a:t>
                      </a:r>
                      <a:r>
                        <a:rPr lang="en-US" sz="1400" baseline="300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nd</a:t>
                      </a:r>
                      <a:r>
                        <a:rPr lang="en-US" sz="14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position from the tail.</a:t>
                      </a:r>
                      <a:endParaRPr lang="en-US" sz="14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77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toLowerCase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Converts a string to lowercase letters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string1.toLowerCase() returns</a:t>
                      </a:r>
                      <a:r>
                        <a:rPr lang="en-US" sz="1400" baseline="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 “hello world”</a:t>
                      </a:r>
                      <a:endParaRPr lang="en-US" sz="14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975"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toUpperCase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Converts a string to uppercase letters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String1.toUpperCase() returns “HELLO WORLD”</a:t>
                      </a:r>
                      <a:endParaRPr lang="en-US" sz="14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975">
                <a:tc>
                  <a:txBody>
                    <a:bodyPr/>
                    <a:lstStyle/>
                    <a:p>
                      <a:r>
                        <a:rPr lang="en-US" sz="14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concat</a:t>
                      </a: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(string)</a:t>
                      </a:r>
                      <a:endParaRPr lang="en-US" sz="14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Joins two or more strings, and returns a copy of the joined strings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string1.concat(string2) returns “Hello </a:t>
                      </a:r>
                      <a:r>
                        <a:rPr lang="en-US" sz="1400" dirty="0" err="1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WorldJavaScript</a:t>
                      </a:r>
                      <a:r>
                        <a:rPr lang="en-US" sz="1400" dirty="0" smtClean="0">
                          <a:solidFill>
                            <a:schemeClr val="tx2"/>
                          </a:solidFill>
                          <a:latin typeface="Arial" pitchFamily="34" charset="0"/>
                          <a:cs typeface="Arial" pitchFamily="34" charset="0"/>
                        </a:rPr>
                        <a:t>”</a:t>
                      </a:r>
                      <a:endParaRPr lang="en-US" sz="1400" dirty="0">
                        <a:solidFill>
                          <a:schemeClr val="tx2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67763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methods in String object viz., length(), trim()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https://www.w3schools.com/js/js_string_methods.asp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5513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7543800" cy="1143000"/>
          </a:xfrm>
        </p:spPr>
        <p:txBody>
          <a:bodyPr/>
          <a:lstStyle/>
          <a:p>
            <a:r>
              <a:rPr lang="en-US" sz="3200" dirty="0" smtClean="0"/>
              <a:t>Conditional Statements: If..else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50EC62AF-8A58-47DB-8277-FFD1CE2A98DE}" type="slidenum">
              <a:rPr lang="en-US" b="0" smtClean="0"/>
              <a:pPr>
                <a:defRPr/>
              </a:pPr>
              <a:t>111</a:t>
            </a:fld>
            <a:endParaRPr lang="en-US" b="0"/>
          </a:p>
        </p:txBody>
      </p:sp>
      <p:sp>
        <p:nvSpPr>
          <p:cNvPr id="5" name="Rectangle 4"/>
          <p:cNvSpPr/>
          <p:nvPr/>
        </p:nvSpPr>
        <p:spPr>
          <a:xfrm>
            <a:off x="381000" y="2743200"/>
            <a:ext cx="3505200" cy="3370666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70C0"/>
                </a:solidFill>
              </a:rPr>
              <a:t>if (condition){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B050"/>
                </a:solidFill>
              </a:rPr>
              <a:t>//code to be executed if condition is true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70C0"/>
                </a:solidFill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70C0"/>
                </a:solidFill>
              </a:rPr>
              <a:t>else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70C0"/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B050"/>
                </a:solidFill>
              </a:rPr>
              <a:t>//code to be executed if condition is not true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70C0"/>
                </a:solidFill>
              </a:rPr>
              <a:t>}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152400" y="167640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Definition:  Used to execute some code if the condition is true and another code if the condition is false.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191000" y="2808744"/>
            <a:ext cx="4343400" cy="2677656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70C0"/>
                </a:solidFill>
              </a:rPr>
              <a:t>if (a&gt;b){</a:t>
            </a:r>
          </a:p>
          <a:p>
            <a:pPr>
              <a:lnSpc>
                <a:spcPct val="150000"/>
              </a:lnSpc>
            </a:pPr>
            <a:r>
              <a:rPr lang="en-US" sz="16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600" dirty="0" smtClean="0">
                <a:solidFill>
                  <a:srgbClr val="00B050"/>
                </a:solidFill>
              </a:rPr>
              <a:t>(“a is greater than b”);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70C0"/>
                </a:solidFill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70C0"/>
                </a:solidFill>
              </a:rPr>
              <a:t>else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70C0"/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16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600" dirty="0" smtClean="0">
                <a:solidFill>
                  <a:srgbClr val="00B050"/>
                </a:solidFill>
              </a:rPr>
              <a:t>(“b is greater than a”);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solidFill>
                  <a:srgbClr val="0070C0"/>
                </a:solidFill>
              </a:rPr>
              <a:t>}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237386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029200" y="23622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329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7543800" cy="1143000"/>
          </a:xfrm>
        </p:spPr>
        <p:txBody>
          <a:bodyPr/>
          <a:lstStyle/>
          <a:p>
            <a:r>
              <a:rPr lang="en-US" sz="2800" dirty="0" smtClean="0"/>
              <a:t>Conditional Statements: If..else if ..else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50EC62AF-8A58-47DB-8277-FFD1CE2A98DE}" type="slidenum">
              <a:rPr lang="en-US" b="0" smtClean="0"/>
              <a:pPr>
                <a:defRPr/>
              </a:pPr>
              <a:t>112</a:t>
            </a:fld>
            <a:endParaRPr lang="en-US" b="0"/>
          </a:p>
        </p:txBody>
      </p:sp>
      <p:sp>
        <p:nvSpPr>
          <p:cNvPr id="5" name="Rectangle 4"/>
          <p:cNvSpPr/>
          <p:nvPr/>
        </p:nvSpPr>
        <p:spPr>
          <a:xfrm>
            <a:off x="228600" y="2126748"/>
            <a:ext cx="3657600" cy="3512052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if (condition){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B050"/>
                </a:solidFill>
              </a:rPr>
              <a:t>//code to be executed if condition is true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else if (</a:t>
            </a:r>
            <a:r>
              <a:rPr lang="en-US" sz="1500" i="1" dirty="0" smtClean="0">
                <a:solidFill>
                  <a:srgbClr val="0070C0"/>
                </a:solidFill>
              </a:rPr>
              <a:t>condition2) {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B050"/>
                </a:solidFill>
              </a:rPr>
              <a:t>//code to be executed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else {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B050"/>
                </a:solidFill>
              </a:rPr>
              <a:t>//code to be executed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 </a:t>
            </a:r>
            <a:endParaRPr lang="en-US" sz="1500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17526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343400" y="2160181"/>
            <a:ext cx="3657600" cy="3554819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70C0"/>
                </a:solidFill>
              </a:rPr>
              <a:t>var</a:t>
            </a:r>
            <a:r>
              <a:rPr lang="en-US" sz="1500" dirty="0" smtClean="0">
                <a:solidFill>
                  <a:srgbClr val="0070C0"/>
                </a:solidFill>
              </a:rPr>
              <a:t> time=16;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if (time&lt;11){</a:t>
            </a:r>
          </a:p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500" dirty="0" smtClean="0">
                <a:solidFill>
                  <a:srgbClr val="00B050"/>
                </a:solidFill>
              </a:rPr>
              <a:t>(“Good Morning”);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else if (</a:t>
            </a:r>
            <a:r>
              <a:rPr lang="en-US" sz="1500" i="1" dirty="0" smtClean="0">
                <a:solidFill>
                  <a:srgbClr val="0070C0"/>
                </a:solidFill>
              </a:rPr>
              <a:t>time&lt;15) { </a:t>
            </a:r>
          </a:p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500" dirty="0" smtClean="0">
                <a:solidFill>
                  <a:srgbClr val="00B050"/>
                </a:solidFill>
              </a:rPr>
              <a:t>(“Good Noon”);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else { </a:t>
            </a:r>
          </a:p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500" dirty="0" smtClean="0">
                <a:solidFill>
                  <a:srgbClr val="00B050"/>
                </a:solidFill>
              </a:rPr>
              <a:t>(“Good Evening”);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 </a:t>
            </a:r>
            <a:endParaRPr lang="en-US" sz="15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57800" y="1764268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4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0"/>
            <a:ext cx="7543800" cy="114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 smtClean="0">
                <a:latin typeface="Arial" pitchFamily="34" charset="0"/>
                <a:cs typeface="Arial" pitchFamily="34" charset="0"/>
              </a:rPr>
              <a:t>Conditional Statements: Switch</a:t>
            </a: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fld id="{50EC62AF-8A58-47DB-8277-FFD1CE2A98DE}" type="slidenum">
              <a:rPr lang="en-US" b="0" smtClean="0"/>
              <a:pPr>
                <a:lnSpc>
                  <a:spcPct val="150000"/>
                </a:lnSpc>
                <a:defRPr/>
              </a:pPr>
              <a:t>113</a:t>
            </a:fld>
            <a:endParaRPr lang="en-US" b="0"/>
          </a:p>
        </p:txBody>
      </p:sp>
      <p:sp>
        <p:nvSpPr>
          <p:cNvPr id="5" name="Rectangle 4"/>
          <p:cNvSpPr/>
          <p:nvPr/>
        </p:nvSpPr>
        <p:spPr>
          <a:xfrm>
            <a:off x="304800" y="2514600"/>
            <a:ext cx="3810000" cy="3858300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switch(n) {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case 1: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B050"/>
                </a:solidFill>
              </a:rPr>
              <a:t>           //execute code block 1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           break 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case 2: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B050"/>
                </a:solidFill>
              </a:rPr>
              <a:t>          //execute code block 2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          break 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default: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B050"/>
                </a:solidFill>
              </a:rPr>
              <a:t>          //code to be executed if n is different from case 1 and 2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 </a:t>
            </a:r>
            <a:endParaRPr lang="en-US" sz="1500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" y="1600200"/>
            <a:ext cx="8915400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Definition : </a:t>
            </a:r>
            <a:r>
              <a:rPr lang="en-US" sz="2000" b="0" dirty="0" smtClean="0">
                <a:solidFill>
                  <a:schemeClr val="bg1"/>
                </a:solidFill>
              </a:rPr>
              <a:t>Used to select a particular block of statements based on the user choice. Similar to if..Else..If Statement.</a:t>
            </a:r>
            <a:r>
              <a:rPr lang="en-US" b="0" dirty="0" smtClean="0"/>
              <a:t> </a:t>
            </a:r>
            <a:endParaRPr lang="en-US" b="0" dirty="0"/>
          </a:p>
        </p:txBody>
      </p:sp>
      <p:sp>
        <p:nvSpPr>
          <p:cNvPr id="7" name="Rectangle 6"/>
          <p:cNvSpPr/>
          <p:nvPr/>
        </p:nvSpPr>
        <p:spPr>
          <a:xfrm>
            <a:off x="4419600" y="2514600"/>
            <a:ext cx="3810000" cy="3901068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70C0"/>
                </a:solidFill>
              </a:rPr>
              <a:t>Var</a:t>
            </a:r>
            <a:r>
              <a:rPr lang="en-US" sz="1500" dirty="0" smtClean="0">
                <a:solidFill>
                  <a:srgbClr val="0070C0"/>
                </a:solidFill>
              </a:rPr>
              <a:t> n=2;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switch(n) {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case 1: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B050"/>
                </a:solidFill>
              </a:rPr>
              <a:t>           </a:t>
            </a:r>
            <a:r>
              <a:rPr lang="en-US" sz="15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500" dirty="0" smtClean="0">
                <a:solidFill>
                  <a:srgbClr val="00B050"/>
                </a:solidFill>
              </a:rPr>
              <a:t>(“one”);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           break 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case 2: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B050"/>
                </a:solidFill>
              </a:rPr>
              <a:t>          </a:t>
            </a:r>
            <a:r>
              <a:rPr lang="en-US" sz="15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500" dirty="0" smtClean="0">
                <a:solidFill>
                  <a:srgbClr val="00B050"/>
                </a:solidFill>
              </a:rPr>
              <a:t>(“Two”);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          break 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default: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B050"/>
                </a:solidFill>
              </a:rPr>
              <a:t>           </a:t>
            </a:r>
            <a:r>
              <a:rPr lang="en-US" sz="15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500" dirty="0" smtClean="0">
                <a:solidFill>
                  <a:srgbClr val="00B050"/>
                </a:solidFill>
              </a:rPr>
              <a:t>(“invalid choice”);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 </a:t>
            </a:r>
            <a:endParaRPr lang="en-US" sz="1500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" y="22098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800600" y="21336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61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696200" cy="114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 smtClean="0">
                <a:latin typeface="Arial" pitchFamily="34" charset="0"/>
                <a:cs typeface="Arial" pitchFamily="34" charset="0"/>
              </a:rPr>
              <a:t>Conditional Statements: </a:t>
            </a:r>
            <a:r>
              <a:rPr lang="en-US" sz="3000" smtClean="0">
                <a:latin typeface="Arial" pitchFamily="34" charset="0"/>
                <a:cs typeface="Arial" pitchFamily="34" charset="0"/>
              </a:rPr>
              <a:t>For Loop</a:t>
            </a:r>
            <a:endParaRPr lang="en-US" sz="3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fld id="{50EC62AF-8A58-47DB-8277-FFD1CE2A98DE}" type="slidenum">
              <a:rPr lang="en-US" b="0" smtClean="0"/>
              <a:pPr>
                <a:lnSpc>
                  <a:spcPct val="150000"/>
                </a:lnSpc>
                <a:defRPr/>
              </a:pPr>
              <a:t>114</a:t>
            </a:fld>
            <a:endParaRPr lang="en-US" b="0"/>
          </a:p>
        </p:txBody>
      </p:sp>
      <p:sp>
        <p:nvSpPr>
          <p:cNvPr id="5" name="Rectangle 4"/>
          <p:cNvSpPr/>
          <p:nvPr/>
        </p:nvSpPr>
        <p:spPr>
          <a:xfrm>
            <a:off x="304800" y="2209800"/>
            <a:ext cx="7620000" cy="1780809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70C0"/>
                </a:solidFill>
              </a:rPr>
              <a:t>var</a:t>
            </a:r>
            <a:r>
              <a:rPr lang="en-US" sz="1500" dirty="0" smtClean="0">
                <a:solidFill>
                  <a:srgbClr val="0070C0"/>
                </a:solidFill>
              </a:rPr>
              <a:t> </a:t>
            </a:r>
            <a:r>
              <a:rPr lang="en-US" sz="1500" dirty="0" err="1" smtClean="0">
                <a:solidFill>
                  <a:srgbClr val="0070C0"/>
                </a:solidFill>
              </a:rPr>
              <a:t>initval</a:t>
            </a:r>
            <a:r>
              <a:rPr lang="en-US" sz="1500" dirty="0" smtClean="0">
                <a:solidFill>
                  <a:srgbClr val="0070C0"/>
                </a:solidFill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for(</a:t>
            </a:r>
            <a:r>
              <a:rPr lang="en-US" sz="1500" dirty="0" err="1" smtClean="0">
                <a:solidFill>
                  <a:srgbClr val="0070C0"/>
                </a:solidFill>
              </a:rPr>
              <a:t>initval</a:t>
            </a:r>
            <a:r>
              <a:rPr lang="en-US" sz="1500" dirty="0" smtClean="0">
                <a:solidFill>
                  <a:srgbClr val="0070C0"/>
                </a:solidFill>
              </a:rPr>
              <a:t>=</a:t>
            </a:r>
            <a:r>
              <a:rPr lang="en-US" sz="1500" dirty="0" err="1" smtClean="0">
                <a:solidFill>
                  <a:srgbClr val="0070C0"/>
                </a:solidFill>
              </a:rPr>
              <a:t>startvalue;initval</a:t>
            </a:r>
            <a:r>
              <a:rPr lang="en-US" sz="1500" dirty="0" smtClean="0">
                <a:solidFill>
                  <a:srgbClr val="0070C0"/>
                </a:solidFill>
              </a:rPr>
              <a:t>&lt;=</a:t>
            </a:r>
            <a:r>
              <a:rPr lang="en-US" sz="1500" dirty="0" err="1" smtClean="0">
                <a:solidFill>
                  <a:srgbClr val="0070C0"/>
                </a:solidFill>
              </a:rPr>
              <a:t>endalue;initval</a:t>
            </a:r>
            <a:r>
              <a:rPr lang="en-US" sz="1500" dirty="0" smtClean="0">
                <a:solidFill>
                  <a:srgbClr val="0070C0"/>
                </a:solidFill>
              </a:rPr>
              <a:t>=</a:t>
            </a:r>
            <a:r>
              <a:rPr lang="en-US" sz="1500" dirty="0" err="1" smtClean="0">
                <a:solidFill>
                  <a:srgbClr val="0070C0"/>
                </a:solidFill>
              </a:rPr>
              <a:t>initval+incrval</a:t>
            </a:r>
            <a:r>
              <a:rPr lang="en-US" sz="1500" dirty="0" smtClean="0">
                <a:solidFill>
                  <a:srgbClr val="0070C0"/>
                </a:solidFill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{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B050"/>
                </a:solidFill>
              </a:rPr>
              <a:t>//code to be executed in loop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478187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Definition : </a:t>
            </a:r>
            <a:r>
              <a:rPr lang="en-US" sz="2000" b="0" dirty="0" smtClean="0">
                <a:solidFill>
                  <a:schemeClr val="bg1"/>
                </a:solidFill>
              </a:rPr>
              <a:t>Used for iterating through a block for the specified number of times.</a:t>
            </a:r>
            <a:endParaRPr lang="en-US" sz="2000" b="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4419600"/>
            <a:ext cx="7620000" cy="1823576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70C0"/>
                </a:solidFill>
              </a:rPr>
              <a:t>var</a:t>
            </a:r>
            <a:r>
              <a:rPr lang="en-US" sz="1500" dirty="0" smtClean="0">
                <a:solidFill>
                  <a:srgbClr val="0070C0"/>
                </a:solidFill>
              </a:rPr>
              <a:t> </a:t>
            </a:r>
            <a:r>
              <a:rPr lang="en-US" sz="1500" dirty="0" err="1" smtClean="0">
                <a:solidFill>
                  <a:srgbClr val="0070C0"/>
                </a:solidFill>
              </a:rPr>
              <a:t>i</a:t>
            </a:r>
            <a:r>
              <a:rPr lang="en-US" sz="1500" dirty="0" smtClean="0">
                <a:solidFill>
                  <a:srgbClr val="0070C0"/>
                </a:solidFill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for(</a:t>
            </a:r>
            <a:r>
              <a:rPr lang="en-US" sz="1500" dirty="0" err="1" smtClean="0">
                <a:solidFill>
                  <a:srgbClr val="0070C0"/>
                </a:solidFill>
              </a:rPr>
              <a:t>i</a:t>
            </a:r>
            <a:r>
              <a:rPr lang="en-US" sz="1500" dirty="0" smtClean="0">
                <a:solidFill>
                  <a:srgbClr val="0070C0"/>
                </a:solidFill>
              </a:rPr>
              <a:t>=1;i&lt;=10;initval=initval+1)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{ </a:t>
            </a:r>
          </a:p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500" dirty="0" smtClean="0">
                <a:solidFill>
                  <a:srgbClr val="00B050"/>
                </a:solidFill>
              </a:rPr>
              <a:t>(</a:t>
            </a:r>
            <a:r>
              <a:rPr lang="en-US" sz="1500" dirty="0" err="1" smtClean="0">
                <a:solidFill>
                  <a:srgbClr val="0070C0"/>
                </a:solidFill>
              </a:rPr>
              <a:t>i</a:t>
            </a:r>
            <a:r>
              <a:rPr lang="en-US" sz="1500" dirty="0" smtClean="0">
                <a:solidFill>
                  <a:srgbClr val="00B050"/>
                </a:solidFill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062435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7696200" cy="114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Conditional Statements:  while and do while Loop</a:t>
            </a:r>
            <a:endParaRPr lang="en-US" sz="2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fld id="{50EC62AF-8A58-47DB-8277-FFD1CE2A98DE}" type="slidenum">
              <a:rPr lang="en-US" b="0" smtClean="0"/>
              <a:pPr>
                <a:lnSpc>
                  <a:spcPct val="150000"/>
                </a:lnSpc>
                <a:defRPr/>
              </a:pPr>
              <a:t>115</a:t>
            </a:fld>
            <a:endParaRPr lang="en-US" b="0"/>
          </a:p>
        </p:txBody>
      </p:sp>
      <p:sp>
        <p:nvSpPr>
          <p:cNvPr id="5" name="Rectangle 4"/>
          <p:cNvSpPr/>
          <p:nvPr/>
        </p:nvSpPr>
        <p:spPr>
          <a:xfrm>
            <a:off x="533400" y="5193521"/>
            <a:ext cx="2971800" cy="1131079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do { </a:t>
            </a:r>
          </a:p>
          <a:p>
            <a:pPr>
              <a:lnSpc>
                <a:spcPct val="150000"/>
              </a:lnSpc>
            </a:pPr>
            <a:r>
              <a:rPr lang="en-US" sz="1500" i="1" dirty="0" smtClean="0">
                <a:solidFill>
                  <a:srgbClr val="00B050"/>
                </a:solidFill>
              </a:rPr>
              <a:t>//code to be executed  in loop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 while (</a:t>
            </a:r>
            <a:r>
              <a:rPr lang="en-US" sz="1500" dirty="0" err="1" smtClean="0">
                <a:solidFill>
                  <a:srgbClr val="0070C0"/>
                </a:solidFill>
              </a:rPr>
              <a:t>var</a:t>
            </a:r>
            <a:r>
              <a:rPr lang="en-US" sz="1500" dirty="0" smtClean="0">
                <a:solidFill>
                  <a:srgbClr val="0070C0"/>
                </a:solidFill>
              </a:rPr>
              <a:t>&lt;=</a:t>
            </a:r>
            <a:r>
              <a:rPr lang="en-US" sz="1500" dirty="0" err="1" smtClean="0">
                <a:solidFill>
                  <a:srgbClr val="0070C0"/>
                </a:solidFill>
              </a:rPr>
              <a:t>endvalue</a:t>
            </a:r>
            <a:r>
              <a:rPr lang="en-US" sz="1500" dirty="0" smtClean="0">
                <a:solidFill>
                  <a:srgbClr val="0070C0"/>
                </a:solidFill>
              </a:rPr>
              <a:t>);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68727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 smtClean="0">
                <a:solidFill>
                  <a:schemeClr val="bg1"/>
                </a:solidFill>
              </a:rPr>
              <a:t>While Loop:</a:t>
            </a:r>
            <a:r>
              <a:rPr lang="en-US" sz="1700" b="0" dirty="0" smtClean="0">
                <a:solidFill>
                  <a:schemeClr val="bg1"/>
                </a:solidFill>
              </a:rPr>
              <a:t> The while loop </a:t>
            </a:r>
            <a:r>
              <a:rPr lang="en-US" sz="2000" b="0" dirty="0" smtClean="0">
                <a:solidFill>
                  <a:schemeClr val="bg1"/>
                </a:solidFill>
              </a:rPr>
              <a:t>iterates</a:t>
            </a:r>
            <a:r>
              <a:rPr lang="en-US" sz="1700" b="0" dirty="0" smtClean="0">
                <a:solidFill>
                  <a:schemeClr val="bg1"/>
                </a:solidFill>
              </a:rPr>
              <a:t> through a block of code till a specified condition is true</a:t>
            </a:r>
            <a:r>
              <a:rPr lang="en-US" sz="1700" b="0" dirty="0" smtClean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057400"/>
            <a:ext cx="3048000" cy="1477328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while (</a:t>
            </a:r>
            <a:r>
              <a:rPr lang="en-US" sz="1500" dirty="0" err="1" smtClean="0">
                <a:solidFill>
                  <a:srgbClr val="0070C0"/>
                </a:solidFill>
              </a:rPr>
              <a:t>initval</a:t>
            </a:r>
            <a:r>
              <a:rPr lang="en-US" sz="1500" dirty="0" smtClean="0">
                <a:solidFill>
                  <a:srgbClr val="0070C0"/>
                </a:solidFill>
              </a:rPr>
              <a:t>&lt;=</a:t>
            </a:r>
            <a:r>
              <a:rPr lang="en-US" sz="1500" dirty="0" err="1" smtClean="0">
                <a:solidFill>
                  <a:srgbClr val="0070C0"/>
                </a:solidFill>
              </a:rPr>
              <a:t>endvalue</a:t>
            </a:r>
            <a:r>
              <a:rPr lang="en-US" sz="1500" dirty="0" smtClean="0">
                <a:solidFill>
                  <a:srgbClr val="0070C0"/>
                </a:solidFill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{ </a:t>
            </a:r>
          </a:p>
          <a:p>
            <a:pPr>
              <a:lnSpc>
                <a:spcPct val="150000"/>
              </a:lnSpc>
            </a:pPr>
            <a:r>
              <a:rPr lang="en-US" sz="1500" i="1" dirty="0" smtClean="0">
                <a:solidFill>
                  <a:srgbClr val="00B050"/>
                </a:solidFill>
              </a:rPr>
              <a:t>//code to be executed in loop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" y="3657600"/>
            <a:ext cx="8915400" cy="1420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Do..While  : </a:t>
            </a:r>
            <a:r>
              <a:rPr lang="en-US" sz="2000" b="0" dirty="0" smtClean="0">
                <a:solidFill>
                  <a:schemeClr val="bg1"/>
                </a:solidFill>
              </a:rPr>
              <a:t>The do...while loop is a variant of the while loop. This loop will execute the block of code </a:t>
            </a:r>
            <a:r>
              <a:rPr lang="en-US" sz="2000" i="1" dirty="0" err="1" smtClean="0">
                <a:solidFill>
                  <a:schemeClr val="bg1"/>
                </a:solidFill>
              </a:rPr>
              <a:t>atleast</a:t>
            </a:r>
            <a:r>
              <a:rPr lang="en-US" sz="2000" b="0" dirty="0" smtClean="0">
                <a:solidFill>
                  <a:schemeClr val="bg1"/>
                </a:solidFill>
              </a:rPr>
              <a:t> ONCE, and then it will repeat the loop as long as the specified condition is true.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800" y="1986424"/>
            <a:ext cx="3048000" cy="1823576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70C0"/>
                </a:solidFill>
              </a:rPr>
              <a:t>var</a:t>
            </a:r>
            <a:r>
              <a:rPr lang="en-US" sz="1500" dirty="0" smtClean="0">
                <a:solidFill>
                  <a:srgbClr val="0070C0"/>
                </a:solidFill>
              </a:rPr>
              <a:t> </a:t>
            </a:r>
            <a:r>
              <a:rPr lang="en-US" sz="1500" dirty="0" err="1" smtClean="0">
                <a:solidFill>
                  <a:srgbClr val="0070C0"/>
                </a:solidFill>
              </a:rPr>
              <a:t>i</a:t>
            </a:r>
            <a:r>
              <a:rPr lang="en-US" sz="1500" dirty="0" smtClean="0">
                <a:solidFill>
                  <a:srgbClr val="0070C0"/>
                </a:solidFill>
              </a:rPr>
              <a:t>=1;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while (</a:t>
            </a:r>
            <a:r>
              <a:rPr lang="en-US" sz="1500" dirty="0" err="1" smtClean="0">
                <a:solidFill>
                  <a:srgbClr val="0070C0"/>
                </a:solidFill>
              </a:rPr>
              <a:t>i</a:t>
            </a:r>
            <a:r>
              <a:rPr lang="en-US" sz="1500" dirty="0" smtClean="0">
                <a:solidFill>
                  <a:srgbClr val="0070C0"/>
                </a:solidFill>
              </a:rPr>
              <a:t>&lt;=10) 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{ </a:t>
            </a:r>
          </a:p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500" dirty="0" smtClean="0">
                <a:solidFill>
                  <a:srgbClr val="00B050"/>
                </a:solidFill>
              </a:rPr>
              <a:t>(</a:t>
            </a:r>
            <a:r>
              <a:rPr lang="en-US" sz="1500" dirty="0" err="1" smtClean="0">
                <a:solidFill>
                  <a:srgbClr val="0070C0"/>
                </a:solidFill>
              </a:rPr>
              <a:t>i</a:t>
            </a:r>
            <a:r>
              <a:rPr lang="en-US" sz="1500" dirty="0" smtClean="0">
                <a:solidFill>
                  <a:srgbClr val="00B050"/>
                </a:solidFill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5800" y="4800600"/>
            <a:ext cx="2971800" cy="1477328"/>
          </a:xfrm>
          <a:prstGeom prst="rect">
            <a:avLst/>
          </a:prstGeom>
          <a:solidFill>
            <a:srgbClr val="FFCCCC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70C0"/>
                </a:solidFill>
              </a:rPr>
              <a:t>var</a:t>
            </a:r>
            <a:r>
              <a:rPr lang="en-US" sz="1500" dirty="0" smtClean="0">
                <a:solidFill>
                  <a:srgbClr val="0070C0"/>
                </a:solidFill>
              </a:rPr>
              <a:t> </a:t>
            </a:r>
            <a:r>
              <a:rPr lang="en-US" sz="1500" dirty="0" err="1" smtClean="0">
                <a:solidFill>
                  <a:srgbClr val="0070C0"/>
                </a:solidFill>
              </a:rPr>
              <a:t>i</a:t>
            </a:r>
            <a:r>
              <a:rPr lang="en-US" sz="1500" dirty="0" smtClean="0">
                <a:solidFill>
                  <a:srgbClr val="0070C0"/>
                </a:solidFill>
              </a:rPr>
              <a:t>=1;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do { </a:t>
            </a:r>
          </a:p>
          <a:p>
            <a:pPr>
              <a:lnSpc>
                <a:spcPct val="150000"/>
              </a:lnSpc>
            </a:pPr>
            <a:r>
              <a:rPr lang="en-US" sz="1500" dirty="0" err="1" smtClean="0">
                <a:solidFill>
                  <a:srgbClr val="00B050"/>
                </a:solidFill>
              </a:rPr>
              <a:t>document.write</a:t>
            </a:r>
            <a:r>
              <a:rPr lang="en-US" sz="1500" dirty="0" smtClean="0">
                <a:solidFill>
                  <a:srgbClr val="00B050"/>
                </a:solidFill>
              </a:rPr>
              <a:t>(</a:t>
            </a:r>
            <a:r>
              <a:rPr lang="en-US" sz="1500" dirty="0" err="1" smtClean="0">
                <a:solidFill>
                  <a:srgbClr val="0070C0"/>
                </a:solidFill>
              </a:rPr>
              <a:t>i</a:t>
            </a:r>
            <a:r>
              <a:rPr lang="en-US" sz="1500" dirty="0" smtClean="0">
                <a:solidFill>
                  <a:srgbClr val="00B050"/>
                </a:solidFill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en-US" sz="1500" dirty="0" smtClean="0">
                <a:solidFill>
                  <a:srgbClr val="0070C0"/>
                </a:solidFill>
              </a:rPr>
              <a:t>} while (</a:t>
            </a:r>
            <a:r>
              <a:rPr lang="en-US" sz="1500" dirty="0" err="1" smtClean="0">
                <a:solidFill>
                  <a:srgbClr val="0070C0"/>
                </a:solidFill>
              </a:rPr>
              <a:t>i</a:t>
            </a:r>
            <a:r>
              <a:rPr lang="en-US" sz="1500" dirty="0" smtClean="0">
                <a:solidFill>
                  <a:srgbClr val="0070C0"/>
                </a:solidFill>
              </a:rPr>
              <a:t>&lt;=10);</a:t>
            </a:r>
          </a:p>
        </p:txBody>
      </p:sp>
    </p:spTree>
    <p:extLst>
      <p:ext uri="{BB962C8B-B14F-4D97-AF65-F5344CB8AC3E}">
        <p14:creationId xmlns:p14="http://schemas.microsoft.com/office/powerpoint/2010/main" val="240964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0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Expressions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457200"/>
            <a:ext cx="9144000" cy="6498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b="0" dirty="0" smtClean="0">
                <a:solidFill>
                  <a:schemeClr val="bg1"/>
                </a:solidFill>
              </a:rPr>
              <a:t>JavaScript </a:t>
            </a:r>
            <a:r>
              <a:rPr lang="en-US" sz="2000" i="1" dirty="0" smtClean="0">
                <a:solidFill>
                  <a:schemeClr val="bg1"/>
                </a:solidFill>
              </a:rPr>
              <a:t>expressions</a:t>
            </a:r>
            <a:r>
              <a:rPr lang="en-US" sz="2000" b="0" dirty="0" smtClean="0">
                <a:solidFill>
                  <a:schemeClr val="bg1"/>
                </a:solidFill>
              </a:rPr>
              <a:t> are similar to expressions in any other programming language.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2000" dirty="0" smtClean="0">
                <a:solidFill>
                  <a:schemeClr val="bg1"/>
                </a:solidFill>
              </a:rPr>
              <a:t>Three types of expressions: </a:t>
            </a:r>
          </a:p>
          <a:p>
            <a:pPr marL="847725" indent="-56356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Arithmetic</a:t>
            </a:r>
            <a:r>
              <a:rPr lang="en-US" sz="2000" b="0" dirty="0" smtClean="0">
                <a:solidFill>
                  <a:schemeClr val="bg1"/>
                </a:solidFill>
              </a:rPr>
              <a:t>: evaluates to a number. </a:t>
            </a:r>
            <a:r>
              <a:rPr lang="en-US" sz="2000" i="1" dirty="0" smtClean="0">
                <a:solidFill>
                  <a:schemeClr val="bg1"/>
                </a:solidFill>
              </a:rPr>
              <a:t>Example : </a:t>
            </a:r>
            <a:r>
              <a:rPr lang="en-US" sz="2000" b="0" dirty="0" smtClean="0">
                <a:solidFill>
                  <a:schemeClr val="bg1"/>
                </a:solidFill>
              </a:rPr>
              <a:t> </a:t>
            </a:r>
            <a:r>
              <a:rPr lang="en-US" sz="2000" b="0" dirty="0" err="1" smtClean="0">
                <a:solidFill>
                  <a:schemeClr val="bg1"/>
                </a:solidFill>
              </a:rPr>
              <a:t>var</a:t>
            </a:r>
            <a:r>
              <a:rPr lang="en-US" sz="2000" b="0" dirty="0" smtClean="0">
                <a:solidFill>
                  <a:schemeClr val="bg1"/>
                </a:solidFill>
              </a:rPr>
              <a:t> sum = a + b;</a:t>
            </a:r>
            <a:endParaRPr lang="en-US" sz="2000" i="1" dirty="0" smtClean="0">
              <a:solidFill>
                <a:schemeClr val="bg1"/>
              </a:solidFill>
            </a:endParaRPr>
          </a:p>
          <a:p>
            <a:pPr marL="847725" indent="-56356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String: </a:t>
            </a:r>
            <a:r>
              <a:rPr lang="en-US" sz="2000" b="0" dirty="0" smtClean="0">
                <a:solidFill>
                  <a:schemeClr val="bg1"/>
                </a:solidFill>
              </a:rPr>
              <a:t>evaluates to a character string. </a:t>
            </a:r>
            <a:r>
              <a:rPr lang="en-US" sz="2000" i="1" dirty="0" smtClean="0">
                <a:solidFill>
                  <a:schemeClr val="bg1"/>
                </a:solidFill>
              </a:rPr>
              <a:t>Example :</a:t>
            </a:r>
            <a:r>
              <a:rPr lang="en-US" sz="2000" b="0" dirty="0" smtClean="0">
                <a:solidFill>
                  <a:schemeClr val="bg1"/>
                </a:solidFill>
              </a:rPr>
              <a:t> </a:t>
            </a:r>
            <a:r>
              <a:rPr lang="en-US" sz="2000" b="0" dirty="0" err="1" smtClean="0">
                <a:solidFill>
                  <a:schemeClr val="bg1"/>
                </a:solidFill>
              </a:rPr>
              <a:t>var</a:t>
            </a:r>
            <a:r>
              <a:rPr lang="en-US" sz="2000" b="0" dirty="0" smtClean="0">
                <a:solidFill>
                  <a:schemeClr val="bg1"/>
                </a:solidFill>
              </a:rPr>
              <a:t> name ="Fred“;</a:t>
            </a:r>
          </a:p>
          <a:p>
            <a:pPr marL="847725" indent="-56356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Logical: </a:t>
            </a:r>
            <a:r>
              <a:rPr lang="en-US" sz="2000" b="0" dirty="0" smtClean="0">
                <a:solidFill>
                  <a:schemeClr val="bg1"/>
                </a:solidFill>
              </a:rPr>
              <a:t>evaluates to true or false. </a:t>
            </a:r>
            <a:r>
              <a:rPr lang="en-US" sz="2000" i="1" dirty="0" smtClean="0">
                <a:solidFill>
                  <a:schemeClr val="bg1"/>
                </a:solidFill>
              </a:rPr>
              <a:t>Example :  </a:t>
            </a:r>
            <a:r>
              <a:rPr lang="en-US" sz="2000" b="0" dirty="0" err="1" smtClean="0">
                <a:solidFill>
                  <a:schemeClr val="bg1"/>
                </a:solidFill>
              </a:rPr>
              <a:t>var</a:t>
            </a:r>
            <a:r>
              <a:rPr lang="en-US" sz="2000" b="0" dirty="0" smtClean="0">
                <a:solidFill>
                  <a:schemeClr val="bg1"/>
                </a:solidFill>
              </a:rPr>
              <a:t> flag = </a:t>
            </a:r>
            <a:r>
              <a:rPr lang="en-US" sz="2000" b="0" i="1" dirty="0" smtClean="0">
                <a:solidFill>
                  <a:schemeClr val="bg1"/>
                </a:solidFill>
              </a:rPr>
              <a:t>a&gt;b;</a:t>
            </a:r>
            <a:endParaRPr lang="en-US" sz="2000" b="0" dirty="0" smtClean="0">
              <a:solidFill>
                <a:schemeClr val="bg1"/>
              </a:solidFill>
            </a:endParaRPr>
          </a:p>
          <a:p>
            <a:pPr marL="847725" indent="-563563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</a:rPr>
              <a:t>Conditional Expression: </a:t>
            </a:r>
            <a:r>
              <a:rPr lang="en-US" sz="2000" b="0" dirty="0" smtClean="0">
                <a:solidFill>
                  <a:schemeClr val="bg1"/>
                </a:solidFill>
              </a:rPr>
              <a:t>A conditional expression can have one of the two values based on a condition. </a:t>
            </a:r>
          </a:p>
          <a:p>
            <a:pPr marL="914400">
              <a:lnSpc>
                <a:spcPct val="150000"/>
              </a:lnSpc>
              <a:spcBef>
                <a:spcPts val="0"/>
              </a:spcBef>
            </a:pPr>
            <a:r>
              <a:rPr lang="en-US" sz="2000" dirty="0" smtClean="0">
                <a:solidFill>
                  <a:schemeClr val="bg1"/>
                </a:solidFill>
              </a:rPr>
              <a:t>Syntax: </a:t>
            </a:r>
            <a:r>
              <a:rPr lang="en-US" sz="2000" b="0" dirty="0" smtClean="0">
                <a:solidFill>
                  <a:schemeClr val="bg1"/>
                </a:solidFill>
              </a:rPr>
              <a:t> </a:t>
            </a:r>
            <a:r>
              <a:rPr lang="en-US" sz="2000" b="0" dirty="0" err="1" smtClean="0">
                <a:solidFill>
                  <a:schemeClr val="bg1"/>
                </a:solidFill>
              </a:rPr>
              <a:t>var</a:t>
            </a:r>
            <a:r>
              <a:rPr lang="en-US" sz="2000" b="0" dirty="0" smtClean="0">
                <a:solidFill>
                  <a:schemeClr val="bg1"/>
                </a:solidFill>
              </a:rPr>
              <a:t> value=(condition) ? val1 : val2 </a:t>
            </a:r>
          </a:p>
          <a:p>
            <a:pPr marL="803275">
              <a:lnSpc>
                <a:spcPct val="150000"/>
              </a:lnSpc>
              <a:spcBef>
                <a:spcPts val="0"/>
              </a:spcBef>
            </a:pPr>
            <a:r>
              <a:rPr lang="en-US" sz="2000" b="0" dirty="0" smtClean="0">
                <a:solidFill>
                  <a:schemeClr val="bg1"/>
                </a:solidFill>
              </a:rPr>
              <a:t> If condition is true, the expression has the value of val1, Otherwise it has the value of val2.</a:t>
            </a:r>
          </a:p>
          <a:p>
            <a:pPr marL="914400">
              <a:lnSpc>
                <a:spcPct val="150000"/>
              </a:lnSpc>
              <a:spcBef>
                <a:spcPts val="0"/>
              </a:spcBef>
            </a:pPr>
            <a:r>
              <a:rPr lang="en-US" sz="2000" dirty="0" smtClean="0">
                <a:solidFill>
                  <a:schemeClr val="bg1"/>
                </a:solidFill>
              </a:rPr>
              <a:t>Example: </a:t>
            </a:r>
            <a:r>
              <a:rPr lang="en-US" sz="2000" b="0" dirty="0" smtClean="0">
                <a:solidFill>
                  <a:schemeClr val="bg1"/>
                </a:solidFill>
              </a:rPr>
              <a:t>status = (age &gt;= 18) ? "adult" : "minor”  </a:t>
            </a:r>
          </a:p>
          <a:p>
            <a:pPr marL="914400">
              <a:lnSpc>
                <a:spcPct val="150000"/>
              </a:lnSpc>
              <a:spcBef>
                <a:spcPts val="0"/>
              </a:spcBef>
            </a:pPr>
            <a:r>
              <a:rPr lang="en-US" sz="2000" b="0" dirty="0" smtClean="0">
                <a:solidFill>
                  <a:schemeClr val="bg1"/>
                </a:solidFill>
              </a:rPr>
              <a:t>Assigns the value "adult" to the variable status if age is eighteen or greater. Otherwise, it assigns the value "minor" to status.</a:t>
            </a:r>
            <a:endParaRPr lang="en-US" sz="20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49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400" y="1676400"/>
            <a:ext cx="8991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dirty="0" smtClean="0">
                <a:solidFill>
                  <a:schemeClr val="bg1"/>
                </a:solidFill>
              </a:rPr>
              <a:t>JavaScript </a:t>
            </a:r>
            <a:r>
              <a:rPr lang="en-US" sz="2000" i="1" dirty="0" smtClean="0">
                <a:solidFill>
                  <a:schemeClr val="bg1"/>
                </a:solidFill>
              </a:rPr>
              <a:t>operators</a:t>
            </a:r>
            <a:r>
              <a:rPr lang="en-US" sz="2000" b="0" dirty="0" smtClean="0">
                <a:solidFill>
                  <a:schemeClr val="bg1"/>
                </a:solidFill>
              </a:rPr>
              <a:t> are similar to the operators in any other programming language.</a:t>
            </a:r>
          </a:p>
          <a:p>
            <a:pPr>
              <a:lnSpc>
                <a:spcPct val="150000"/>
              </a:lnSpc>
            </a:pPr>
            <a:r>
              <a:rPr lang="en-US" sz="2000" b="0" dirty="0" smtClean="0">
                <a:solidFill>
                  <a:schemeClr val="bg1"/>
                </a:solidFill>
              </a:rPr>
              <a:t>JavaScript supports the following types of operators</a:t>
            </a:r>
          </a:p>
          <a:p>
            <a:pPr>
              <a:lnSpc>
                <a:spcPct val="150000"/>
              </a:lnSpc>
            </a:pPr>
            <a:endParaRPr lang="en-US" sz="2000" b="0" dirty="0" smtClean="0">
              <a:solidFill>
                <a:schemeClr val="bg1"/>
              </a:solidFill>
            </a:endParaRPr>
          </a:p>
          <a:p>
            <a:pPr marL="627063" indent="-280988">
              <a:lnSpc>
                <a:spcPct val="150000"/>
              </a:lnSpc>
              <a:buFont typeface="+mj-lt"/>
              <a:buAutoNum type="arabicPeriod"/>
            </a:pPr>
            <a:r>
              <a:rPr lang="en-US" sz="2000" b="0" dirty="0" smtClean="0">
                <a:solidFill>
                  <a:schemeClr val="bg1"/>
                </a:solidFill>
              </a:rPr>
              <a:t>Arithmetic – </a:t>
            </a:r>
            <a:r>
              <a:rPr lang="en-US" sz="2000" i="1" dirty="0" smtClean="0">
                <a:solidFill>
                  <a:schemeClr val="bg1"/>
                </a:solidFill>
              </a:rPr>
              <a:t>Example: </a:t>
            </a:r>
            <a:r>
              <a:rPr lang="en-US" sz="2000" b="0" dirty="0" smtClean="0">
                <a:solidFill>
                  <a:schemeClr val="bg1"/>
                </a:solidFill>
              </a:rPr>
              <a:t>+, *</a:t>
            </a:r>
            <a:endParaRPr lang="en-US" sz="2000" i="1" dirty="0" smtClean="0">
              <a:solidFill>
                <a:schemeClr val="bg1"/>
              </a:solidFill>
            </a:endParaRPr>
          </a:p>
          <a:p>
            <a:pPr marL="627063" indent="-280988">
              <a:lnSpc>
                <a:spcPct val="150000"/>
              </a:lnSpc>
              <a:buFont typeface="+mj-lt"/>
              <a:buAutoNum type="arabicPeriod"/>
            </a:pPr>
            <a:r>
              <a:rPr lang="en-US" sz="2000" b="0" dirty="0" smtClean="0">
                <a:solidFill>
                  <a:schemeClr val="bg1"/>
                </a:solidFill>
              </a:rPr>
              <a:t>Bitwise – </a:t>
            </a:r>
            <a:r>
              <a:rPr lang="en-US" sz="2000" i="1" dirty="0" smtClean="0">
                <a:solidFill>
                  <a:schemeClr val="bg1"/>
                </a:solidFill>
              </a:rPr>
              <a:t>Example: </a:t>
            </a:r>
            <a:r>
              <a:rPr lang="en-US" sz="2000" b="0" dirty="0" smtClean="0">
                <a:solidFill>
                  <a:schemeClr val="bg1"/>
                </a:solidFill>
              </a:rPr>
              <a:t>^, &amp;</a:t>
            </a:r>
            <a:endParaRPr lang="en-US" sz="2000" i="1" dirty="0" smtClean="0">
              <a:solidFill>
                <a:schemeClr val="bg1"/>
              </a:solidFill>
            </a:endParaRPr>
          </a:p>
          <a:p>
            <a:pPr marL="627063" indent="-280988">
              <a:lnSpc>
                <a:spcPct val="150000"/>
              </a:lnSpc>
              <a:buFont typeface="+mj-lt"/>
              <a:buAutoNum type="arabicPeriod"/>
            </a:pPr>
            <a:r>
              <a:rPr lang="en-US" sz="2000" b="0" dirty="0" smtClean="0">
                <a:solidFill>
                  <a:schemeClr val="bg1"/>
                </a:solidFill>
              </a:rPr>
              <a:t>Comparison – </a:t>
            </a:r>
            <a:r>
              <a:rPr lang="en-US" sz="2000" i="1" dirty="0" smtClean="0">
                <a:solidFill>
                  <a:schemeClr val="bg1"/>
                </a:solidFill>
              </a:rPr>
              <a:t>Example: </a:t>
            </a:r>
            <a:r>
              <a:rPr lang="en-US" sz="2000" b="0" dirty="0" smtClean="0">
                <a:solidFill>
                  <a:schemeClr val="bg1"/>
                </a:solidFill>
              </a:rPr>
              <a:t>&gt;, &lt; and !=</a:t>
            </a:r>
            <a:endParaRPr lang="en-US" sz="2000" i="1" dirty="0" smtClean="0">
              <a:solidFill>
                <a:schemeClr val="bg1"/>
              </a:solidFill>
            </a:endParaRPr>
          </a:p>
          <a:p>
            <a:pPr marL="627063" indent="-280988">
              <a:lnSpc>
                <a:spcPct val="150000"/>
              </a:lnSpc>
              <a:buFont typeface="+mj-lt"/>
              <a:buAutoNum type="arabicPeriod"/>
            </a:pPr>
            <a:r>
              <a:rPr lang="en-US" sz="2000" b="0" dirty="0" smtClean="0">
                <a:solidFill>
                  <a:schemeClr val="bg1"/>
                </a:solidFill>
              </a:rPr>
              <a:t>Assignment - </a:t>
            </a:r>
            <a:r>
              <a:rPr lang="en-US" sz="2000" i="1" dirty="0" smtClean="0">
                <a:solidFill>
                  <a:schemeClr val="bg1"/>
                </a:solidFill>
              </a:rPr>
              <a:t>Example:  </a:t>
            </a:r>
            <a:r>
              <a:rPr lang="en-US" sz="2000" b="0" dirty="0" smtClean="0">
                <a:solidFill>
                  <a:schemeClr val="bg1"/>
                </a:solidFill>
              </a:rPr>
              <a:t>=</a:t>
            </a:r>
          </a:p>
          <a:p>
            <a:pPr marL="627063" indent="-280988">
              <a:lnSpc>
                <a:spcPct val="150000"/>
              </a:lnSpc>
              <a:buFont typeface="+mj-lt"/>
              <a:buAutoNum type="arabicPeriod"/>
            </a:pPr>
            <a:r>
              <a:rPr lang="en-US" sz="2000" b="0" dirty="0" smtClean="0">
                <a:solidFill>
                  <a:schemeClr val="bg1"/>
                </a:solidFill>
              </a:rPr>
              <a:t>Logical - </a:t>
            </a:r>
            <a:r>
              <a:rPr lang="en-US" sz="2000" i="1" dirty="0" smtClean="0">
                <a:solidFill>
                  <a:schemeClr val="bg1"/>
                </a:solidFill>
              </a:rPr>
              <a:t>Example:  </a:t>
            </a:r>
            <a:r>
              <a:rPr lang="en-US" sz="2000" b="0" dirty="0" smtClean="0">
                <a:solidFill>
                  <a:schemeClr val="bg1"/>
                </a:solidFill>
              </a:rPr>
              <a:t>&amp;&amp;, ||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646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Pop up windows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118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118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6200" y="1066800"/>
            <a:ext cx="87630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dirty="0" smtClean="0">
                <a:solidFill>
                  <a:schemeClr val="bg1"/>
                </a:solidFill>
              </a:rPr>
              <a:t>Pop ups are small windows used for either getting user input (or) displaying alert messages. There are three types of popup  boxes</a:t>
            </a:r>
          </a:p>
          <a:p>
            <a:pPr marL="284163" indent="-234950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1</a:t>
            </a:r>
            <a:r>
              <a:rPr lang="en-US" sz="2000" b="0" dirty="0" smtClean="0">
                <a:solidFill>
                  <a:schemeClr val="bg1"/>
                </a:solidFill>
              </a:rPr>
              <a:t>. </a:t>
            </a:r>
            <a:r>
              <a:rPr lang="en-US" sz="2000" dirty="0" smtClean="0">
                <a:solidFill>
                  <a:schemeClr val="bg1"/>
                </a:solidFill>
              </a:rPr>
              <a:t>Alert Box</a:t>
            </a:r>
          </a:p>
          <a:p>
            <a:pPr>
              <a:lnSpc>
                <a:spcPct val="150000"/>
              </a:lnSpc>
            </a:pPr>
            <a:r>
              <a:rPr lang="en-US" sz="2000" b="0" dirty="0" smtClean="0">
                <a:solidFill>
                  <a:schemeClr val="bg1"/>
                </a:solidFill>
              </a:rPr>
              <a:t>Generally, the alert() method is used to warn the user on something.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Example of usage:</a:t>
            </a:r>
          </a:p>
          <a:p>
            <a:pPr marL="457200" indent="-2206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Displayed when incorrect information input in a form.</a:t>
            </a:r>
          </a:p>
          <a:p>
            <a:pPr marL="457200" indent="-2206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An invalid result from a calculation. </a:t>
            </a:r>
          </a:p>
          <a:p>
            <a:pPr marL="457200" indent="-2206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A warning that a service is not available on a given date. </a:t>
            </a:r>
          </a:p>
          <a:p>
            <a:pPr marL="284163" indent="-234950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Syntax:</a:t>
            </a:r>
          </a:p>
          <a:p>
            <a:pPr marL="630238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alert(“Hello ! I am an alert box!”)</a:t>
            </a:r>
          </a:p>
          <a:p>
            <a:pPr marL="284163" indent="-234950">
              <a:lnSpc>
                <a:spcPct val="150000"/>
              </a:lnSpc>
            </a:pPr>
            <a:r>
              <a:rPr lang="en-US" sz="2000" b="0" dirty="0" smtClean="0">
                <a:solidFill>
                  <a:schemeClr val="bg1"/>
                </a:solidFill>
              </a:rPr>
              <a:t>When an alert box pops up, the user will have to click "OK" to proceed.</a:t>
            </a:r>
            <a:endParaRPr lang="en-US" sz="2000" b="0" dirty="0">
              <a:solidFill>
                <a:schemeClr val="bg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3200400"/>
            <a:ext cx="2538413" cy="1092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4470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Pop Up Window – Confirm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119</a:t>
            </a:fld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119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819400" y="1522201"/>
            <a:ext cx="2819400" cy="17137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63500" y="3272643"/>
            <a:ext cx="9144000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038" indent="-173038">
              <a:spcBef>
                <a:spcPts val="1200"/>
              </a:spcBef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When a confirm box pops up, the user will have to click either "</a:t>
            </a:r>
            <a:r>
              <a:rPr lang="en-US" sz="2000" i="1" dirty="0" smtClean="0">
                <a:solidFill>
                  <a:schemeClr val="bg1"/>
                </a:solidFill>
              </a:rPr>
              <a:t>OK</a:t>
            </a:r>
            <a:r>
              <a:rPr lang="en-US" sz="2000" b="0" dirty="0" smtClean="0">
                <a:solidFill>
                  <a:schemeClr val="bg1"/>
                </a:solidFill>
              </a:rPr>
              <a:t>" or "</a:t>
            </a:r>
            <a:r>
              <a:rPr lang="en-US" sz="2000" i="1" dirty="0" smtClean="0">
                <a:solidFill>
                  <a:schemeClr val="bg1"/>
                </a:solidFill>
              </a:rPr>
              <a:t>Cancel</a:t>
            </a:r>
            <a:r>
              <a:rPr lang="en-US" sz="2000" b="0" dirty="0" smtClean="0">
                <a:solidFill>
                  <a:schemeClr val="bg1"/>
                </a:solidFill>
              </a:rPr>
              <a:t>" to proceed. </a:t>
            </a:r>
          </a:p>
          <a:p>
            <a:pPr marL="173038" indent="-173038"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If the user clicks "</a:t>
            </a:r>
            <a:r>
              <a:rPr lang="en-US" sz="2000" i="1" dirty="0" smtClean="0">
                <a:solidFill>
                  <a:schemeClr val="bg1"/>
                </a:solidFill>
              </a:rPr>
              <a:t>OK</a:t>
            </a:r>
            <a:r>
              <a:rPr lang="en-US" sz="2000" b="0" dirty="0" smtClean="0">
                <a:solidFill>
                  <a:schemeClr val="bg1"/>
                </a:solidFill>
              </a:rPr>
              <a:t>", the box returns true. If the user clicks "</a:t>
            </a:r>
            <a:r>
              <a:rPr lang="en-US" sz="2000" i="1" dirty="0" smtClean="0">
                <a:solidFill>
                  <a:schemeClr val="bg1"/>
                </a:solidFill>
              </a:rPr>
              <a:t>Cancel</a:t>
            </a:r>
            <a:r>
              <a:rPr lang="en-US" sz="2000" b="0" dirty="0" smtClean="0">
                <a:solidFill>
                  <a:schemeClr val="bg1"/>
                </a:solidFill>
              </a:rPr>
              <a:t>", the box returns false.</a:t>
            </a:r>
          </a:p>
          <a:p>
            <a:pPr marL="173038" indent="-173038">
              <a:spcBef>
                <a:spcPts val="600"/>
              </a:spcBef>
            </a:pPr>
            <a:r>
              <a:rPr lang="en-US" sz="2000" dirty="0" smtClean="0">
                <a:solidFill>
                  <a:schemeClr val="bg1"/>
                </a:solidFill>
              </a:rPr>
              <a:t>Syntax:</a:t>
            </a:r>
          </a:p>
          <a:p>
            <a:pPr marL="284163" indent="-234950">
              <a:lnSpc>
                <a:spcPct val="150000"/>
              </a:lnSpc>
            </a:pPr>
            <a:r>
              <a:rPr lang="en-US" sz="2000" dirty="0" smtClean="0">
                <a:solidFill>
                  <a:srgbClr val="7030A0"/>
                </a:solidFill>
              </a:rPr>
              <a:t>      </a:t>
            </a:r>
            <a:r>
              <a:rPr lang="en-US" sz="20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value=confirm(“Confirm Text ?”) </a:t>
            </a:r>
          </a:p>
          <a:p>
            <a:pPr marL="284163" indent="-234950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Example:</a:t>
            </a:r>
          </a:p>
          <a:p>
            <a:pPr marL="284163" indent="-234950">
              <a:lnSpc>
                <a:spcPct val="150000"/>
              </a:lnSpc>
            </a:pPr>
            <a:r>
              <a:rPr lang="en-US" sz="2000" dirty="0" smtClean="0"/>
              <a:t>     </a:t>
            </a:r>
            <a:r>
              <a:rPr lang="en-US" sz="2000" dirty="0" err="1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 value=confirm(“Do you wish to continue ?”) </a:t>
            </a:r>
          </a:p>
          <a:p>
            <a:pPr marL="284163" indent="-234950">
              <a:lnSpc>
                <a:spcPct val="150000"/>
              </a:lnSpc>
            </a:pPr>
            <a:r>
              <a:rPr lang="en-US" sz="2000" dirty="0" smtClean="0"/>
              <a:t>  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713" y="937520"/>
            <a:ext cx="8534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038" indent="-173038"/>
            <a:r>
              <a:rPr lang="en-US" sz="2000" b="0" dirty="0" smtClean="0">
                <a:solidFill>
                  <a:schemeClr val="bg1"/>
                </a:solidFill>
              </a:rPr>
              <a:t>A </a:t>
            </a:r>
            <a:r>
              <a:rPr lang="en-US" sz="2000" i="1" dirty="0" smtClean="0">
                <a:solidFill>
                  <a:schemeClr val="bg1"/>
                </a:solidFill>
              </a:rPr>
              <a:t>confirm box</a:t>
            </a:r>
            <a:r>
              <a:rPr lang="en-US" sz="2000" b="0" dirty="0" smtClean="0">
                <a:solidFill>
                  <a:schemeClr val="bg1"/>
                </a:solidFill>
              </a:rPr>
              <a:t> is often used if you want the user to verify or accept something.</a:t>
            </a:r>
          </a:p>
        </p:txBody>
      </p:sp>
    </p:spTree>
    <p:extLst>
      <p:ext uri="{BB962C8B-B14F-4D97-AF65-F5344CB8AC3E}">
        <p14:creationId xmlns:p14="http://schemas.microsoft.com/office/powerpoint/2010/main" val="410658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Pop Up Window- Prompt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647113" y="6456363"/>
            <a:ext cx="444500" cy="3206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0EC62AF-8A58-47DB-8277-FFD1CE2A98DE}" type="slidenum">
              <a:rPr lang="en-US" smtClean="0"/>
              <a:pPr>
                <a:defRPr/>
              </a:pPr>
              <a:t>120</a:t>
            </a:fld>
            <a:endParaRPr lang="en-US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70022" y="1085091"/>
            <a:ext cx="46482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27000" y="2590800"/>
            <a:ext cx="9372600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038" indent="-1730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When a prompt box pops up, the user will have to click either "</a:t>
            </a:r>
            <a:r>
              <a:rPr lang="en-US" sz="2000" dirty="0" smtClean="0">
                <a:solidFill>
                  <a:schemeClr val="bg1"/>
                </a:solidFill>
              </a:rPr>
              <a:t>OK</a:t>
            </a:r>
            <a:r>
              <a:rPr lang="en-US" sz="2000" b="0" dirty="0" smtClean="0">
                <a:solidFill>
                  <a:schemeClr val="bg1"/>
                </a:solidFill>
              </a:rPr>
              <a:t>" or "</a:t>
            </a:r>
            <a:r>
              <a:rPr lang="en-US" sz="2000" dirty="0" smtClean="0">
                <a:solidFill>
                  <a:schemeClr val="bg1"/>
                </a:solidFill>
              </a:rPr>
              <a:t>Cancel</a:t>
            </a:r>
            <a:r>
              <a:rPr lang="en-US" sz="2000" b="0" dirty="0" smtClean="0">
                <a:solidFill>
                  <a:schemeClr val="bg1"/>
                </a:solidFill>
              </a:rPr>
              <a:t>" to proceed after entering an input value. </a:t>
            </a:r>
          </a:p>
          <a:p>
            <a:pPr marL="173038" indent="-173038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000" b="0" dirty="0" smtClean="0">
                <a:solidFill>
                  <a:schemeClr val="bg1"/>
                </a:solidFill>
              </a:rPr>
              <a:t>If the user clicks "</a:t>
            </a:r>
            <a:r>
              <a:rPr lang="en-US" sz="2000" dirty="0" smtClean="0">
                <a:solidFill>
                  <a:schemeClr val="bg1"/>
                </a:solidFill>
              </a:rPr>
              <a:t>OK</a:t>
            </a:r>
            <a:r>
              <a:rPr lang="en-US" sz="2000" b="0" dirty="0" smtClean="0">
                <a:solidFill>
                  <a:schemeClr val="bg1"/>
                </a:solidFill>
              </a:rPr>
              <a:t>" the box returns the input value. If the user clicks "</a:t>
            </a:r>
            <a:r>
              <a:rPr lang="en-US" sz="2000" dirty="0" smtClean="0">
                <a:solidFill>
                  <a:schemeClr val="bg1"/>
                </a:solidFill>
              </a:rPr>
              <a:t>Cancel</a:t>
            </a:r>
            <a:r>
              <a:rPr lang="en-US" sz="2000" b="0" dirty="0" smtClean="0">
                <a:solidFill>
                  <a:schemeClr val="bg1"/>
                </a:solidFill>
              </a:rPr>
              <a:t>" the box returns null.</a:t>
            </a:r>
            <a:endParaRPr lang="en-US" sz="2000" dirty="0" smtClean="0">
              <a:solidFill>
                <a:schemeClr val="bg1"/>
              </a:solidFill>
            </a:endParaRPr>
          </a:p>
          <a:p>
            <a:pPr marL="284163" indent="-234950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Syntax:</a:t>
            </a:r>
          </a:p>
          <a:p>
            <a:pPr marL="284163" indent="-234950">
              <a:lnSpc>
                <a:spcPct val="150000"/>
              </a:lnSpc>
            </a:pPr>
            <a:r>
              <a:rPr lang="en-US" sz="2000" dirty="0" err="1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 variable= prompt(“Prompt Text", “Default Value") ;</a:t>
            </a:r>
          </a:p>
          <a:p>
            <a:pPr marL="284163" indent="-234950">
              <a:lnSpc>
                <a:spcPct val="150000"/>
              </a:lnSpc>
            </a:pPr>
            <a:r>
              <a:rPr lang="en-US" sz="2000" dirty="0" smtClean="0">
                <a:solidFill>
                  <a:schemeClr val="bg1"/>
                </a:solidFill>
              </a:rPr>
              <a:t>Example:</a:t>
            </a:r>
          </a:p>
          <a:p>
            <a:pPr marL="284163" indent="-234950">
              <a:lnSpc>
                <a:spcPct val="150000"/>
              </a:lnSpc>
            </a:pPr>
            <a:r>
              <a:rPr lang="en-US" sz="20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2000" dirty="0" err="1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var</a:t>
            </a:r>
            <a:r>
              <a:rPr lang="en-US" sz="2000" dirty="0" smtClean="0">
                <a:solidFill>
                  <a:schemeClr val="accent6">
                    <a:lumMod val="40000"/>
                    <a:lumOff val="60000"/>
                  </a:schemeClr>
                </a:solidFill>
              </a:rPr>
              <a:t> name=prompt("Please Enter your name", "Enter Your Name Here") ;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422" y="922176"/>
            <a:ext cx="4038600" cy="1420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3038" indent="-173038">
              <a:lnSpc>
                <a:spcPct val="150000"/>
              </a:lnSpc>
            </a:pPr>
            <a:r>
              <a:rPr lang="en-US" sz="2000" b="0" dirty="0" smtClean="0">
                <a:solidFill>
                  <a:schemeClr val="bg1"/>
                </a:solidFill>
              </a:rPr>
              <a:t>A </a:t>
            </a:r>
            <a:r>
              <a:rPr lang="en-US" sz="2000" i="1" dirty="0" smtClean="0">
                <a:solidFill>
                  <a:schemeClr val="bg1"/>
                </a:solidFill>
              </a:rPr>
              <a:t>prompt box </a:t>
            </a:r>
            <a:r>
              <a:rPr lang="en-US" sz="2000" b="0" dirty="0" smtClean="0">
                <a:solidFill>
                  <a:schemeClr val="bg1"/>
                </a:solidFill>
              </a:rPr>
              <a:t>is often used if you want the user to input a value before entering a page.</a:t>
            </a:r>
          </a:p>
        </p:txBody>
      </p:sp>
    </p:spTree>
    <p:extLst>
      <p:ext uri="{BB962C8B-B14F-4D97-AF65-F5344CB8AC3E}">
        <p14:creationId xmlns:p14="http://schemas.microsoft.com/office/powerpoint/2010/main" val="402917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form object to submit the form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https://www.w3schools.com/jsref/dom_obj_form.asp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47ED8886-DB3B-44F4-9A80-E6A224679F20}" type="slidenum">
              <a:rPr lang="en-US" smtClean="0"/>
              <a:pPr/>
              <a:t>121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1439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pPr marL="57150" indent="0">
              <a:lnSpc>
                <a:spcPct val="150000"/>
              </a:lnSpc>
              <a:buNone/>
            </a:pPr>
            <a:r>
              <a:rPr lang="en-US" sz="2200" dirty="0" smtClean="0">
                <a:solidFill>
                  <a:schemeClr val="tx1"/>
                </a:solidFill>
              </a:rPr>
              <a:t> </a:t>
            </a:r>
            <a:endParaRPr lang="en-US" sz="1800" dirty="0" smtClean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CC02088F-ACB3-4364-A9F4-9A26DC80E75E}" type="slidenum">
              <a:rPr lang="en-US" smtClean="0"/>
              <a:t>122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" y="947591"/>
            <a:ext cx="89154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 this chapter, we have learnt about: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solidFill>
                  <a:schemeClr val="bg1"/>
                </a:solidFill>
              </a:rPr>
              <a:t>HTML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CSS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err="1" smtClean="0">
                <a:solidFill>
                  <a:schemeClr val="bg1"/>
                </a:solidFill>
              </a:rPr>
              <a:t>Javascript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 smtClean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bg1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22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05000"/>
            <a:ext cx="57150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200" b="1" dirty="0">
              <a:solidFill>
                <a:schemeClr val="tx1"/>
              </a:solidFill>
              <a:latin typeface="Myriad Pro" pitchFamily="34" charset="0"/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066800"/>
            <a:ext cx="8153400" cy="167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1">
              <a:defRPr/>
            </a:pPr>
            <a:r>
              <a:rPr lang="en-US" sz="2200" dirty="0" smtClean="0">
                <a:solidFill>
                  <a:schemeClr val="bg1"/>
                </a:solidFill>
                <a:latin typeface="Arial Rounded MT Bold"/>
                <a:ea typeface="+mj-ea"/>
                <a:cs typeface="+mj-cs"/>
              </a:rPr>
              <a:t>You have successfully completed – </a:t>
            </a:r>
          </a:p>
          <a:p>
            <a:pPr lvl="1">
              <a:defRPr/>
            </a:pPr>
            <a:endParaRPr lang="en-US" sz="2200" dirty="0" smtClean="0">
              <a:solidFill>
                <a:schemeClr val="bg1"/>
              </a:solidFill>
              <a:latin typeface="Arial Rounded MT Bold"/>
              <a:ea typeface="+mj-ea"/>
              <a:cs typeface="+mj-cs"/>
            </a:endParaRPr>
          </a:p>
          <a:p>
            <a:pPr lvl="1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200" b="1" dirty="0" smtClean="0">
                <a:solidFill>
                  <a:schemeClr val="bg1"/>
                </a:solidFill>
                <a:ea typeface="+mj-ea"/>
                <a:cs typeface="+mj-cs"/>
              </a:rPr>
              <a:t>Learning on basics of Web User Interface</a:t>
            </a:r>
            <a:endParaRPr lang="en-US" sz="2200" b="1" dirty="0">
              <a:solidFill>
                <a:schemeClr val="bg1"/>
              </a:solidFill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79168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cademy LCD Compliant Template">
  <a:themeElements>
    <a:clrScheme name="Cognizant">
      <a:dk1>
        <a:srgbClr val="50B3CF"/>
      </a:dk1>
      <a:lt1>
        <a:sysClr val="window" lastClr="FFFFFF"/>
      </a:lt1>
      <a:dk2>
        <a:srgbClr val="141414"/>
      </a:dk2>
      <a:lt2>
        <a:srgbClr val="FFFFFF"/>
      </a:lt2>
      <a:accent1>
        <a:srgbClr val="50B3CF"/>
      </a:accent1>
      <a:accent2>
        <a:srgbClr val="6DB33F"/>
      </a:accent2>
      <a:accent3>
        <a:srgbClr val="72CDF4"/>
      </a:accent3>
      <a:accent4>
        <a:srgbClr val="00728F"/>
      </a:accent4>
      <a:accent5>
        <a:srgbClr val="387C2C"/>
      </a:accent5>
      <a:accent6>
        <a:srgbClr val="DF7A1C"/>
      </a:accent6>
      <a:hlink>
        <a:srgbClr val="D36522"/>
      </a:hlink>
      <a:folHlink>
        <a:srgbClr val="66C2E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ognizant">
        <a:dk1>
          <a:srgbClr val="50B3CF"/>
        </a:dk1>
        <a:lt1>
          <a:sysClr val="window" lastClr="FFFFFF"/>
        </a:lt1>
        <a:dk2>
          <a:srgbClr val="141414"/>
        </a:dk2>
        <a:lt2>
          <a:srgbClr val="FFFFFF"/>
        </a:lt2>
        <a:accent1>
          <a:srgbClr val="50B3CF"/>
        </a:accent1>
        <a:accent2>
          <a:srgbClr val="6DB33F"/>
        </a:accent2>
        <a:accent3>
          <a:srgbClr val="72CDF4"/>
        </a:accent3>
        <a:accent4>
          <a:srgbClr val="00728F"/>
        </a:accent4>
        <a:accent5>
          <a:srgbClr val="387C2C"/>
        </a:accent5>
        <a:accent6>
          <a:srgbClr val="DF7A1C"/>
        </a:accent6>
        <a:hlink>
          <a:srgbClr val="D36522"/>
        </a:hlink>
        <a:folHlink>
          <a:srgbClr val="66C2EF"/>
        </a:folHlink>
      </a:clrScheme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9C735C9F3CD54A948D0AD38DF112BF" ma:contentTypeVersion="4" ma:contentTypeDescription="Create a new document." ma:contentTypeScope="" ma:versionID="580a171cd10c354d127ddd4ccb42a406">
  <xsd:schema xmlns:xsd="http://www.w3.org/2001/XMLSchema" xmlns:xs="http://www.w3.org/2001/XMLSchema" xmlns:p="http://schemas.microsoft.com/office/2006/metadata/properties" xmlns:ns2="eac52b12-2228-488c-9d59-8a93d308b64e" xmlns:ns3="951c5514-b77c-4532-82d5-a05f2f7d58e2" targetNamespace="http://schemas.microsoft.com/office/2006/metadata/properties" ma:root="true" ma:fieldsID="97de6e2cc3eb0ac4db5100074650e727" ns2:_="" ns3:_="">
    <xsd:import namespace="eac52b12-2228-488c-9d59-8a93d308b64e"/>
    <xsd:import namespace="951c5514-b77c-4532-82d5-a05f2f7d58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c52b12-2228-488c-9d59-8a93d308b6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1c5514-b77c-4532-82d5-a05f2f7d58e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E2B63-D2A8-4534-98F2-B781D9BEE8B8}"/>
</file>

<file path=customXml/itemProps2.xml><?xml version="1.0" encoding="utf-8"?>
<ds:datastoreItem xmlns:ds="http://schemas.openxmlformats.org/officeDocument/2006/customXml" ds:itemID="{A7C481EB-8F30-4DBE-97E4-C47F16554C60}">
  <ds:schemaRefs>
    <ds:schemaRef ds:uri="http://purl.org/dc/elements/1.1/"/>
    <ds:schemaRef ds:uri="http://www.w3.org/XML/1998/namespace"/>
    <ds:schemaRef ds:uri="951c5514-b77c-4532-82d5-a05f2f7d58e2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9f50c8a6-e5a4-43ce-b67f-ee4bc8ad858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4587111D-7DFB-442C-9FE3-44380E208E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25419</TotalTime>
  <Words>7025</Words>
  <Application>Microsoft Office PowerPoint</Application>
  <PresentationFormat>On-screen Show (4:3)</PresentationFormat>
  <Paragraphs>1301</Paragraphs>
  <Slides>123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123</vt:i4>
      </vt:variant>
    </vt:vector>
  </HeadingPairs>
  <TitlesOfParts>
    <vt:vector size="132" baseType="lpstr">
      <vt:lpstr>Arial</vt:lpstr>
      <vt:lpstr>Arial Rounded MT Bold</vt:lpstr>
      <vt:lpstr>Calibri</vt:lpstr>
      <vt:lpstr>Courier New</vt:lpstr>
      <vt:lpstr>Myriad Pro</vt:lpstr>
      <vt:lpstr>Times New Roman</vt:lpstr>
      <vt:lpstr>Verdana</vt:lpstr>
      <vt:lpstr>Wingdings</vt:lpstr>
      <vt:lpstr>Academy LCD Compliant Template</vt:lpstr>
      <vt:lpstr>PowerPoint Presentation</vt:lpstr>
      <vt:lpstr>Enabling Objectives</vt:lpstr>
      <vt:lpstr>Key Topics</vt:lpstr>
      <vt:lpstr>PowerPoint Presentation</vt:lpstr>
      <vt:lpstr>HTML</vt:lpstr>
      <vt:lpstr>Identify the applications and benefits of HTML </vt:lpstr>
      <vt:lpstr>What is an HTML mark up tag ?</vt:lpstr>
      <vt:lpstr>Basic HTML Structure</vt:lpstr>
      <vt:lpstr>Lets work together to build  this page</vt:lpstr>
      <vt:lpstr>Learn How</vt:lpstr>
      <vt:lpstr>Demonstrate usage of Header, Footer and Section tags appropriately</vt:lpstr>
      <vt:lpstr>Root, Head and Body Tags</vt:lpstr>
      <vt:lpstr>Heading Tag</vt:lpstr>
      <vt:lpstr>Try It out – Lets play With Headings</vt:lpstr>
      <vt:lpstr>Paragraph tag </vt:lpstr>
      <vt:lpstr>Lend a Hand: Adding Paragraph</vt:lpstr>
      <vt:lpstr>Lists</vt:lpstr>
      <vt:lpstr>Ordered Lists</vt:lpstr>
      <vt:lpstr>Un Ordered Lists</vt:lpstr>
      <vt:lpstr>Lend a Hand - Lists</vt:lpstr>
      <vt:lpstr>Lend a Hand - Solution</vt:lpstr>
      <vt:lpstr>Anchor Tag</vt:lpstr>
      <vt:lpstr>Try It Out: Lets add a Anchor and a Image tag</vt:lpstr>
      <vt:lpstr>Table tag</vt:lpstr>
      <vt:lpstr>Syntax: Table tag</vt:lpstr>
      <vt:lpstr>Demonstrate usage of Blocks and Inline to align content within the document</vt:lpstr>
      <vt:lpstr>PowerPoint Presentation</vt:lpstr>
      <vt:lpstr>What are HTML Forms?</vt:lpstr>
      <vt:lpstr>Need for HTML form</vt:lpstr>
      <vt:lpstr>Form Tag</vt:lpstr>
      <vt:lpstr>What is action attribute ?</vt:lpstr>
      <vt:lpstr>Form Tag</vt:lpstr>
      <vt:lpstr>What is action attribute ?</vt:lpstr>
      <vt:lpstr>What is method attribute ?</vt:lpstr>
      <vt:lpstr>GET Vs POST</vt:lpstr>
      <vt:lpstr>Form Controls</vt:lpstr>
      <vt:lpstr>Lend a Hand – Create a HTML</vt:lpstr>
      <vt:lpstr>Name and ID attribute for a form Control</vt:lpstr>
      <vt:lpstr>Label Tag</vt:lpstr>
      <vt:lpstr>Text Box</vt:lpstr>
      <vt:lpstr>How To Create a Text Box ?</vt:lpstr>
      <vt:lpstr>Optional Attributes for Textbox</vt:lpstr>
      <vt:lpstr>Lend A Hand – Text Fields</vt:lpstr>
      <vt:lpstr>Password Field</vt:lpstr>
      <vt:lpstr>How To Create a password field?</vt:lpstr>
      <vt:lpstr>Optional Attributes for password field</vt:lpstr>
      <vt:lpstr>Lend a Hand – Password Fields</vt:lpstr>
      <vt:lpstr>Hidden Fields</vt:lpstr>
      <vt:lpstr>How to create a Hidden field ?</vt:lpstr>
      <vt:lpstr>Lend a Hand : Hidden Field</vt:lpstr>
      <vt:lpstr>Text Area</vt:lpstr>
      <vt:lpstr>How to create a Text Area ?</vt:lpstr>
      <vt:lpstr>Optional Attributes for text area</vt:lpstr>
      <vt:lpstr>Lend a Hand – Text Area</vt:lpstr>
      <vt:lpstr>Check Box</vt:lpstr>
      <vt:lpstr>How To Create a Check box?</vt:lpstr>
      <vt:lpstr>Optional Attributes for check box</vt:lpstr>
      <vt:lpstr>Drop Down</vt:lpstr>
      <vt:lpstr>How to create a Drop Down Menu?</vt:lpstr>
      <vt:lpstr>Lend a Hand – Drop down</vt:lpstr>
      <vt:lpstr>Radio Button</vt:lpstr>
      <vt:lpstr>How To Create a radio button?</vt:lpstr>
      <vt:lpstr>Tips in Using Radio Button</vt:lpstr>
      <vt:lpstr>Lend a Hand – Radio Button</vt:lpstr>
      <vt:lpstr>Buttons</vt:lpstr>
      <vt:lpstr>Submit Button</vt:lpstr>
      <vt:lpstr>Reset Button</vt:lpstr>
      <vt:lpstr>Button</vt:lpstr>
      <vt:lpstr>Lend a Hand – Submit &amp; Reset</vt:lpstr>
      <vt:lpstr>Image Button</vt:lpstr>
      <vt:lpstr>How to Create image button ?</vt:lpstr>
      <vt:lpstr>Hands On Exercise</vt:lpstr>
      <vt:lpstr>Required Screen </vt:lpstr>
      <vt:lpstr>List the options available in HTML5 form fields</vt:lpstr>
      <vt:lpstr>PowerPoint Presentation</vt:lpstr>
      <vt:lpstr>What is CSS?</vt:lpstr>
      <vt:lpstr>Explain the need and benefits of CSS</vt:lpstr>
      <vt:lpstr>How CSS is applied ?</vt:lpstr>
      <vt:lpstr>Three Ways to apply CSS</vt:lpstr>
      <vt:lpstr>Internal Style Sheet</vt:lpstr>
      <vt:lpstr>Lend a Hand – Internal Style Sheet</vt:lpstr>
      <vt:lpstr>External  Style Sheet</vt:lpstr>
      <vt:lpstr>Lend a Hand – External Style Sheet</vt:lpstr>
      <vt:lpstr>What happens if multiple styles are applied?</vt:lpstr>
      <vt:lpstr>Try it Out</vt:lpstr>
      <vt:lpstr>Demonstrate usage of various selectors</vt:lpstr>
      <vt:lpstr>Explain Box Model in CSS </vt:lpstr>
      <vt:lpstr>Demonstrate formatting text alignment, fonts and colors </vt:lpstr>
      <vt:lpstr>PowerPoint Presentation</vt:lpstr>
      <vt:lpstr>The need of client side scripting?</vt:lpstr>
      <vt:lpstr>How client side script works?</vt:lpstr>
      <vt:lpstr>What is Java Script?</vt:lpstr>
      <vt:lpstr>Advantages of Java Script</vt:lpstr>
      <vt:lpstr>Uses Of Java Script?</vt:lpstr>
      <vt:lpstr>Demonstrate handling events for validations </vt:lpstr>
      <vt:lpstr>How to develop a java script function ? </vt:lpstr>
      <vt:lpstr>Use functions to handle form validations</vt:lpstr>
      <vt:lpstr>Values &amp; Variables</vt:lpstr>
      <vt:lpstr>Values &amp; Variables (Cont)</vt:lpstr>
      <vt:lpstr>JavaScript DOM</vt:lpstr>
      <vt:lpstr>Document Object</vt:lpstr>
      <vt:lpstr>HTML DOM Structure </vt:lpstr>
      <vt:lpstr>Accessing Elements Using getElementsByTagName </vt:lpstr>
      <vt:lpstr>Accessing Elements Using  getElementsByName</vt:lpstr>
      <vt:lpstr>How To Access Fields using  getElementById() method </vt:lpstr>
      <vt:lpstr>How to access and set values of form elements</vt:lpstr>
      <vt:lpstr>String Object</vt:lpstr>
      <vt:lpstr>String Object Methods</vt:lpstr>
      <vt:lpstr>String Object Methods</vt:lpstr>
      <vt:lpstr>Use methods in String object viz., length(), trim()</vt:lpstr>
      <vt:lpstr>Conditional Statements: If..else</vt:lpstr>
      <vt:lpstr>Conditional Statements: If..else if ..else</vt:lpstr>
      <vt:lpstr>Conditional Statements: Switch</vt:lpstr>
      <vt:lpstr>Conditional Statements: For Loop</vt:lpstr>
      <vt:lpstr>Conditional Statements:  while and do while Loop</vt:lpstr>
      <vt:lpstr>Expressions</vt:lpstr>
      <vt:lpstr>Operators</vt:lpstr>
      <vt:lpstr>Pop up windows</vt:lpstr>
      <vt:lpstr>Pop Up Window – Confirm Box</vt:lpstr>
      <vt:lpstr>Pop Up Window- Prompt Box</vt:lpstr>
      <vt:lpstr>Use form object to submit the form</vt:lpstr>
      <vt:lpstr>Recap</vt:lpstr>
      <vt:lpstr>PowerPoint Presentation</vt:lpstr>
    </vt:vector>
  </TitlesOfParts>
  <Company>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Cognizant Technology Solutions</dc:title>
  <dc:creator>176361</dc:creator>
  <cp:lastModifiedBy>Ramasubramanian, Seshadri (Cognizant)</cp:lastModifiedBy>
  <cp:revision>1228</cp:revision>
  <dcterms:created xsi:type="dcterms:W3CDTF">2011-06-15T11:24:59Z</dcterms:created>
  <dcterms:modified xsi:type="dcterms:W3CDTF">2019-05-31T08:06:01Z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0x0101007A9C735C9F3CD54A948D0AD38DF112BF</vt:lpwstr>
  </property>
</Properties>
</file>